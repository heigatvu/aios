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10287000" cx="18288000"/>
  <p:notesSz cx="6858000" cy="9144000"/>
  <p:embeddedFontLst>
    <p:embeddedFont>
      <p:font typeface="Montserrat"/>
      <p:regular r:id="rId39"/>
      <p:bold r:id="rId40"/>
      <p:italic r:id="rId41"/>
      <p:boldItalic r:id="rId42"/>
    </p:embeddedFont>
    <p:embeddedFont>
      <p:font typeface="Poppins"/>
      <p:regular r:id="rId43"/>
      <p:bold r:id="rId44"/>
      <p:italic r:id="rId45"/>
      <p:boldItalic r:id="rId46"/>
    </p:embeddedFont>
    <p:embeddedFont>
      <p:font typeface="Montserrat Medium"/>
      <p:regular r:id="rId47"/>
      <p:bold r:id="rId48"/>
      <p:italic r:id="rId49"/>
      <p:boldItalic r:id="rId50"/>
    </p:embeddedFont>
    <p:embeddedFont>
      <p:font typeface="Lato Light"/>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5" roundtripDataSignature="AMtx7mjqVdW/GbIpZ82m1XkjS94wH/LJ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574BBB1-0352-4FAC-8113-02A18F34E9BB}">
  <a:tblStyle styleId="{2574BBB1-0352-4FAC-8113-02A18F34E9B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3879B4A-6A33-40A0-BAD0-4354AC2547D9}"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fntdata"/><Relationship Id="rId42" Type="http://schemas.openxmlformats.org/officeDocument/2006/relationships/font" Target="fonts/Montserrat-boldItalic.fntdata"/><Relationship Id="rId41" Type="http://schemas.openxmlformats.org/officeDocument/2006/relationships/font" Target="fonts/Montserrat-italic.fntdata"/><Relationship Id="rId44" Type="http://schemas.openxmlformats.org/officeDocument/2006/relationships/font" Target="fonts/Poppins-bold.fntdata"/><Relationship Id="rId43" Type="http://schemas.openxmlformats.org/officeDocument/2006/relationships/font" Target="fonts/Poppins-regular.fntdata"/><Relationship Id="rId46" Type="http://schemas.openxmlformats.org/officeDocument/2006/relationships/font" Target="fonts/Poppins-boldItalic.fntdata"/><Relationship Id="rId45" Type="http://schemas.openxmlformats.org/officeDocument/2006/relationships/font" Target="fonts/Poppi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Medium-bold.fntdata"/><Relationship Id="rId47" Type="http://schemas.openxmlformats.org/officeDocument/2006/relationships/font" Target="fonts/MontserratMedium-regular.fntdata"/><Relationship Id="rId49" Type="http://schemas.openxmlformats.org/officeDocument/2006/relationships/font" Target="fonts/Montserrat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font" Target="fonts/Montserrat-regular.fntdata"/><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LatoLight-regular.fntdata"/><Relationship Id="rId50" Type="http://schemas.openxmlformats.org/officeDocument/2006/relationships/font" Target="fonts/MontserratMedium-boldItalic.fntdata"/><Relationship Id="rId53" Type="http://schemas.openxmlformats.org/officeDocument/2006/relationships/font" Target="fonts/LatoLight-italic.fntdata"/><Relationship Id="rId52" Type="http://schemas.openxmlformats.org/officeDocument/2006/relationships/font" Target="fonts/LatoLight-bold.fntdata"/><Relationship Id="rId11" Type="http://schemas.openxmlformats.org/officeDocument/2006/relationships/slide" Target="slides/slide5.xml"/><Relationship Id="rId55" Type="http://customschemas.google.com/relationships/presentationmetadata" Target="metadata"/><Relationship Id="rId10" Type="http://schemas.openxmlformats.org/officeDocument/2006/relationships/slide" Target="slides/slide4.xml"/><Relationship Id="rId54" Type="http://schemas.openxmlformats.org/officeDocument/2006/relationships/font" Target="fonts/LatoLight-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72c19eb17b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72c19eb17b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7403fed8d6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g37403fed8d6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7403fed8d6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g37403fed8d6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761bd615a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g3761bd615a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761bd615af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Đọc tài liệu về phương pháp điều trị hiện tại được ứng dụng trong lâm sàng và trên các hệ thống trong điều trị rối loại lời nói và ngôn ngữ.</a:t>
            </a:r>
            <a:endParaRPr>
              <a:solidFill>
                <a:schemeClr val="dk1"/>
              </a:solidFill>
              <a:latin typeface="Montserrat Medium"/>
              <a:ea typeface="Montserrat Medium"/>
              <a:cs typeface="Montserrat Medium"/>
              <a:sym typeface="Montserrat Medium"/>
            </a:endParaRPr>
          </a:p>
          <a:p>
            <a:pPr indent="-298450" lvl="0" marL="4572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Thu thập dữ liệu từ 150 trẻ được chẩn đoán rối loạn ngôn ngữ và âm lời nói và 150 trẻ bình thường. Những dữ liệu dự kiến thu:</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Đặc điểm nhân khẩu</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Kết quả kiểm tra</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Mẫu lời nói</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Dữ liệu về các hướng điều trị và các bài tập cho trẻ.</a:t>
            </a:r>
            <a:endParaRPr/>
          </a:p>
        </p:txBody>
      </p:sp>
      <p:sp>
        <p:nvSpPr>
          <p:cNvPr id="130" name="Google Shape;130;g3761bd615af_0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761bd615af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Đọc tài liệu về phương pháp điều trị hiện tại được ứng dụng trong lâm sàng và trên các hệ thống trong điều trị rối loại lời nói và ngôn ngữ.</a:t>
            </a:r>
            <a:endParaRPr>
              <a:solidFill>
                <a:schemeClr val="dk1"/>
              </a:solidFill>
              <a:latin typeface="Montserrat Medium"/>
              <a:ea typeface="Montserrat Medium"/>
              <a:cs typeface="Montserrat Medium"/>
              <a:sym typeface="Montserrat Medium"/>
            </a:endParaRPr>
          </a:p>
          <a:p>
            <a:pPr indent="-298450" lvl="0" marL="4572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Thu thập dữ liệu từ 150 trẻ được chẩn đoán rối loạn ngôn ngữ và âm lời nói và 150 trẻ bình thường. Những dữ liệu dự kiến thu:</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Đặc điểm nhân khẩu</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Kết quả kiểm tra</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Mẫu lời nói</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Dữ liệu về các hướng điều trị và các bài tập cho trẻ.</a:t>
            </a:r>
            <a:endParaRPr/>
          </a:p>
        </p:txBody>
      </p:sp>
      <p:sp>
        <p:nvSpPr>
          <p:cNvPr id="139" name="Google Shape;139;g3761bd615af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761bd615af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Đọc tài liệu về phương pháp điều trị hiện tại được ứng dụng trong lâm sàng và trên các hệ thống trong điều trị rối loại lời nói và ngôn ngữ.</a:t>
            </a:r>
            <a:endParaRPr>
              <a:solidFill>
                <a:schemeClr val="dk1"/>
              </a:solidFill>
              <a:latin typeface="Montserrat Medium"/>
              <a:ea typeface="Montserrat Medium"/>
              <a:cs typeface="Montserrat Medium"/>
              <a:sym typeface="Montserrat Medium"/>
            </a:endParaRPr>
          </a:p>
          <a:p>
            <a:pPr indent="-298450" lvl="0" marL="4572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Thu thập dữ liệu từ 150 trẻ được chẩn đoán rối loạn ngôn ngữ và âm lời nói và 150 trẻ bình thường. Những dữ liệu dự kiến thu:</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Đặc điểm nhân khẩu</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Kết quả kiểm tra</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Mẫu lời nói</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Dữ liệu về các hướng điều trị và các bài tập cho trẻ.</a:t>
            </a:r>
            <a:endParaRPr/>
          </a:p>
        </p:txBody>
      </p:sp>
      <p:sp>
        <p:nvSpPr>
          <p:cNvPr id="148" name="Google Shape;148;g3761bd615af_0_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761bd615af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Đọc tài liệu về phương pháp điều trị hiện tại được ứng dụng trong lâm sàng và trên các hệ thống trong điều trị rối loại lời nói và ngôn ngữ.</a:t>
            </a:r>
            <a:endParaRPr>
              <a:solidFill>
                <a:schemeClr val="dk1"/>
              </a:solidFill>
              <a:latin typeface="Montserrat Medium"/>
              <a:ea typeface="Montserrat Medium"/>
              <a:cs typeface="Montserrat Medium"/>
              <a:sym typeface="Montserrat Medium"/>
            </a:endParaRPr>
          </a:p>
          <a:p>
            <a:pPr indent="-298450" lvl="0" marL="4572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Thu thập dữ liệu từ 150 trẻ được chẩn đoán rối loạn ngôn ngữ và âm lời nói và 150 trẻ bình thường. Những dữ liệu dự kiến thu:</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Đặc điểm nhân khẩu</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Kết quả kiểm tra</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Mẫu lời nói</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Dữ liệu về các hướng điều trị và các bài tập cho trẻ.</a:t>
            </a:r>
            <a:endParaRPr/>
          </a:p>
        </p:txBody>
      </p:sp>
      <p:sp>
        <p:nvSpPr>
          <p:cNvPr id="158" name="Google Shape;158;g3761bd615af_0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761bd615af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Đọc tài liệu về phương pháp điều trị hiện tại được ứng dụng trong lâm sàng và trên các hệ thống trong điều trị rối loại lời nói và ngôn ngữ.</a:t>
            </a:r>
            <a:endParaRPr>
              <a:solidFill>
                <a:schemeClr val="dk1"/>
              </a:solidFill>
              <a:latin typeface="Montserrat Medium"/>
              <a:ea typeface="Montserrat Medium"/>
              <a:cs typeface="Montserrat Medium"/>
              <a:sym typeface="Montserrat Medium"/>
            </a:endParaRPr>
          </a:p>
          <a:p>
            <a:pPr indent="-298450" lvl="0" marL="4572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Thu thập dữ liệu từ 150 trẻ được chẩn đoán rối loạn ngôn ngữ và âm lời nói và 150 trẻ bình thường. Những dữ liệu dự kiến thu:</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Đặc điểm nhân khẩu</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Kết quả kiểm tra</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Mẫu lời nói</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Dữ liệu về các hướng điều trị và các bài tập cho trẻ.</a:t>
            </a:r>
            <a:endParaRPr/>
          </a:p>
        </p:txBody>
      </p:sp>
      <p:sp>
        <p:nvSpPr>
          <p:cNvPr id="167" name="Google Shape;167;g3761bd615af_0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761bd615af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Đọc tài liệu về phương pháp điều trị hiện tại được ứng dụng trong lâm sàng và trên các hệ thống trong điều trị rối loại lời nói và ngôn ngữ.</a:t>
            </a:r>
            <a:endParaRPr>
              <a:solidFill>
                <a:schemeClr val="dk1"/>
              </a:solidFill>
              <a:latin typeface="Montserrat Medium"/>
              <a:ea typeface="Montserrat Medium"/>
              <a:cs typeface="Montserrat Medium"/>
              <a:sym typeface="Montserrat Medium"/>
            </a:endParaRPr>
          </a:p>
          <a:p>
            <a:pPr indent="-298450" lvl="0" marL="4572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Thu thập dữ liệu từ 150 trẻ được chẩn đoán rối loạn ngôn ngữ và âm lời nói và 150 trẻ bình thường. Những dữ liệu dự kiến thu:</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Đặc điểm nhân khẩu</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Kết quả kiểm tra</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Mẫu lời nói</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Dữ liệu về các hướng điều trị và các bài tập cho trẻ.</a:t>
            </a:r>
            <a:endParaRPr/>
          </a:p>
        </p:txBody>
      </p:sp>
      <p:sp>
        <p:nvSpPr>
          <p:cNvPr id="177" name="Google Shape;177;g3761bd615af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761bd615af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Đọc tài liệu về phương pháp điều trị hiện tại được ứng dụng trong lâm sàng và trên các hệ thống trong điều trị rối loại lời nói và ngôn ngữ.</a:t>
            </a:r>
            <a:endParaRPr>
              <a:solidFill>
                <a:schemeClr val="dk1"/>
              </a:solidFill>
              <a:latin typeface="Montserrat Medium"/>
              <a:ea typeface="Montserrat Medium"/>
              <a:cs typeface="Montserrat Medium"/>
              <a:sym typeface="Montserrat Medium"/>
            </a:endParaRPr>
          </a:p>
          <a:p>
            <a:pPr indent="-298450" lvl="0" marL="4572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Thu thập dữ liệu từ 150 trẻ được chẩn đoán rối loạn ngôn ngữ và âm lời nói và 150 trẻ bình thường. Những dữ liệu dự kiến thu:</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Đặc điểm nhân khẩu</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Kết quả kiểm tra</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Mẫu lời nói</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Dữ liệu về các hướng điều trị và các bài tập cho trẻ.</a:t>
            </a:r>
            <a:endParaRPr/>
          </a:p>
        </p:txBody>
      </p:sp>
      <p:sp>
        <p:nvSpPr>
          <p:cNvPr id="187" name="Google Shape;187;g3761bd615af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75a3787e2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g375a3787e2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75a3787e2b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Đọc tài liệu về phương pháp điều trị hiện tại được ứng dụng trong lâm sàng và trên các hệ thống trong điều trị rối loại lời nói và ngôn ngữ.</a:t>
            </a:r>
            <a:endParaRPr>
              <a:solidFill>
                <a:schemeClr val="dk1"/>
              </a:solidFill>
              <a:latin typeface="Montserrat Medium"/>
              <a:ea typeface="Montserrat Medium"/>
              <a:cs typeface="Montserrat Medium"/>
              <a:sym typeface="Montserrat Medium"/>
            </a:endParaRPr>
          </a:p>
          <a:p>
            <a:pPr indent="-298450" lvl="0" marL="4572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Thu thập dữ liệu từ 150 trẻ được chẩn đoán rối loạn ngôn ngữ và âm lời nói và 150 trẻ bình thường. Những dữ liệu dự kiến thu:</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Đặc điểm nhân khẩu</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Kết quả kiểm tra</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Mẫu lời nói</a:t>
            </a:r>
            <a:endParaRPr>
              <a:solidFill>
                <a:schemeClr val="dk1"/>
              </a:solidFill>
              <a:latin typeface="Montserrat Medium"/>
              <a:ea typeface="Montserrat Medium"/>
              <a:cs typeface="Montserrat Medium"/>
              <a:sym typeface="Montserrat Medium"/>
            </a:endParaRPr>
          </a:p>
          <a:p>
            <a:pPr indent="-298450" lvl="0" marL="914400" rtl="0" algn="just">
              <a:lnSpc>
                <a:spcPct val="150000"/>
              </a:lnSpc>
              <a:spcBef>
                <a:spcPts val="0"/>
              </a:spcBef>
              <a:spcAft>
                <a:spcPts val="0"/>
              </a:spcAft>
              <a:buClr>
                <a:schemeClr val="dk1"/>
              </a:buClr>
              <a:buSzPts val="1100"/>
              <a:buFont typeface="Montserrat Medium"/>
              <a:buChar char="+"/>
            </a:pPr>
            <a:r>
              <a:rPr lang="en-US">
                <a:solidFill>
                  <a:schemeClr val="dk1"/>
                </a:solidFill>
                <a:latin typeface="Montserrat Medium"/>
                <a:ea typeface="Montserrat Medium"/>
                <a:cs typeface="Montserrat Medium"/>
                <a:sym typeface="Montserrat Medium"/>
              </a:rPr>
              <a:t>Dữ liệu về các hướng điều trị và các bài tập cho trẻ.</a:t>
            </a:r>
            <a:endParaRPr/>
          </a:p>
        </p:txBody>
      </p:sp>
      <p:sp>
        <p:nvSpPr>
          <p:cNvPr id="227" name="Google Shape;227;g375a3787e2b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741772633c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Thiết bị AI Proxy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Nội dung</a:t>
            </a:r>
            <a:r>
              <a:rPr lang="en-US">
                <a:solidFill>
                  <a:schemeClr val="dk1"/>
                </a:solidFill>
              </a:rPr>
              <a:t>: Xây dựng thiết bị AI với việc dùng NVIDIA Jetson Orin kết hợp với microphone đa hướng để thu tiếng, mô phỏng trẻ và phân tích dữ liệu trị liệu. Thiết bị sẽ kết nói với máy tính của nhà trị liệu.</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a:t>
            </a:r>
            <a:r>
              <a:rPr b="1" lang="en-US">
                <a:solidFill>
                  <a:schemeClr val="dk1"/>
                </a:solidFill>
              </a:rPr>
              <a:t>ụ</a:t>
            </a:r>
            <a:r>
              <a:rPr b="1" lang="en-US">
                <a:solidFill>
                  <a:schemeClr val="dk1"/>
                </a:solidFill>
              </a:rPr>
              <a:t>c đích</a:t>
            </a:r>
            <a:r>
              <a:rPr lang="en-US">
                <a:solidFill>
                  <a:schemeClr val="dk1"/>
                </a:solidFill>
              </a:rPr>
              <a:t>: Làm cầu nối giữa nhà trị liệu và mô hình AI, đưa ra gợi ý bài tập được </a:t>
            </a:r>
            <a:r>
              <a:rPr lang="en-US">
                <a:solidFill>
                  <a:schemeClr val="dk1"/>
                </a:solidFill>
              </a:rPr>
              <a:t>cá nhân hoá</a:t>
            </a:r>
            <a:r>
              <a:rPr lang="en-US">
                <a:solidFill>
                  <a:schemeClr val="dk1"/>
                </a:solidFill>
              </a:rPr>
              <a:t> thông qua mẫu giọng nói của trẻ.</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Phân tích câu hỏi lượng giá và đáp ứng của trẻ từ test và bài tập bằng </a:t>
            </a:r>
            <a:r>
              <a:rPr b="1" lang="en-US">
                <a:solidFill>
                  <a:schemeClr val="dk1"/>
                </a:solidFill>
              </a:rPr>
              <a:t>Item Response Theory (IRT)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Nội dung</a:t>
            </a:r>
            <a:r>
              <a:rPr lang="en-US">
                <a:solidFill>
                  <a:schemeClr val="dk1"/>
                </a:solidFill>
              </a:rPr>
              <a:t>: Áp dụng IRT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Mục đích:</a:t>
            </a:r>
            <a:r>
              <a:rPr lang="en-US">
                <a:solidFill>
                  <a:schemeClr val="dk1"/>
                </a:solidFill>
              </a:rPr>
              <a:t> đánh giá độ khó của bài test và bài tập, độ phân biệt, yếu tố dự đoán và </a:t>
            </a:r>
            <a:r>
              <a:rPr lang="en-US">
                <a:solidFill>
                  <a:schemeClr val="dk1"/>
                </a:solidFill>
              </a:rPr>
              <a:t>chọn câu hỏi đánh giá hiệu quả nhất trong các giai đoạn sau</a:t>
            </a:r>
            <a:r>
              <a:rPr lang="en-US">
                <a:solidFill>
                  <a:schemeClr val="dk1"/>
                </a:solidFill>
              </a:rPr>
              <a:t>.</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237" name="Google Shape;237;g3741772633c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732b898f84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Thiết bị AI Proxy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Nội dung</a:t>
            </a:r>
            <a:r>
              <a:rPr lang="en-US">
                <a:solidFill>
                  <a:schemeClr val="dk1"/>
                </a:solidFill>
              </a:rPr>
              <a:t>: Xây dựng thiết bị AI với việc dùng NVIDIA Jetson Orin kết hợp với microphone đa hướng để thu tiếng, mô phỏng trẻ và phân tích dữ liệu trị liệu. Thiết bị sẽ kết nói với máy tính của nhà trị liệu.</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Mục đích</a:t>
            </a:r>
            <a:r>
              <a:rPr lang="en-US">
                <a:solidFill>
                  <a:schemeClr val="dk1"/>
                </a:solidFill>
              </a:rPr>
              <a:t>: Làm cầu nối giữa nhà trị liệu và mô hình AI, đưa ra gợi ý bài tập được cá nhân hoá thông qua mẫu giọng nói của trẻ.</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Phân tích câu hỏi lượng giá và đáp ứng của trẻ từ test và bài tập bằng Item Response Theory (IRT)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Nội dung</a:t>
            </a:r>
            <a:r>
              <a:rPr lang="en-US">
                <a:solidFill>
                  <a:schemeClr val="dk1"/>
                </a:solidFill>
              </a:rPr>
              <a:t>: Áp dụng IRT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Mục đích:</a:t>
            </a:r>
            <a:r>
              <a:rPr lang="en-US">
                <a:solidFill>
                  <a:schemeClr val="dk1"/>
                </a:solidFill>
              </a:rPr>
              <a:t> đánh giá độ khó của bài test và bài tập, độ phân biệt, yếu tố dự đoán và chọn câu hỏi đánh giá hiệu quả nhất trong các giai đoạn sau.</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248" name="Google Shape;248;g3732b898f84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732b898f84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Thiết bị AI Proxy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Nội dung</a:t>
            </a:r>
            <a:r>
              <a:rPr lang="en-US">
                <a:solidFill>
                  <a:schemeClr val="dk1"/>
                </a:solidFill>
              </a:rPr>
              <a:t>: Xây dựng thiết bị AI với việc dùng NVIDIA Jetson Orin kết hợp với microphone đa hướng để thu tiếng, mô phỏng trẻ và phân tích dữ liệu trị liệu. Thiết bị sẽ kết nói với máy tính của nhà trị liệu.</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Mục đích</a:t>
            </a:r>
            <a:r>
              <a:rPr lang="en-US">
                <a:solidFill>
                  <a:schemeClr val="dk1"/>
                </a:solidFill>
              </a:rPr>
              <a:t>: Làm cầu nối giữa nhà trị liệu và mô hình AI, đưa ra gợi ý bài tập được cá nhân hoá thông qua mẫu giọng nói của trẻ.</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Phân tích câu hỏi lượng giá và đáp ứng của trẻ từ test và bài tập bằng Item Response Theory (IRT)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Nội dung</a:t>
            </a:r>
            <a:r>
              <a:rPr lang="en-US">
                <a:solidFill>
                  <a:schemeClr val="dk1"/>
                </a:solidFill>
              </a:rPr>
              <a:t>: Áp dụng IRT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Mục đích:</a:t>
            </a:r>
            <a:r>
              <a:rPr lang="en-US">
                <a:solidFill>
                  <a:schemeClr val="dk1"/>
                </a:solidFill>
              </a:rPr>
              <a:t> đánh giá độ khó của bài test và bài tập, độ phân biệt, yếu tố dự đoán và chọn câu hỏi đánh giá hiệu quả nhất trong các giai đoạn sau.</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257" name="Google Shape;257;g3732b898f84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732b898f84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Thiết bị AI Proxy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Nội dung</a:t>
            </a:r>
            <a:r>
              <a:rPr lang="en-US">
                <a:solidFill>
                  <a:schemeClr val="dk1"/>
                </a:solidFill>
              </a:rPr>
              <a:t>: Xây dựng thiết bị AI với việc dùng NVIDIA Jetson Orin kết hợp với microphone đa hướng để thu tiếng, mô phỏng trẻ và phân tích dữ liệu trị liệu. Thiết bị sẽ kết nói với máy tính của nhà trị liệu.</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Mục đích</a:t>
            </a:r>
            <a:r>
              <a:rPr lang="en-US">
                <a:solidFill>
                  <a:schemeClr val="dk1"/>
                </a:solidFill>
              </a:rPr>
              <a:t>: Làm cầu nối giữa nhà trị liệu và mô hình AI, đưa ra gợi ý bài tập được cá nhân hoá thông qua mẫu giọng nói của trẻ.</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Phân tích câu hỏi lượng giá và đáp ứng của trẻ từ test và bài tập bằng Item Response Theory (IRT)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Nội dung</a:t>
            </a:r>
            <a:r>
              <a:rPr lang="en-US">
                <a:solidFill>
                  <a:schemeClr val="dk1"/>
                </a:solidFill>
              </a:rPr>
              <a:t>: Áp dụng IRT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Mục đích:</a:t>
            </a:r>
            <a:r>
              <a:rPr lang="en-US">
                <a:solidFill>
                  <a:schemeClr val="dk1"/>
                </a:solidFill>
              </a:rPr>
              <a:t> đánh giá độ khó của bài test và bài tập, độ phân biệt, yếu tố dự đoán và chọn câu hỏi đánh giá hiệu quả nhất trong các giai đoạn sau.</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266" name="Google Shape;266;g3732b898f84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732b898f84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Thiết bị AI Proxy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Nội dung</a:t>
            </a:r>
            <a:r>
              <a:rPr lang="en-US">
                <a:solidFill>
                  <a:schemeClr val="dk1"/>
                </a:solidFill>
              </a:rPr>
              <a:t>: Xây dựng thiết bị AI với việc dùng NVIDIA Jetson Orin kết hợp với microphone đa hướng để thu tiếng, mô phỏng trẻ và phân tích dữ liệu trị liệu. Thiết bị sẽ kết nói với máy tính của nhà trị liệu.</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Mục đích</a:t>
            </a:r>
            <a:r>
              <a:rPr lang="en-US">
                <a:solidFill>
                  <a:schemeClr val="dk1"/>
                </a:solidFill>
              </a:rPr>
              <a:t>: Làm cầu nối giữa nhà trị liệu và mô hình AI, đưa ra gợi ý bài tập được cá nhân hoá thông qua mẫu giọng nói của trẻ.</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Phân tích câu hỏi lượng giá và đáp ứng của trẻ từ test và bài tập bằng Item Response Theory (IRT)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Nội dung</a:t>
            </a:r>
            <a:r>
              <a:rPr lang="en-US">
                <a:solidFill>
                  <a:schemeClr val="dk1"/>
                </a:solidFill>
              </a:rPr>
              <a:t>: Áp dụng IRT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Mục đích:</a:t>
            </a:r>
            <a:r>
              <a:rPr lang="en-US">
                <a:solidFill>
                  <a:schemeClr val="dk1"/>
                </a:solidFill>
              </a:rPr>
              <a:t> đánh giá độ khó của bài test và bài tập, độ phân biệt, yếu tố dự đoán và chọn câu hỏi đánh giá hiệu quả nhất trong các giai đoạn sau.</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275" name="Google Shape;275;g3732b898f84_0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732b898f84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Thiết bị AI Proxy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Nội dung</a:t>
            </a:r>
            <a:r>
              <a:rPr lang="en-US">
                <a:solidFill>
                  <a:schemeClr val="dk1"/>
                </a:solidFill>
              </a:rPr>
              <a:t>: Xây dựng thiết bị AI với việc dùng NVIDIA Jetson Orin kết hợp với microphone đa hướng để thu tiếng, mô phỏng trẻ và phân tích dữ liệu trị liệu. Thiết bị sẽ kết nói với máy tính của nhà trị liệu.</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Mục đích</a:t>
            </a:r>
            <a:r>
              <a:rPr lang="en-US">
                <a:solidFill>
                  <a:schemeClr val="dk1"/>
                </a:solidFill>
              </a:rPr>
              <a:t>: Làm cầu nối giữa nhà trị liệu và mô hình AI, đưa ra gợi ý bài tập được cá nhân hoá thông qua mẫu giọng nói của trẻ.</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Phân tích câu hỏi lượng giá và đáp ứng của trẻ từ test và bài tập bằng Item Response Theory (IRT)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Nội dung</a:t>
            </a:r>
            <a:r>
              <a:rPr lang="en-US">
                <a:solidFill>
                  <a:schemeClr val="dk1"/>
                </a:solidFill>
              </a:rPr>
              <a:t>: Áp dụng IRT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Mục đích:</a:t>
            </a:r>
            <a:r>
              <a:rPr lang="en-US">
                <a:solidFill>
                  <a:schemeClr val="dk1"/>
                </a:solidFill>
              </a:rPr>
              <a:t> đánh giá độ khó của bài test và bài tập, độ phân biệt, yếu tố dự đoán và chọn câu hỏi đánh giá hiệu quả nhất trong các giai đoạn sau.</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284" name="Google Shape;284;g3732b898f84_0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732b898f84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Thiết bị AI Proxy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Nội dung</a:t>
            </a:r>
            <a:r>
              <a:rPr lang="en-US">
                <a:solidFill>
                  <a:schemeClr val="dk1"/>
                </a:solidFill>
              </a:rPr>
              <a:t>: Xây dựng thiết bị AI với việc dùng NVIDIA Jetson Orin kết hợp với microphone đa hướng để thu tiếng, mô phỏng trẻ và phân tích dữ liệu trị liệu. Thiết bị sẽ kết nói với máy tính của nhà trị liệu.</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Mục đích</a:t>
            </a:r>
            <a:r>
              <a:rPr lang="en-US">
                <a:solidFill>
                  <a:schemeClr val="dk1"/>
                </a:solidFill>
              </a:rPr>
              <a:t>: Làm cầu nối giữa nhà trị liệu và mô hình AI, đưa ra gợi ý bài tập được cá nhân hoá thông qua mẫu giọng nói của trẻ.</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Phân tích câu hỏi lượng giá và đáp ứng của trẻ từ test và bài tập bằng Item Response Theory (IRT)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Nội dung</a:t>
            </a:r>
            <a:r>
              <a:rPr lang="en-US">
                <a:solidFill>
                  <a:schemeClr val="dk1"/>
                </a:solidFill>
              </a:rPr>
              <a:t>: Áp dụng IRT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Mục đích:</a:t>
            </a:r>
            <a:r>
              <a:rPr lang="en-US">
                <a:solidFill>
                  <a:schemeClr val="dk1"/>
                </a:solidFill>
              </a:rPr>
              <a:t> đánh giá độ khó của bài test và bài tập, độ phân biệt, yếu tố dự đoán và chọn câu hỏi đánh giá hiệu quả nhất trong các giai đoạn sau.</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293" name="Google Shape;293;g3732b898f84_0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732b898f84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Thiết bị AI Proxy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Nội dung</a:t>
            </a:r>
            <a:r>
              <a:rPr lang="en-US">
                <a:solidFill>
                  <a:schemeClr val="dk1"/>
                </a:solidFill>
              </a:rPr>
              <a:t>: Xây dựng thiết bị AI với việc dùng NVIDIA Jetson Orin kết hợp với microphone đa hướng để thu tiếng, mô phỏng trẻ và phân tích dữ liệu trị liệu. Thiết bị sẽ kết nói với máy tính của nhà trị liệu.</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Mục đích</a:t>
            </a:r>
            <a:r>
              <a:rPr lang="en-US">
                <a:solidFill>
                  <a:schemeClr val="dk1"/>
                </a:solidFill>
              </a:rPr>
              <a:t>: Làm cầu nối giữa nhà trị liệu và mô hình AI, đưa ra gợi ý bài tập được cá nhân hoá thông qua mẫu giọng nói của trẻ.</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Phân tích câu hỏi lượng giá và đáp ứng của trẻ từ test và bài tập bằng Item Response Theory (IRT)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Nội dung</a:t>
            </a:r>
            <a:r>
              <a:rPr lang="en-US">
                <a:solidFill>
                  <a:schemeClr val="dk1"/>
                </a:solidFill>
              </a:rPr>
              <a:t>: Áp dụng IRT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Mục đích:</a:t>
            </a:r>
            <a:r>
              <a:rPr lang="en-US">
                <a:solidFill>
                  <a:schemeClr val="dk1"/>
                </a:solidFill>
              </a:rPr>
              <a:t> đánh giá độ khó của bài test và bài tập, độ phân biệt, yếu tố dự đoán và chọn câu hỏi đánh giá hiệu quả nhất trong các giai đoạn sau.</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303" name="Google Shape;303;g3732b898f84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7403fed8d6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t/>
            </a:r>
            <a:endParaRPr/>
          </a:p>
        </p:txBody>
      </p:sp>
      <p:sp>
        <p:nvSpPr>
          <p:cNvPr id="312" name="Google Shape;312;g37403fed8d6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4518552875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0" name="Google Shape;320;g34518552875_0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4518552875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8" name="Google Shape;328;g34518552875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4518552875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6" name="Google Shape;336;g34518552875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72c19eb17b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g372c19eb17b_1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7403fed8d6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7" name="Google Shape;357;g37403fed8d6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72c19eb17b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t/>
            </a:r>
            <a:endParaRPr b="1" sz="2000"/>
          </a:p>
        </p:txBody>
      </p:sp>
      <p:sp>
        <p:nvSpPr>
          <p:cNvPr id="368" name="Google Shape;368;g372c19eb17b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75c223c26e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6" name="Google Shape;376;g375c223c26e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4518552875_3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7" name="Google Shape;387;g34518552875_3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74155ffd1b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2" name="Google Shape;412;g374155ffd1b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6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6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6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6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6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6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6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6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7"/>
          <p:cNvSpPr/>
          <p:nvPr>
            <p:ph idx="2" type="pic"/>
          </p:nvPr>
        </p:nvSpPr>
        <p:spPr>
          <a:xfrm>
            <a:off x="1792288" y="612775"/>
            <a:ext cx="5486400" cy="4114800"/>
          </a:xfrm>
          <a:prstGeom prst="rect">
            <a:avLst/>
          </a:prstGeom>
          <a:noFill/>
          <a:ln>
            <a:noFill/>
          </a:ln>
        </p:spPr>
      </p:sp>
      <p:sp>
        <p:nvSpPr>
          <p:cNvPr id="64" name="Google Shape;64;p6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image" Target="../media/image6.png"/><Relationship Id="rId7" Type="http://schemas.openxmlformats.org/officeDocument/2006/relationships/image" Target="../media/image3.jpg"/><Relationship Id="rId8"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rot="-1111536">
            <a:off x="15860482" y="-3467423"/>
            <a:ext cx="10436174" cy="8481763"/>
          </a:xfrm>
          <a:custGeom>
            <a:rect b="b" l="l" r="r" t="t"/>
            <a:pathLst>
              <a:path extrusionOk="0" h="8487866" w="10443683">
                <a:moveTo>
                  <a:pt x="0" y="0"/>
                </a:moveTo>
                <a:lnTo>
                  <a:pt x="10443683" y="0"/>
                </a:lnTo>
                <a:lnTo>
                  <a:pt x="10443683" y="8487866"/>
                </a:lnTo>
                <a:lnTo>
                  <a:pt x="0" y="8487866"/>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
          <p:cNvSpPr/>
          <p:nvPr/>
        </p:nvSpPr>
        <p:spPr>
          <a:xfrm>
            <a:off x="13189991" y="8360875"/>
            <a:ext cx="9727319" cy="3106962"/>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
          <p:cNvSpPr txBox="1"/>
          <p:nvPr/>
        </p:nvSpPr>
        <p:spPr>
          <a:xfrm>
            <a:off x="975750" y="2032150"/>
            <a:ext cx="16272900" cy="3047700"/>
          </a:xfrm>
          <a:prstGeom prst="rect">
            <a:avLst/>
          </a:prstGeom>
          <a:noFill/>
          <a:ln>
            <a:noFill/>
          </a:ln>
        </p:spPr>
        <p:txBody>
          <a:bodyPr anchorCtr="0" anchor="t" bIns="0" lIns="0" spcFirstLastPara="1" rIns="0" wrap="square" tIns="0">
            <a:spAutoFit/>
          </a:bodyPr>
          <a:lstStyle/>
          <a:p>
            <a:pPr indent="0" lvl="0" marL="0" marR="0" rtl="0" algn="l">
              <a:lnSpc>
                <a:spcPct val="99000"/>
              </a:lnSpc>
              <a:spcBef>
                <a:spcPts val="0"/>
              </a:spcBef>
              <a:spcAft>
                <a:spcPts val="0"/>
              </a:spcAft>
              <a:buClr>
                <a:srgbClr val="000000"/>
              </a:buClr>
              <a:buSzPts val="7000"/>
              <a:buFont typeface="Arial"/>
              <a:buNone/>
            </a:pPr>
            <a:r>
              <a:rPr b="1" lang="en-US" sz="5000">
                <a:solidFill>
                  <a:srgbClr val="004AAD"/>
                </a:solidFill>
                <a:latin typeface="Montserrat"/>
                <a:ea typeface="Montserrat"/>
                <a:cs typeface="Montserrat"/>
                <a:sym typeface="Montserrat"/>
              </a:rPr>
              <a:t>Ứng dụng trí tuệ nhân tạo trong cá nhân hóa điều trị và đánh giá hiệu quả của bệnh rối </a:t>
            </a:r>
            <a:r>
              <a:rPr b="1" lang="en-US" sz="5000">
                <a:solidFill>
                  <a:srgbClr val="004AAD"/>
                </a:solidFill>
                <a:latin typeface="Montserrat"/>
                <a:ea typeface="Montserrat"/>
                <a:cs typeface="Montserrat"/>
                <a:sym typeface="Montserrat"/>
              </a:rPr>
              <a:t>loạn</a:t>
            </a:r>
            <a:r>
              <a:rPr b="1" lang="en-US" sz="5000">
                <a:solidFill>
                  <a:srgbClr val="004AAD"/>
                </a:solidFill>
                <a:latin typeface="Montserrat"/>
                <a:ea typeface="Montserrat"/>
                <a:cs typeface="Montserrat"/>
                <a:sym typeface="Montserrat"/>
              </a:rPr>
              <a:t> ngôn ngữ phát triển và rối loạn âm lời nói ở trẻ từ 3 đến 6 tuổi.</a:t>
            </a:r>
            <a:endParaRPr b="0" i="0" sz="5000" u="none" cap="none" strike="noStrike">
              <a:solidFill>
                <a:srgbClr val="000000"/>
              </a:solidFill>
              <a:latin typeface="Arial"/>
              <a:ea typeface="Arial"/>
              <a:cs typeface="Arial"/>
              <a:sym typeface="Arial"/>
            </a:endParaRPr>
          </a:p>
        </p:txBody>
      </p:sp>
      <p:sp>
        <p:nvSpPr>
          <p:cNvPr id="87" name="Google Shape;87;p1"/>
          <p:cNvSpPr txBox="1"/>
          <p:nvPr/>
        </p:nvSpPr>
        <p:spPr>
          <a:xfrm>
            <a:off x="1055494" y="5352429"/>
            <a:ext cx="15313500" cy="3047700"/>
          </a:xfrm>
          <a:prstGeom prst="rect">
            <a:avLst/>
          </a:prstGeom>
          <a:noFill/>
          <a:ln>
            <a:noFill/>
          </a:ln>
        </p:spPr>
        <p:txBody>
          <a:bodyPr anchorCtr="0" anchor="t" bIns="0" lIns="0" spcFirstLastPara="1" rIns="0" wrap="square" tIns="0">
            <a:spAutoFit/>
          </a:bodyPr>
          <a:lstStyle/>
          <a:p>
            <a:pPr indent="0" lvl="0" marL="0" marR="0" rtl="0" algn="l">
              <a:lnSpc>
                <a:spcPct val="98999"/>
              </a:lnSpc>
              <a:spcBef>
                <a:spcPts val="0"/>
              </a:spcBef>
              <a:spcAft>
                <a:spcPts val="0"/>
              </a:spcAft>
              <a:buClr>
                <a:srgbClr val="000000"/>
              </a:buClr>
              <a:buSzPts val="7000"/>
              <a:buFont typeface="Arial"/>
              <a:buNone/>
            </a:pPr>
            <a:r>
              <a:rPr b="1" lang="en-US" sz="4000">
                <a:solidFill>
                  <a:srgbClr val="2BB4D4"/>
                </a:solidFill>
                <a:latin typeface="Montserrat"/>
                <a:ea typeface="Montserrat"/>
                <a:cs typeface="Montserrat"/>
                <a:sym typeface="Montserrat"/>
              </a:rPr>
              <a:t>MÃ SỐ DỰ ÁN: VINIF.2025.DA165</a:t>
            </a:r>
            <a:endParaRPr b="1" sz="4000">
              <a:solidFill>
                <a:srgbClr val="2BB4D4"/>
              </a:solidFill>
              <a:latin typeface="Montserrat"/>
              <a:ea typeface="Montserrat"/>
              <a:cs typeface="Montserrat"/>
              <a:sym typeface="Montserrat"/>
            </a:endParaRPr>
          </a:p>
          <a:p>
            <a:pPr indent="0" lvl="0" marL="0" marR="0" rtl="0" algn="l">
              <a:lnSpc>
                <a:spcPct val="98999"/>
              </a:lnSpc>
              <a:spcBef>
                <a:spcPts val="0"/>
              </a:spcBef>
              <a:spcAft>
                <a:spcPts val="0"/>
              </a:spcAft>
              <a:buClr>
                <a:srgbClr val="000000"/>
              </a:buClr>
              <a:buSzPts val="7000"/>
              <a:buFont typeface="Arial"/>
              <a:buNone/>
            </a:pPr>
            <a:r>
              <a:rPr b="1" lang="en-US" sz="4000">
                <a:solidFill>
                  <a:srgbClr val="2BB4D4"/>
                </a:solidFill>
                <a:latin typeface="Montserrat"/>
                <a:ea typeface="Montserrat"/>
                <a:cs typeface="Montserrat"/>
                <a:sym typeface="Montserrat"/>
              </a:rPr>
              <a:t>Chủ nhiệm đề tài: PGS. TS. Quản Thành Thơ</a:t>
            </a:r>
            <a:endParaRPr b="1" sz="4000">
              <a:solidFill>
                <a:srgbClr val="2BB4D4"/>
              </a:solidFill>
              <a:latin typeface="Montserrat"/>
              <a:ea typeface="Montserrat"/>
              <a:cs typeface="Montserrat"/>
              <a:sym typeface="Montserrat"/>
            </a:endParaRPr>
          </a:p>
          <a:p>
            <a:pPr indent="0" lvl="0" marL="0" marR="0" rtl="0" algn="l">
              <a:lnSpc>
                <a:spcPct val="98999"/>
              </a:lnSpc>
              <a:spcBef>
                <a:spcPts val="0"/>
              </a:spcBef>
              <a:spcAft>
                <a:spcPts val="0"/>
              </a:spcAft>
              <a:buClr>
                <a:srgbClr val="000000"/>
              </a:buClr>
              <a:buSzPts val="7000"/>
              <a:buFont typeface="Arial"/>
              <a:buNone/>
            </a:pPr>
            <a:r>
              <a:rPr b="1" lang="en-US" sz="4000">
                <a:solidFill>
                  <a:srgbClr val="2BB4D4"/>
                </a:solidFill>
                <a:latin typeface="Montserrat"/>
                <a:ea typeface="Montserrat"/>
                <a:cs typeface="Montserrat"/>
                <a:sym typeface="Montserrat"/>
              </a:rPr>
              <a:t>Trưởng Khoa, Khoa Khoa học và Kỹ thuật Máy tính Trường Đại Học Bách khoa - ĐHQG TP.HCM.</a:t>
            </a:r>
            <a:endParaRPr b="1" sz="4000">
              <a:solidFill>
                <a:srgbClr val="2BB4D4"/>
              </a:solidFill>
              <a:latin typeface="Montserrat"/>
              <a:ea typeface="Montserrat"/>
              <a:cs typeface="Montserrat"/>
              <a:sym typeface="Montserrat"/>
            </a:endParaRPr>
          </a:p>
          <a:p>
            <a:pPr indent="0" lvl="0" marL="0" marR="0" rtl="0" algn="l">
              <a:lnSpc>
                <a:spcPct val="98999"/>
              </a:lnSpc>
              <a:spcBef>
                <a:spcPts val="0"/>
              </a:spcBef>
              <a:spcAft>
                <a:spcPts val="0"/>
              </a:spcAft>
              <a:buClr>
                <a:srgbClr val="000000"/>
              </a:buClr>
              <a:buSzPts val="7000"/>
              <a:buFont typeface="Arial"/>
              <a:buNone/>
            </a:pPr>
            <a:r>
              <a:t/>
            </a:r>
            <a:endParaRPr b="1" sz="4000">
              <a:solidFill>
                <a:srgbClr val="2BB4D4"/>
              </a:solidFill>
              <a:latin typeface="Montserrat"/>
              <a:ea typeface="Montserrat"/>
              <a:cs typeface="Montserrat"/>
              <a:sym typeface="Montserrat"/>
            </a:endParaRPr>
          </a:p>
        </p:txBody>
      </p:sp>
      <p:pic>
        <p:nvPicPr>
          <p:cNvPr id="88" name="Google Shape;88;p1" title="01_logobachkhoatoi.png"/>
          <p:cNvPicPr preferRelativeResize="0"/>
          <p:nvPr/>
        </p:nvPicPr>
        <p:blipFill rotWithShape="1">
          <a:blip r:embed="rId5">
            <a:alphaModFix/>
          </a:blip>
          <a:srcRect b="13276" l="24467" r="16029" t="8537"/>
          <a:stretch/>
        </p:blipFill>
        <p:spPr>
          <a:xfrm>
            <a:off x="5535825" y="61550"/>
            <a:ext cx="1759575" cy="1634749"/>
          </a:xfrm>
          <a:prstGeom prst="rect">
            <a:avLst/>
          </a:prstGeom>
          <a:noFill/>
          <a:ln>
            <a:noFill/>
          </a:ln>
        </p:spPr>
      </p:pic>
      <p:pic>
        <p:nvPicPr>
          <p:cNvPr id="89" name="Google Shape;89;p1" title="uni-iu.png"/>
          <p:cNvPicPr preferRelativeResize="0"/>
          <p:nvPr/>
        </p:nvPicPr>
        <p:blipFill>
          <a:blip r:embed="rId6">
            <a:alphaModFix/>
          </a:blip>
          <a:stretch>
            <a:fillRect/>
          </a:stretch>
        </p:blipFill>
        <p:spPr>
          <a:xfrm>
            <a:off x="7424400" y="0"/>
            <a:ext cx="1759575" cy="1757852"/>
          </a:xfrm>
          <a:prstGeom prst="rect">
            <a:avLst/>
          </a:prstGeom>
          <a:noFill/>
          <a:ln>
            <a:noFill/>
          </a:ln>
        </p:spPr>
      </p:pic>
      <p:pic>
        <p:nvPicPr>
          <p:cNvPr id="90" name="Google Shape;90;p1" title="1650467021_626020cde1ebd6.31217900.jpg"/>
          <p:cNvPicPr preferRelativeResize="0"/>
          <p:nvPr/>
        </p:nvPicPr>
        <p:blipFill>
          <a:blip r:embed="rId7">
            <a:alphaModFix/>
          </a:blip>
          <a:stretch>
            <a:fillRect/>
          </a:stretch>
        </p:blipFill>
        <p:spPr>
          <a:xfrm>
            <a:off x="9312975" y="0"/>
            <a:ext cx="1759575" cy="1759575"/>
          </a:xfrm>
          <a:prstGeom prst="rect">
            <a:avLst/>
          </a:prstGeom>
          <a:noFill/>
          <a:ln>
            <a:noFill/>
          </a:ln>
        </p:spPr>
      </p:pic>
      <p:pic>
        <p:nvPicPr>
          <p:cNvPr id="91" name="Google Shape;91;p1" title="73394d72-7005-45b1-ae62-db5e6e27e29e.jpg"/>
          <p:cNvPicPr preferRelativeResize="0"/>
          <p:nvPr/>
        </p:nvPicPr>
        <p:blipFill>
          <a:blip r:embed="rId8">
            <a:alphaModFix/>
          </a:blip>
          <a:stretch>
            <a:fillRect/>
          </a:stretch>
        </p:blipFill>
        <p:spPr>
          <a:xfrm>
            <a:off x="11201550" y="-862"/>
            <a:ext cx="1759575" cy="1759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72c19eb17b_1_0"/>
          <p:cNvSpPr txBox="1"/>
          <p:nvPr/>
        </p:nvSpPr>
        <p:spPr>
          <a:xfrm>
            <a:off x="889925" y="1299275"/>
            <a:ext cx="8945400" cy="7311300"/>
          </a:xfrm>
          <a:prstGeom prst="rect">
            <a:avLst/>
          </a:prstGeom>
          <a:noFill/>
          <a:ln>
            <a:noFill/>
          </a:ln>
        </p:spPr>
        <p:txBody>
          <a:bodyPr anchorCtr="0" anchor="t" bIns="0" lIns="0" spcFirstLastPara="1" rIns="0" wrap="square" tIns="0">
            <a:spAutoFit/>
          </a:bodyPr>
          <a:lstStyle/>
          <a:p>
            <a:pPr indent="-387350" lvl="0" marL="457200" marR="0" rtl="0" algn="just">
              <a:lnSpc>
                <a:spcPct val="150000"/>
              </a:lnSpc>
              <a:spcBef>
                <a:spcPts val="0"/>
              </a:spcBef>
              <a:spcAft>
                <a:spcPts val="0"/>
              </a:spcAft>
              <a:buClr>
                <a:schemeClr val="accent1"/>
              </a:buClr>
              <a:buSzPts val="2500"/>
              <a:buFont typeface="Montserrat Medium"/>
              <a:buAutoNum type="arabicPeriod"/>
            </a:pPr>
            <a:r>
              <a:rPr lang="en-US" sz="2500">
                <a:solidFill>
                  <a:schemeClr val="accent1"/>
                </a:solidFill>
                <a:latin typeface="Montserrat Medium"/>
                <a:ea typeface="Montserrat Medium"/>
                <a:cs typeface="Montserrat Medium"/>
                <a:sym typeface="Montserrat Medium"/>
              </a:rPr>
              <a:t>Rối loạn ngôn ngữ p</a:t>
            </a:r>
            <a:r>
              <a:rPr lang="en-US" sz="2500">
                <a:solidFill>
                  <a:schemeClr val="accent1"/>
                </a:solidFill>
                <a:latin typeface="Montserrat Medium"/>
                <a:ea typeface="Montserrat Medium"/>
                <a:cs typeface="Montserrat Medium"/>
                <a:sym typeface="Montserrat Medium"/>
              </a:rPr>
              <a:t>hát triển</a:t>
            </a:r>
            <a:r>
              <a:rPr lang="en-US" sz="2500">
                <a:solidFill>
                  <a:schemeClr val="accent1"/>
                </a:solidFill>
                <a:latin typeface="Montserrat Medium"/>
                <a:ea typeface="Montserrat Medium"/>
                <a:cs typeface="Montserrat Medium"/>
                <a:sym typeface="Montserrat Medium"/>
              </a:rPr>
              <a:t> (DLD)</a:t>
            </a:r>
            <a:endParaRPr sz="2500">
              <a:solidFill>
                <a:schemeClr val="accent1"/>
              </a:solidFill>
              <a:latin typeface="Montserrat Medium"/>
              <a:ea typeface="Montserrat Medium"/>
              <a:cs typeface="Montserrat Medium"/>
              <a:sym typeface="Montserrat Medium"/>
            </a:endParaRPr>
          </a:p>
          <a:p>
            <a:pPr indent="-387350" lvl="0" marL="457200" marR="0" rtl="0" algn="just">
              <a:lnSpc>
                <a:spcPct val="150000"/>
              </a:lnSpc>
              <a:spcBef>
                <a:spcPts val="0"/>
              </a:spcBef>
              <a:spcAft>
                <a:spcPts val="0"/>
              </a:spcAft>
              <a:buSzPts val="2500"/>
              <a:buFont typeface="Montserrat Medium"/>
              <a:buChar char="-"/>
            </a:pPr>
            <a:r>
              <a:rPr b="1" lang="en-US" sz="2500">
                <a:latin typeface="Montserrat"/>
                <a:ea typeface="Montserrat"/>
                <a:cs typeface="Montserrat"/>
                <a:sym typeface="Montserrat"/>
              </a:rPr>
              <a:t>Định nghĩa:</a:t>
            </a:r>
            <a:r>
              <a:rPr lang="en-US" sz="2500">
                <a:latin typeface="Montserrat Medium"/>
                <a:ea typeface="Montserrat Medium"/>
                <a:cs typeface="Montserrat Medium"/>
                <a:sym typeface="Montserrat Medium"/>
              </a:rPr>
              <a:t> Tình trạng chậm phát triển ngôn ngữ ở trẻ trên 3 tuổi, không do các nguyên nhân bệnh lý rõ ràng như chấn thương não, bại não hay hội chứng di truyền</a:t>
            </a:r>
            <a:r>
              <a:rPr baseline="30000" lang="en-US" sz="2500">
                <a:latin typeface="Montserrat Medium"/>
                <a:ea typeface="Montserrat Medium"/>
                <a:cs typeface="Montserrat Medium"/>
                <a:sym typeface="Montserrat Medium"/>
              </a:rPr>
              <a:t>1</a:t>
            </a:r>
            <a:r>
              <a:rPr lang="en-US" sz="2500">
                <a:latin typeface="Montserrat Medium"/>
                <a:ea typeface="Montserrat Medium"/>
                <a:cs typeface="Montserrat Medium"/>
                <a:sym typeface="Montserrat Medium"/>
              </a:rPr>
              <a:t>.</a:t>
            </a:r>
            <a:endParaRPr sz="2500">
              <a:latin typeface="Montserrat Medium"/>
              <a:ea typeface="Montserrat Medium"/>
              <a:cs typeface="Montserrat Medium"/>
              <a:sym typeface="Montserrat Medium"/>
            </a:endParaRPr>
          </a:p>
          <a:p>
            <a:pPr indent="-387350" lvl="0" marL="457200" marR="0" rtl="0" algn="just">
              <a:lnSpc>
                <a:spcPct val="150000"/>
              </a:lnSpc>
              <a:spcBef>
                <a:spcPts val="0"/>
              </a:spcBef>
              <a:spcAft>
                <a:spcPts val="0"/>
              </a:spcAft>
              <a:buSzPts val="2500"/>
              <a:buFont typeface="Montserrat Medium"/>
              <a:buChar char="-"/>
            </a:pPr>
            <a:r>
              <a:rPr b="1" lang="en-US" sz="2500">
                <a:latin typeface="Montserrat"/>
                <a:ea typeface="Montserrat"/>
                <a:cs typeface="Montserrat"/>
                <a:sym typeface="Montserrat"/>
              </a:rPr>
              <a:t>Hậu quả:</a:t>
            </a:r>
            <a:r>
              <a:rPr lang="en-US" sz="2500">
                <a:latin typeface="Montserrat Medium"/>
                <a:ea typeface="Montserrat Medium"/>
                <a:cs typeface="Montserrat Medium"/>
                <a:sym typeface="Montserrat Medium"/>
              </a:rPr>
              <a:t> Trẻ có nguy cơ cao gấp 5 lần gặp khó khăn trong học tập, tâm lý hành vi và hòa nhập xã hội.</a:t>
            </a:r>
            <a:r>
              <a:rPr baseline="30000" lang="en-US" sz="2500">
                <a:latin typeface="Montserrat Medium"/>
                <a:ea typeface="Montserrat Medium"/>
                <a:cs typeface="Montserrat Medium"/>
                <a:sym typeface="Montserrat Medium"/>
              </a:rPr>
              <a:t>4</a:t>
            </a:r>
            <a:r>
              <a:rPr lang="en-US" sz="2500">
                <a:latin typeface="Montserrat Medium"/>
                <a:ea typeface="Montserrat Medium"/>
                <a:cs typeface="Montserrat Medium"/>
                <a:sym typeface="Montserrat Medium"/>
              </a:rPr>
              <a:t>.</a:t>
            </a:r>
            <a:endParaRPr sz="2500">
              <a:latin typeface="Montserrat Medium"/>
              <a:ea typeface="Montserrat Medium"/>
              <a:cs typeface="Montserrat Medium"/>
              <a:sym typeface="Montserrat Medium"/>
            </a:endParaRPr>
          </a:p>
          <a:p>
            <a:pPr indent="0" lvl="0" marL="0" rtl="0" algn="just">
              <a:lnSpc>
                <a:spcPct val="150000"/>
              </a:lnSpc>
              <a:spcBef>
                <a:spcPts val="0"/>
              </a:spcBef>
              <a:spcAft>
                <a:spcPts val="0"/>
              </a:spcAft>
              <a:buNone/>
            </a:pPr>
            <a:r>
              <a:rPr lang="en-US" sz="2500">
                <a:solidFill>
                  <a:schemeClr val="accent1"/>
                </a:solidFill>
                <a:latin typeface="Montserrat Medium"/>
                <a:ea typeface="Montserrat Medium"/>
                <a:cs typeface="Montserrat Medium"/>
                <a:sym typeface="Montserrat Medium"/>
              </a:rPr>
              <a:t>2.  Rối loạn âm lời nói (SSD)</a:t>
            </a:r>
            <a:endParaRPr sz="2500">
              <a:solidFill>
                <a:schemeClr val="accent1"/>
              </a:solidFill>
              <a:latin typeface="Montserrat Medium"/>
              <a:ea typeface="Montserrat Medium"/>
              <a:cs typeface="Montserrat Medium"/>
              <a:sym typeface="Montserrat Medium"/>
            </a:endParaRPr>
          </a:p>
          <a:p>
            <a:pPr indent="-387350" lvl="0" marL="457200" rtl="0" algn="just">
              <a:lnSpc>
                <a:spcPct val="150000"/>
              </a:lnSpc>
              <a:spcBef>
                <a:spcPts val="0"/>
              </a:spcBef>
              <a:spcAft>
                <a:spcPts val="0"/>
              </a:spcAft>
              <a:buClr>
                <a:schemeClr val="dk1"/>
              </a:buClr>
              <a:buSzPts val="2500"/>
              <a:buFont typeface="Montserrat Medium"/>
              <a:buChar char="-"/>
            </a:pPr>
            <a:r>
              <a:rPr b="1" lang="en-US" sz="2500">
                <a:solidFill>
                  <a:schemeClr val="dk1"/>
                </a:solidFill>
                <a:latin typeface="Montserrat"/>
                <a:ea typeface="Montserrat"/>
                <a:cs typeface="Montserrat"/>
                <a:sym typeface="Montserrat"/>
              </a:rPr>
              <a:t>Định nghĩa:</a:t>
            </a:r>
            <a:r>
              <a:rPr lang="en-US" sz="2500">
                <a:solidFill>
                  <a:schemeClr val="dk1"/>
                </a:solidFill>
                <a:latin typeface="Montserrat Medium"/>
                <a:ea typeface="Montserrat Medium"/>
                <a:cs typeface="Montserrat Medium"/>
                <a:sym typeface="Montserrat Medium"/>
              </a:rPr>
              <a:t> Tình trạng trẻ nói sai âm, phát âm không chính xác</a:t>
            </a:r>
            <a:r>
              <a:rPr baseline="30000" lang="en-US" sz="2500">
                <a:solidFill>
                  <a:schemeClr val="dk1"/>
                </a:solidFill>
                <a:latin typeface="Montserrat Medium"/>
                <a:ea typeface="Montserrat Medium"/>
                <a:cs typeface="Montserrat Medium"/>
                <a:sym typeface="Montserrat Medium"/>
              </a:rPr>
              <a:t>5,6</a:t>
            </a:r>
            <a:r>
              <a:rPr lang="en-US" sz="2500">
                <a:solidFill>
                  <a:schemeClr val="dk1"/>
                </a:solidFill>
                <a:latin typeface="Montserrat Medium"/>
                <a:ea typeface="Montserrat Medium"/>
                <a:cs typeface="Montserrat Medium"/>
                <a:sym typeface="Montserrat Medium"/>
              </a:rPr>
              <a:t>.</a:t>
            </a:r>
            <a:endParaRPr sz="2500">
              <a:solidFill>
                <a:schemeClr val="dk1"/>
              </a:solidFill>
              <a:latin typeface="Montserrat Medium"/>
              <a:ea typeface="Montserrat Medium"/>
              <a:cs typeface="Montserrat Medium"/>
              <a:sym typeface="Montserrat Medium"/>
            </a:endParaRPr>
          </a:p>
          <a:p>
            <a:pPr indent="-387350" lvl="0" marL="457200" rtl="0" algn="just">
              <a:lnSpc>
                <a:spcPct val="150000"/>
              </a:lnSpc>
              <a:spcBef>
                <a:spcPts val="0"/>
              </a:spcBef>
              <a:spcAft>
                <a:spcPts val="0"/>
              </a:spcAft>
              <a:buClr>
                <a:schemeClr val="dk1"/>
              </a:buClr>
              <a:buSzPts val="2500"/>
              <a:buFont typeface="Montserrat Medium"/>
              <a:buChar char="-"/>
            </a:pPr>
            <a:r>
              <a:rPr b="1" lang="en-US" sz="2500">
                <a:solidFill>
                  <a:schemeClr val="dk1"/>
                </a:solidFill>
                <a:latin typeface="Montserrat"/>
                <a:ea typeface="Montserrat"/>
                <a:cs typeface="Montserrat"/>
                <a:sym typeface="Montserrat"/>
              </a:rPr>
              <a:t>Hậu quả:</a:t>
            </a:r>
            <a:r>
              <a:rPr lang="en-US" sz="2500">
                <a:solidFill>
                  <a:schemeClr val="dk1"/>
                </a:solidFill>
                <a:latin typeface="Montserrat Medium"/>
                <a:ea typeface="Montserrat Medium"/>
                <a:cs typeface="Montserrat Medium"/>
                <a:sym typeface="Montserrat Medium"/>
              </a:rPr>
              <a:t> Ảnh hưởng tiêu cực đến giao tiếp xã hội, chất lượng sống và các kỹ năng học đường như đọc và viết</a:t>
            </a:r>
            <a:r>
              <a:rPr baseline="30000" lang="en-US" sz="2500">
                <a:solidFill>
                  <a:schemeClr val="dk1"/>
                </a:solidFill>
                <a:latin typeface="Montserrat Medium"/>
                <a:ea typeface="Montserrat Medium"/>
                <a:cs typeface="Montserrat Medium"/>
                <a:sym typeface="Montserrat Medium"/>
              </a:rPr>
              <a:t>6</a:t>
            </a:r>
            <a:r>
              <a:rPr lang="en-US" sz="2500">
                <a:solidFill>
                  <a:schemeClr val="dk1"/>
                </a:solidFill>
                <a:latin typeface="Montserrat Medium"/>
                <a:ea typeface="Montserrat Medium"/>
                <a:cs typeface="Montserrat Medium"/>
                <a:sym typeface="Montserrat Medium"/>
              </a:rPr>
              <a:t>. </a:t>
            </a:r>
            <a:endParaRPr sz="2500">
              <a:latin typeface="Montserrat Medium"/>
              <a:ea typeface="Montserrat Medium"/>
              <a:cs typeface="Montserrat Medium"/>
              <a:sym typeface="Montserrat Medium"/>
            </a:endParaRPr>
          </a:p>
        </p:txBody>
      </p:sp>
      <p:sp>
        <p:nvSpPr>
          <p:cNvPr id="97" name="Google Shape;97;g372c19eb17b_1_0"/>
          <p:cNvSpPr txBox="1"/>
          <p:nvPr/>
        </p:nvSpPr>
        <p:spPr>
          <a:xfrm>
            <a:off x="1026000" y="529780"/>
            <a:ext cx="11339700" cy="769500"/>
          </a:xfrm>
          <a:prstGeom prst="rect">
            <a:avLst/>
          </a:prstGeom>
          <a:noFill/>
          <a:ln>
            <a:noFill/>
          </a:ln>
        </p:spPr>
        <p:txBody>
          <a:bodyPr anchorCtr="0" anchor="t" bIns="0" lIns="0" spcFirstLastPara="1" rIns="0" wrap="square" tIns="0">
            <a:spAutoFit/>
          </a:bodyPr>
          <a:lstStyle/>
          <a:p>
            <a:pPr indent="-546100" lvl="0" marL="457200" marR="0" rtl="0" algn="l">
              <a:lnSpc>
                <a:spcPct val="100000"/>
              </a:lnSpc>
              <a:spcBef>
                <a:spcPts val="0"/>
              </a:spcBef>
              <a:spcAft>
                <a:spcPts val="0"/>
              </a:spcAft>
              <a:buClr>
                <a:srgbClr val="004AAD"/>
              </a:buClr>
              <a:buSzPts val="5000"/>
              <a:buFont typeface="Montserrat"/>
              <a:buAutoNum type="romanUcPeriod"/>
            </a:pPr>
            <a:r>
              <a:rPr b="1" lang="en-US" sz="5000">
                <a:solidFill>
                  <a:srgbClr val="004AAD"/>
                </a:solidFill>
                <a:latin typeface="Montserrat"/>
                <a:ea typeface="Montserrat"/>
                <a:cs typeface="Montserrat"/>
                <a:sym typeface="Montserrat"/>
              </a:rPr>
              <a:t>Tính cấp thiết của dự án</a:t>
            </a:r>
            <a:endParaRPr b="0" i="0" sz="1400" u="none" cap="none" strike="noStrike">
              <a:solidFill>
                <a:srgbClr val="000000"/>
              </a:solidFill>
              <a:latin typeface="Arial"/>
              <a:ea typeface="Arial"/>
              <a:cs typeface="Arial"/>
              <a:sym typeface="Arial"/>
            </a:endParaRPr>
          </a:p>
        </p:txBody>
      </p:sp>
      <p:sp>
        <p:nvSpPr>
          <p:cNvPr id="98" name="Google Shape;98;g372c19eb17b_1_0"/>
          <p:cNvSpPr/>
          <p:nvPr/>
        </p:nvSpPr>
        <p:spPr>
          <a:xfrm rot="-1624665">
            <a:off x="10991542" y="-524267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9" name="Google Shape;99;g372c19eb17b_1_0"/>
          <p:cNvPicPr preferRelativeResize="0"/>
          <p:nvPr/>
        </p:nvPicPr>
        <p:blipFill>
          <a:blip r:embed="rId4">
            <a:alphaModFix/>
          </a:blip>
          <a:stretch>
            <a:fillRect/>
          </a:stretch>
        </p:blipFill>
        <p:spPr>
          <a:xfrm>
            <a:off x="9971400" y="2799622"/>
            <a:ext cx="8316601" cy="468775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7403fed8d6_0_15"/>
          <p:cNvSpPr txBox="1"/>
          <p:nvPr/>
        </p:nvSpPr>
        <p:spPr>
          <a:xfrm>
            <a:off x="909350" y="1427550"/>
            <a:ext cx="16236000" cy="44253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2500">
                <a:solidFill>
                  <a:schemeClr val="accent1"/>
                </a:solidFill>
                <a:latin typeface="Montserrat Medium"/>
                <a:ea typeface="Montserrat Medium"/>
                <a:cs typeface="Montserrat Medium"/>
                <a:sym typeface="Montserrat Medium"/>
              </a:rPr>
              <a:t>3. Hạn chế của can thiệp hiện tại:</a:t>
            </a:r>
            <a:endParaRPr sz="2500">
              <a:solidFill>
                <a:schemeClr val="accent1"/>
              </a:solidFill>
              <a:latin typeface="Montserrat Medium"/>
              <a:ea typeface="Montserrat Medium"/>
              <a:cs typeface="Montserrat Medium"/>
              <a:sym typeface="Montserrat Medium"/>
            </a:endParaRPr>
          </a:p>
          <a:p>
            <a:pPr indent="-387350" lvl="0" marL="457200" marR="0" rtl="0" algn="just">
              <a:lnSpc>
                <a:spcPct val="150000"/>
              </a:lnSpc>
              <a:spcBef>
                <a:spcPts val="0"/>
              </a:spcBef>
              <a:spcAft>
                <a:spcPts val="0"/>
              </a:spcAft>
              <a:buSzPts val="2500"/>
              <a:buFont typeface="Montserrat Medium"/>
              <a:buChar char="-"/>
            </a:pPr>
            <a:r>
              <a:rPr lang="en-US" sz="2500">
                <a:latin typeface="Montserrat Medium"/>
                <a:ea typeface="Montserrat Medium"/>
                <a:cs typeface="Montserrat Medium"/>
                <a:sym typeface="Montserrat Medium"/>
              </a:rPr>
              <a:t>Trẻ mắc DLD và SSD hiện tại chủ yếu can thiệp trực tiếp 1–2 buổi/tuần (thời gian điều trị 2 - 3 giờ/buổi) trong nhiều tuần</a:t>
            </a:r>
            <a:r>
              <a:rPr baseline="30000" lang="en-US" sz="2500">
                <a:latin typeface="Montserrat Medium"/>
                <a:ea typeface="Montserrat Medium"/>
                <a:cs typeface="Montserrat Medium"/>
                <a:sym typeface="Montserrat Medium"/>
              </a:rPr>
              <a:t>7</a:t>
            </a:r>
            <a:r>
              <a:rPr lang="en-US" sz="2500">
                <a:latin typeface="Montserrat Medium"/>
                <a:ea typeface="Montserrat Medium"/>
                <a:cs typeface="Montserrat Medium"/>
                <a:sym typeface="Montserrat Medium"/>
              </a:rPr>
              <a:t>.</a:t>
            </a:r>
            <a:endParaRPr sz="2500">
              <a:latin typeface="Montserrat Medium"/>
              <a:ea typeface="Montserrat Medium"/>
              <a:cs typeface="Montserrat Medium"/>
              <a:sym typeface="Montserrat Medium"/>
            </a:endParaRPr>
          </a:p>
          <a:p>
            <a:pPr indent="-387350" lvl="0" marL="457200" rtl="0" algn="just">
              <a:lnSpc>
                <a:spcPct val="150000"/>
              </a:lnSpc>
              <a:spcBef>
                <a:spcPts val="0"/>
              </a:spcBef>
              <a:spcAft>
                <a:spcPts val="0"/>
              </a:spcAft>
              <a:buSzPts val="2500"/>
              <a:buFont typeface="Montserrat Medium"/>
              <a:buChar char="-"/>
            </a:pPr>
            <a:r>
              <a:rPr lang="en-US" sz="2500">
                <a:latin typeface="Montserrat Medium"/>
                <a:ea typeface="Montserrat Medium"/>
                <a:cs typeface="Montserrat Medium"/>
                <a:sym typeface="Montserrat Medium"/>
              </a:rPr>
              <a:t>Thiếu chuyên viên âm ngữ trị liệu khiến nhiều trẻ không được tiếp cận trị liệu</a:t>
            </a:r>
            <a:r>
              <a:rPr baseline="30000" lang="en-US" sz="2500">
                <a:latin typeface="Montserrat Medium"/>
                <a:ea typeface="Montserrat Medium"/>
                <a:cs typeface="Montserrat Medium"/>
                <a:sym typeface="Montserrat Medium"/>
              </a:rPr>
              <a:t>8</a:t>
            </a:r>
            <a:r>
              <a:rPr lang="en-US" sz="2500">
                <a:latin typeface="Montserrat Medium"/>
                <a:ea typeface="Montserrat Medium"/>
                <a:cs typeface="Montserrat Medium"/>
                <a:sym typeface="Montserrat Medium"/>
              </a:rPr>
              <a:t>.</a:t>
            </a:r>
            <a:endParaRPr sz="2500">
              <a:latin typeface="Montserrat Medium"/>
              <a:ea typeface="Montserrat Medium"/>
              <a:cs typeface="Montserrat Medium"/>
              <a:sym typeface="Montserrat Medium"/>
            </a:endParaRPr>
          </a:p>
          <a:p>
            <a:pPr indent="0" lvl="0" marL="0" rtl="0" algn="just">
              <a:lnSpc>
                <a:spcPct val="150000"/>
              </a:lnSpc>
              <a:spcBef>
                <a:spcPts val="0"/>
              </a:spcBef>
              <a:spcAft>
                <a:spcPts val="0"/>
              </a:spcAft>
              <a:buNone/>
            </a:pPr>
            <a:r>
              <a:rPr lang="en-US" sz="2500">
                <a:solidFill>
                  <a:schemeClr val="accent1"/>
                </a:solidFill>
                <a:latin typeface="Montserrat Medium"/>
                <a:ea typeface="Montserrat Medium"/>
                <a:cs typeface="Montserrat Medium"/>
                <a:sym typeface="Montserrat Medium"/>
              </a:rPr>
              <a:t>4. Khoảng trống trong nghiên cứu:</a:t>
            </a:r>
            <a:endParaRPr sz="2500">
              <a:solidFill>
                <a:schemeClr val="accent1"/>
              </a:solidFill>
              <a:latin typeface="Montserrat Medium"/>
              <a:ea typeface="Montserrat Medium"/>
              <a:cs typeface="Montserrat Medium"/>
              <a:sym typeface="Montserrat Medium"/>
            </a:endParaRPr>
          </a:p>
          <a:p>
            <a:pPr indent="-387350" lvl="0" marL="457200" rtl="0" algn="just">
              <a:lnSpc>
                <a:spcPct val="150000"/>
              </a:lnSpc>
              <a:spcBef>
                <a:spcPts val="0"/>
              </a:spcBef>
              <a:spcAft>
                <a:spcPts val="0"/>
              </a:spcAft>
              <a:buClr>
                <a:schemeClr val="dk1"/>
              </a:buClr>
              <a:buSzPts val="2500"/>
              <a:buFont typeface="Montserrat Medium"/>
              <a:buChar char="-"/>
            </a:pPr>
            <a:r>
              <a:rPr lang="en-US" sz="2500">
                <a:solidFill>
                  <a:schemeClr val="dk1"/>
                </a:solidFill>
                <a:latin typeface="Montserrat Medium"/>
                <a:ea typeface="Montserrat Medium"/>
                <a:cs typeface="Montserrat Medium"/>
                <a:sym typeface="Montserrat Medium"/>
              </a:rPr>
              <a:t>Nỗ lực số hóa trị liệu từ 2008 bị chậm do giới hạn công nghệ</a:t>
            </a:r>
            <a:r>
              <a:rPr baseline="30000" lang="en-US" sz="2500">
                <a:solidFill>
                  <a:schemeClr val="dk1"/>
                </a:solidFill>
                <a:latin typeface="Montserrat Medium"/>
                <a:ea typeface="Montserrat Medium"/>
                <a:cs typeface="Montserrat Medium"/>
                <a:sym typeface="Montserrat Medium"/>
              </a:rPr>
              <a:t>9</a:t>
            </a:r>
            <a:r>
              <a:rPr lang="en-US" sz="2500">
                <a:solidFill>
                  <a:schemeClr val="dk1"/>
                </a:solidFill>
                <a:latin typeface="Montserrat Medium"/>
                <a:ea typeface="Montserrat Medium"/>
                <a:cs typeface="Montserrat Medium"/>
                <a:sym typeface="Montserrat Medium"/>
              </a:rPr>
              <a:t>.</a:t>
            </a:r>
            <a:endParaRPr sz="2500">
              <a:solidFill>
                <a:schemeClr val="dk1"/>
              </a:solidFill>
              <a:latin typeface="Montserrat Medium"/>
              <a:ea typeface="Montserrat Medium"/>
              <a:cs typeface="Montserrat Medium"/>
              <a:sym typeface="Montserrat Medium"/>
            </a:endParaRPr>
          </a:p>
          <a:p>
            <a:pPr indent="-387350" lvl="0" marL="457200" rtl="0" algn="just">
              <a:lnSpc>
                <a:spcPct val="150000"/>
              </a:lnSpc>
              <a:spcBef>
                <a:spcPts val="0"/>
              </a:spcBef>
              <a:spcAft>
                <a:spcPts val="0"/>
              </a:spcAft>
              <a:buClr>
                <a:schemeClr val="dk1"/>
              </a:buClr>
              <a:buSzPts val="2500"/>
              <a:buFont typeface="Montserrat Medium"/>
              <a:buChar char="-"/>
            </a:pPr>
            <a:r>
              <a:rPr lang="en-US" sz="2500">
                <a:solidFill>
                  <a:schemeClr val="dk1"/>
                </a:solidFill>
                <a:latin typeface="Montserrat Medium"/>
                <a:ea typeface="Montserrat Medium"/>
                <a:cs typeface="Montserrat Medium"/>
                <a:sym typeface="Montserrat Medium"/>
              </a:rPr>
              <a:t>Nhiều hệ thống số hóa thiếu sự tham gia của chuyên gia, làm giảm hiệu quả của hệ thống trị liệu</a:t>
            </a:r>
            <a:r>
              <a:rPr baseline="30000" lang="en-US" sz="2500">
                <a:solidFill>
                  <a:schemeClr val="dk1"/>
                </a:solidFill>
                <a:latin typeface="Montserrat Medium"/>
                <a:ea typeface="Montserrat Medium"/>
                <a:cs typeface="Montserrat Medium"/>
                <a:sym typeface="Montserrat Medium"/>
              </a:rPr>
              <a:t>10</a:t>
            </a:r>
            <a:r>
              <a:rPr lang="en-US" sz="2500">
                <a:solidFill>
                  <a:schemeClr val="dk1"/>
                </a:solidFill>
                <a:latin typeface="Montserrat Medium"/>
                <a:ea typeface="Montserrat Medium"/>
                <a:cs typeface="Montserrat Medium"/>
                <a:sym typeface="Montserrat Medium"/>
              </a:rPr>
              <a:t>.</a:t>
            </a:r>
            <a:endParaRPr sz="2500">
              <a:latin typeface="Montserrat Medium"/>
              <a:ea typeface="Montserrat Medium"/>
              <a:cs typeface="Montserrat Medium"/>
              <a:sym typeface="Montserrat Medium"/>
            </a:endParaRPr>
          </a:p>
        </p:txBody>
      </p:sp>
      <p:sp>
        <p:nvSpPr>
          <p:cNvPr id="105" name="Google Shape;105;g37403fed8d6_0_15"/>
          <p:cNvSpPr txBox="1"/>
          <p:nvPr/>
        </p:nvSpPr>
        <p:spPr>
          <a:xfrm>
            <a:off x="1026000" y="549230"/>
            <a:ext cx="11339700" cy="769500"/>
          </a:xfrm>
          <a:prstGeom prst="rect">
            <a:avLst/>
          </a:prstGeom>
          <a:noFill/>
          <a:ln>
            <a:noFill/>
          </a:ln>
        </p:spPr>
        <p:txBody>
          <a:bodyPr anchorCtr="0" anchor="t" bIns="0" lIns="0" spcFirstLastPara="1" rIns="0" wrap="square" tIns="0">
            <a:spAutoFit/>
          </a:bodyPr>
          <a:lstStyle/>
          <a:p>
            <a:pPr indent="-546100" lvl="0" marL="457200" marR="0" rtl="0" algn="l">
              <a:lnSpc>
                <a:spcPct val="100000"/>
              </a:lnSpc>
              <a:spcBef>
                <a:spcPts val="0"/>
              </a:spcBef>
              <a:spcAft>
                <a:spcPts val="0"/>
              </a:spcAft>
              <a:buClr>
                <a:srgbClr val="004AAD"/>
              </a:buClr>
              <a:buSzPts val="5000"/>
              <a:buFont typeface="Montserrat"/>
              <a:buAutoNum type="romanUcPeriod"/>
            </a:pPr>
            <a:r>
              <a:rPr b="1" lang="en-US" sz="5000">
                <a:solidFill>
                  <a:srgbClr val="004AAD"/>
                </a:solidFill>
                <a:latin typeface="Montserrat"/>
                <a:ea typeface="Montserrat"/>
                <a:cs typeface="Montserrat"/>
                <a:sym typeface="Montserrat"/>
              </a:rPr>
              <a:t>Tính cấp thiết của dự án</a:t>
            </a:r>
            <a:endParaRPr b="0" i="0" sz="1400" u="none" cap="none" strike="noStrike">
              <a:solidFill>
                <a:srgbClr val="000000"/>
              </a:solidFill>
              <a:latin typeface="Arial"/>
              <a:ea typeface="Arial"/>
              <a:cs typeface="Arial"/>
              <a:sym typeface="Arial"/>
            </a:endParaRPr>
          </a:p>
        </p:txBody>
      </p:sp>
      <p:sp>
        <p:nvSpPr>
          <p:cNvPr id="106" name="Google Shape;106;g37403fed8d6_0_15"/>
          <p:cNvSpPr/>
          <p:nvPr/>
        </p:nvSpPr>
        <p:spPr>
          <a:xfrm rot="-1624665">
            <a:off x="10836067" y="-479557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g37403fed8d6_0_15"/>
          <p:cNvSpPr/>
          <p:nvPr/>
        </p:nvSpPr>
        <p:spPr>
          <a:xfrm rot="9479154">
            <a:off x="-999634" y="615456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7403fed8d6_0_22"/>
          <p:cNvSpPr txBox="1"/>
          <p:nvPr/>
        </p:nvSpPr>
        <p:spPr>
          <a:xfrm>
            <a:off x="892625" y="1284400"/>
            <a:ext cx="16236000" cy="492600"/>
          </a:xfrm>
          <a:prstGeom prst="rect">
            <a:avLst/>
          </a:prstGeom>
          <a:noFill/>
          <a:ln>
            <a:noFill/>
          </a:ln>
        </p:spPr>
        <p:txBody>
          <a:bodyPr anchorCtr="0" anchor="t" bIns="0" lIns="0" spcFirstLastPara="1" rIns="0" wrap="square" tIns="0">
            <a:spAutoFit/>
          </a:bodyPr>
          <a:lstStyle/>
          <a:p>
            <a:pPr indent="-431800" lvl="0" marL="457200" marR="0" rtl="0" algn="just">
              <a:lnSpc>
                <a:spcPct val="150000"/>
              </a:lnSpc>
              <a:spcBef>
                <a:spcPts val="0"/>
              </a:spcBef>
              <a:spcAft>
                <a:spcPts val="0"/>
              </a:spcAft>
              <a:buClr>
                <a:schemeClr val="accent1"/>
              </a:buClr>
              <a:buSzPts val="3200"/>
              <a:buFont typeface="Montserrat Medium"/>
              <a:buAutoNum type="arabicPeriod"/>
            </a:pPr>
            <a:r>
              <a:rPr lang="en-US" sz="3200">
                <a:solidFill>
                  <a:schemeClr val="accent1"/>
                </a:solidFill>
                <a:latin typeface="Montserrat Medium"/>
                <a:ea typeface="Montserrat Medium"/>
                <a:cs typeface="Montserrat Medium"/>
                <a:sym typeface="Montserrat Medium"/>
              </a:rPr>
              <a:t>Mục tiêu chung: </a:t>
            </a:r>
            <a:endParaRPr sz="3200">
              <a:solidFill>
                <a:schemeClr val="dk1"/>
              </a:solidFill>
              <a:latin typeface="Montserrat Medium"/>
              <a:ea typeface="Montserrat Medium"/>
              <a:cs typeface="Montserrat Medium"/>
              <a:sym typeface="Montserrat Medium"/>
            </a:endParaRPr>
          </a:p>
        </p:txBody>
      </p:sp>
      <p:sp>
        <p:nvSpPr>
          <p:cNvPr id="113" name="Google Shape;113;g37403fed8d6_0_22"/>
          <p:cNvSpPr txBox="1"/>
          <p:nvPr/>
        </p:nvSpPr>
        <p:spPr>
          <a:xfrm>
            <a:off x="892625" y="514905"/>
            <a:ext cx="113397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 Mục tiêu dự án</a:t>
            </a:r>
            <a:endParaRPr b="0" i="0" sz="1400" u="none" cap="none" strike="noStrike">
              <a:solidFill>
                <a:srgbClr val="000000"/>
              </a:solidFill>
              <a:latin typeface="Arial"/>
              <a:ea typeface="Arial"/>
              <a:cs typeface="Arial"/>
              <a:sym typeface="Arial"/>
            </a:endParaRPr>
          </a:p>
        </p:txBody>
      </p:sp>
      <p:sp>
        <p:nvSpPr>
          <p:cNvPr id="114" name="Google Shape;114;g37403fed8d6_0_22"/>
          <p:cNvSpPr/>
          <p:nvPr/>
        </p:nvSpPr>
        <p:spPr>
          <a:xfrm rot="-1624665">
            <a:off x="10427867" y="-5010099"/>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g37403fed8d6_0_22"/>
          <p:cNvSpPr/>
          <p:nvPr/>
        </p:nvSpPr>
        <p:spPr>
          <a:xfrm rot="9479154">
            <a:off x="-999634" y="656236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37403fed8d6_0_22"/>
          <p:cNvSpPr txBox="1"/>
          <p:nvPr/>
        </p:nvSpPr>
        <p:spPr>
          <a:xfrm>
            <a:off x="892625" y="1895288"/>
            <a:ext cx="16236000" cy="1847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3000">
                <a:solidFill>
                  <a:schemeClr val="dk1"/>
                </a:solidFill>
                <a:latin typeface="Montserrat Medium"/>
                <a:ea typeface="Montserrat Medium"/>
                <a:cs typeface="Montserrat Medium"/>
                <a:sym typeface="Montserrat Medium"/>
              </a:rPr>
              <a:t>Phát triển một </a:t>
            </a:r>
            <a:r>
              <a:rPr b="1" lang="en-US" sz="3000">
                <a:solidFill>
                  <a:schemeClr val="dk1"/>
                </a:solidFill>
                <a:latin typeface="Montserrat"/>
                <a:ea typeface="Montserrat"/>
                <a:cs typeface="Montserrat"/>
                <a:sym typeface="Montserrat"/>
              </a:rPr>
              <a:t>hệ thống trị liệu ngôn ngữ và </a:t>
            </a:r>
            <a:r>
              <a:rPr b="1" lang="en-US" sz="3000">
                <a:solidFill>
                  <a:schemeClr val="dk1"/>
                </a:solidFill>
                <a:latin typeface="Montserrat"/>
                <a:ea typeface="Montserrat"/>
                <a:cs typeface="Montserrat"/>
                <a:sym typeface="Montserrat"/>
              </a:rPr>
              <a:t>âm lời nói</a:t>
            </a:r>
            <a:r>
              <a:rPr b="1" lang="en-US" sz="3000">
                <a:solidFill>
                  <a:schemeClr val="dk1"/>
                </a:solidFill>
                <a:latin typeface="Montserrat"/>
                <a:ea typeface="Montserrat"/>
                <a:cs typeface="Montserrat"/>
                <a:sym typeface="Montserrat"/>
              </a:rPr>
              <a:t> nói dựa trên trí tuệ nhân tạo (AI)</a:t>
            </a:r>
            <a:r>
              <a:rPr lang="en-US" sz="3000">
                <a:solidFill>
                  <a:schemeClr val="dk1"/>
                </a:solidFill>
                <a:latin typeface="Montserrat Medium"/>
                <a:ea typeface="Montserrat Medium"/>
                <a:cs typeface="Montserrat Medium"/>
                <a:sym typeface="Montserrat Medium"/>
              </a:rPr>
              <a:t> nhằm hỗ trợ </a:t>
            </a:r>
            <a:r>
              <a:rPr lang="en-US" sz="3000">
                <a:solidFill>
                  <a:srgbClr val="FF3131"/>
                </a:solidFill>
                <a:latin typeface="Montserrat Medium"/>
                <a:ea typeface="Montserrat Medium"/>
                <a:cs typeface="Montserrat Medium"/>
                <a:sym typeface="Montserrat Medium"/>
              </a:rPr>
              <a:t>đánh giá, cá nhân hóa điều trị và theo dõi tiến triển</a:t>
            </a:r>
            <a:r>
              <a:rPr lang="en-US" sz="3000">
                <a:solidFill>
                  <a:schemeClr val="dk1"/>
                </a:solidFill>
                <a:latin typeface="Montserrat Medium"/>
                <a:ea typeface="Montserrat Medium"/>
                <a:cs typeface="Montserrat Medium"/>
                <a:sym typeface="Montserrat Medium"/>
              </a:rPr>
              <a:t> cho trẻ mắc rối loạn ngôn ngữ phát triển và rối loạn âm lời nói.</a:t>
            </a:r>
            <a:endParaRPr sz="3000">
              <a:solidFill>
                <a:schemeClr val="dk1"/>
              </a:solidFill>
              <a:latin typeface="Montserrat Medium"/>
              <a:ea typeface="Montserrat Medium"/>
              <a:cs typeface="Montserrat Medium"/>
              <a:sym typeface="Montserrat Medium"/>
            </a:endParaRPr>
          </a:p>
        </p:txBody>
      </p:sp>
      <p:sp>
        <p:nvSpPr>
          <p:cNvPr id="117" name="Google Shape;117;g37403fed8d6_0_22"/>
          <p:cNvSpPr txBox="1"/>
          <p:nvPr/>
        </p:nvSpPr>
        <p:spPr>
          <a:xfrm>
            <a:off x="892625" y="3845438"/>
            <a:ext cx="16236000" cy="4926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3200">
                <a:solidFill>
                  <a:schemeClr val="accent1"/>
                </a:solidFill>
                <a:latin typeface="Montserrat Medium"/>
                <a:ea typeface="Montserrat Medium"/>
                <a:cs typeface="Montserrat Medium"/>
                <a:sym typeface="Montserrat Medium"/>
              </a:rPr>
              <a:t>2.  Hệ thống bao gồm 3 thành phần:</a:t>
            </a:r>
            <a:endParaRPr sz="3000">
              <a:solidFill>
                <a:schemeClr val="dk1"/>
              </a:solidFill>
              <a:latin typeface="Montserrat Medium"/>
              <a:ea typeface="Montserrat Medium"/>
              <a:cs typeface="Montserrat Medium"/>
              <a:sym typeface="Montserrat Medium"/>
            </a:endParaRPr>
          </a:p>
        </p:txBody>
      </p:sp>
      <p:sp>
        <p:nvSpPr>
          <p:cNvPr id="118" name="Google Shape;118;g37403fed8d6_0_22"/>
          <p:cNvSpPr txBox="1"/>
          <p:nvPr/>
        </p:nvSpPr>
        <p:spPr>
          <a:xfrm>
            <a:off x="892625" y="4441100"/>
            <a:ext cx="16236000" cy="2031900"/>
          </a:xfrm>
          <a:prstGeom prst="rect">
            <a:avLst/>
          </a:prstGeom>
          <a:noFill/>
          <a:ln>
            <a:noFill/>
          </a:ln>
        </p:spPr>
        <p:txBody>
          <a:bodyPr anchorCtr="0" anchor="t" bIns="91425" lIns="91425" spcFirstLastPara="1" rIns="91425" wrap="square" tIns="91425">
            <a:spAutoFit/>
          </a:bodyPr>
          <a:lstStyle/>
          <a:p>
            <a:pPr indent="-419100" lvl="0" marL="457200" rtl="0" algn="l">
              <a:lnSpc>
                <a:spcPct val="150000"/>
              </a:lnSpc>
              <a:spcBef>
                <a:spcPts val="0"/>
              </a:spcBef>
              <a:spcAft>
                <a:spcPts val="0"/>
              </a:spcAft>
              <a:buClr>
                <a:schemeClr val="dk1"/>
              </a:buClr>
              <a:buSzPts val="3000"/>
              <a:buFont typeface="Montserrat Medium"/>
              <a:buChar char="-"/>
            </a:pPr>
            <a:r>
              <a:rPr lang="en-US" sz="3000">
                <a:solidFill>
                  <a:schemeClr val="dk1"/>
                </a:solidFill>
                <a:latin typeface="Montserrat Medium"/>
                <a:ea typeface="Montserrat Medium"/>
                <a:cs typeface="Montserrat Medium"/>
                <a:sym typeface="Montserrat Medium"/>
              </a:rPr>
              <a:t>Thiết bị hỗ trợ và phần mềm cho nhà lâm sàng.</a:t>
            </a:r>
            <a:endParaRPr sz="3000">
              <a:solidFill>
                <a:schemeClr val="dk1"/>
              </a:solidFill>
              <a:latin typeface="Montserrat Medium"/>
              <a:ea typeface="Montserrat Medium"/>
              <a:cs typeface="Montserrat Medium"/>
              <a:sym typeface="Montserrat Medium"/>
            </a:endParaRPr>
          </a:p>
          <a:p>
            <a:pPr indent="-419100" lvl="0" marL="457200" rtl="0" algn="l">
              <a:lnSpc>
                <a:spcPct val="150000"/>
              </a:lnSpc>
              <a:spcBef>
                <a:spcPts val="0"/>
              </a:spcBef>
              <a:spcAft>
                <a:spcPts val="0"/>
              </a:spcAft>
              <a:buClr>
                <a:schemeClr val="dk1"/>
              </a:buClr>
              <a:buSzPts val="3000"/>
              <a:buFont typeface="Montserrat Medium"/>
              <a:buChar char="-"/>
            </a:pPr>
            <a:r>
              <a:rPr lang="en-US" sz="3000">
                <a:solidFill>
                  <a:schemeClr val="dk1"/>
                </a:solidFill>
                <a:latin typeface="Montserrat Medium"/>
                <a:ea typeface="Montserrat Medium"/>
                <a:cs typeface="Montserrat Medium"/>
                <a:sym typeface="Montserrat Medium"/>
              </a:rPr>
              <a:t>Ứng dụng di động cho người nhà của trẻ.</a:t>
            </a:r>
            <a:endParaRPr sz="3000">
              <a:solidFill>
                <a:schemeClr val="dk1"/>
              </a:solidFill>
              <a:latin typeface="Montserrat Medium"/>
              <a:ea typeface="Montserrat Medium"/>
              <a:cs typeface="Montserrat Medium"/>
              <a:sym typeface="Montserrat Medium"/>
            </a:endParaRPr>
          </a:p>
          <a:p>
            <a:pPr indent="-419100" lvl="0" marL="457200" rtl="0" algn="l">
              <a:lnSpc>
                <a:spcPct val="150000"/>
              </a:lnSpc>
              <a:spcBef>
                <a:spcPts val="0"/>
              </a:spcBef>
              <a:spcAft>
                <a:spcPts val="0"/>
              </a:spcAft>
              <a:buClr>
                <a:schemeClr val="dk1"/>
              </a:buClr>
              <a:buSzPts val="3000"/>
              <a:buFont typeface="Montserrat Medium"/>
              <a:buChar char="-"/>
            </a:pPr>
            <a:r>
              <a:rPr lang="en-US" sz="3000">
                <a:solidFill>
                  <a:schemeClr val="dk1"/>
                </a:solidFill>
                <a:latin typeface="Montserrat Medium"/>
                <a:ea typeface="Montserrat Medium"/>
                <a:cs typeface="Montserrat Medium"/>
                <a:sym typeface="Montserrat Medium"/>
              </a:rPr>
              <a:t>Hệ thống quản lý trị liệu số hóa.</a:t>
            </a:r>
            <a:endParaRPr sz="30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761bd615af_0_0"/>
          <p:cNvSpPr txBox="1"/>
          <p:nvPr/>
        </p:nvSpPr>
        <p:spPr>
          <a:xfrm>
            <a:off x="955425" y="9599075"/>
            <a:ext cx="16236000" cy="4617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i="1" lang="en-US" sz="3000">
                <a:solidFill>
                  <a:schemeClr val="accent1"/>
                </a:solidFill>
                <a:latin typeface="Montserrat Medium"/>
                <a:ea typeface="Montserrat Medium"/>
                <a:cs typeface="Montserrat Medium"/>
                <a:sym typeface="Montserrat Medium"/>
              </a:rPr>
              <a:t>Mô hình trị liệu được đề xuất.</a:t>
            </a:r>
            <a:endParaRPr i="1" sz="3000">
              <a:latin typeface="Montserrat Medium"/>
              <a:ea typeface="Montserrat Medium"/>
              <a:cs typeface="Montserrat Medium"/>
              <a:sym typeface="Montserrat Medium"/>
            </a:endParaRPr>
          </a:p>
        </p:txBody>
      </p:sp>
      <p:sp>
        <p:nvSpPr>
          <p:cNvPr id="124" name="Google Shape;124;g3761bd615af_0_0"/>
          <p:cNvSpPr txBox="1"/>
          <p:nvPr/>
        </p:nvSpPr>
        <p:spPr>
          <a:xfrm>
            <a:off x="1026000" y="490900"/>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125" name="Google Shape;125;g3761bd615af_0_0"/>
          <p:cNvSpPr/>
          <p:nvPr/>
        </p:nvSpPr>
        <p:spPr>
          <a:xfrm rot="-1624665">
            <a:off x="13427867" y="-5213049"/>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g3761bd615af_0_0"/>
          <p:cNvSpPr/>
          <p:nvPr/>
        </p:nvSpPr>
        <p:spPr>
          <a:xfrm rot="9479154">
            <a:off x="-1070959" y="6871286"/>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7" name="Google Shape;127;g3761bd615af_0_0" title="Screenshot 2025-08-11 204828.png"/>
          <p:cNvPicPr preferRelativeResize="0"/>
          <p:nvPr/>
        </p:nvPicPr>
        <p:blipFill>
          <a:blip r:embed="rId4">
            <a:alphaModFix/>
          </a:blip>
          <a:stretch>
            <a:fillRect/>
          </a:stretch>
        </p:blipFill>
        <p:spPr>
          <a:xfrm>
            <a:off x="3877745" y="1391919"/>
            <a:ext cx="10532525" cy="78667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761bd615af_0_40"/>
          <p:cNvSpPr txBox="1"/>
          <p:nvPr/>
        </p:nvSpPr>
        <p:spPr>
          <a:xfrm>
            <a:off x="1026000" y="1468775"/>
            <a:ext cx="14460300" cy="18471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1" lang="en-US" sz="3000">
                <a:solidFill>
                  <a:schemeClr val="accent1"/>
                </a:solidFill>
                <a:latin typeface="Montserrat"/>
                <a:ea typeface="Montserrat"/>
                <a:cs typeface="Montserrat"/>
                <a:sym typeface="Montserrat"/>
              </a:rPr>
              <a:t>Tình huống:</a:t>
            </a:r>
            <a:r>
              <a:rPr lang="en-US" sz="3000">
                <a:solidFill>
                  <a:schemeClr val="accent1"/>
                </a:solidFill>
                <a:latin typeface="Montserrat Medium"/>
                <a:ea typeface="Montserrat Medium"/>
                <a:cs typeface="Montserrat Medium"/>
                <a:sym typeface="Montserrat Medium"/>
              </a:rPr>
              <a:t> Bé Minh, </a:t>
            </a:r>
            <a:r>
              <a:rPr b="1" lang="en-US" sz="3000">
                <a:solidFill>
                  <a:schemeClr val="accent1"/>
                </a:solidFill>
                <a:latin typeface="Montserrat"/>
                <a:ea typeface="Montserrat"/>
                <a:cs typeface="Montserrat"/>
                <a:sym typeface="Montserrat"/>
              </a:rPr>
              <a:t>6 tuổi</a:t>
            </a:r>
            <a:r>
              <a:rPr lang="en-US" sz="3000">
                <a:solidFill>
                  <a:schemeClr val="accent1"/>
                </a:solidFill>
                <a:latin typeface="Montserrat Medium"/>
                <a:ea typeface="Montserrat Medium"/>
                <a:cs typeface="Montserrat Medium"/>
                <a:sym typeface="Montserrat Medium"/>
              </a:rPr>
              <a:t>, </a:t>
            </a:r>
            <a:r>
              <a:rPr b="1" lang="en-US" sz="3000">
                <a:solidFill>
                  <a:schemeClr val="accent1"/>
                </a:solidFill>
                <a:latin typeface="Montserrat"/>
                <a:ea typeface="Montserrat"/>
                <a:cs typeface="Montserrat"/>
                <a:sym typeface="Montserrat"/>
              </a:rPr>
              <a:t>rối loạn phát âm (SSD)</a:t>
            </a:r>
            <a:endParaRPr b="1" sz="3000">
              <a:solidFill>
                <a:schemeClr val="accent1"/>
              </a:solidFill>
              <a:latin typeface="Montserrat"/>
              <a:ea typeface="Montserrat"/>
              <a:cs typeface="Montserrat"/>
              <a:sym typeface="Montserrat"/>
            </a:endParaRPr>
          </a:p>
          <a:p>
            <a:pPr indent="0" lvl="0" marL="0" marR="0" rtl="0" algn="just">
              <a:lnSpc>
                <a:spcPct val="150000"/>
              </a:lnSpc>
              <a:spcBef>
                <a:spcPts val="0"/>
              </a:spcBef>
              <a:spcAft>
                <a:spcPts val="0"/>
              </a:spcAft>
              <a:buNone/>
            </a:pPr>
            <a:r>
              <a:rPr lang="en-US" sz="3000">
                <a:solidFill>
                  <a:schemeClr val="accent1"/>
                </a:solidFill>
                <a:latin typeface="Montserrat Medium"/>
                <a:ea typeface="Montserrat Medium"/>
                <a:cs typeface="Montserrat Medium"/>
                <a:sym typeface="Montserrat Medium"/>
              </a:rPr>
              <a:t>Gia đình ở vùng xa (</a:t>
            </a:r>
            <a:r>
              <a:rPr b="1" lang="en-US" sz="3000">
                <a:solidFill>
                  <a:schemeClr val="accent1"/>
                </a:solidFill>
                <a:latin typeface="Montserrat"/>
                <a:ea typeface="Montserrat"/>
                <a:cs typeface="Montserrat"/>
                <a:sym typeface="Montserrat"/>
              </a:rPr>
              <a:t>cách TP.HCM 300 km</a:t>
            </a:r>
            <a:r>
              <a:rPr lang="en-US" sz="3000">
                <a:solidFill>
                  <a:schemeClr val="accent1"/>
                </a:solidFill>
                <a:latin typeface="Montserrat Medium"/>
                <a:ea typeface="Montserrat Medium"/>
                <a:cs typeface="Montserrat Medium"/>
                <a:sym typeface="Montserrat Medium"/>
              </a:rPr>
              <a:t>), lần đầu đưa bé đến bệnh viện nhi 2 khám.</a:t>
            </a:r>
            <a:endParaRPr sz="3000">
              <a:solidFill>
                <a:schemeClr val="accent1"/>
              </a:solidFill>
              <a:latin typeface="Montserrat Medium"/>
              <a:ea typeface="Montserrat Medium"/>
              <a:cs typeface="Montserrat Medium"/>
              <a:sym typeface="Montserrat Medium"/>
            </a:endParaRPr>
          </a:p>
        </p:txBody>
      </p:sp>
      <p:sp>
        <p:nvSpPr>
          <p:cNvPr id="133" name="Google Shape;133;g3761bd615af_0_40"/>
          <p:cNvSpPr txBox="1"/>
          <p:nvPr/>
        </p:nvSpPr>
        <p:spPr>
          <a:xfrm>
            <a:off x="1026000" y="529800"/>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134" name="Google Shape;134;g3761bd615af_0_40"/>
          <p:cNvSpPr/>
          <p:nvPr/>
        </p:nvSpPr>
        <p:spPr>
          <a:xfrm rot="-1624665">
            <a:off x="13605892" y="-477122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g3761bd615af_0_40"/>
          <p:cNvSpPr/>
          <p:nvPr/>
        </p:nvSpPr>
        <p:spPr>
          <a:xfrm rot="9479154">
            <a:off x="-1200309" y="813351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t/>
            </a:r>
            <a:endParaRPr sz="3000">
              <a:solidFill>
                <a:schemeClr val="dk1"/>
              </a:solidFill>
              <a:latin typeface="Montserrat Medium"/>
              <a:ea typeface="Montserrat Medium"/>
              <a:cs typeface="Montserrat Medium"/>
              <a:sym typeface="Montserrat Medium"/>
            </a:endParaRPr>
          </a:p>
        </p:txBody>
      </p:sp>
      <p:sp>
        <p:nvSpPr>
          <p:cNvPr id="136" name="Google Shape;136;g3761bd615af_0_40"/>
          <p:cNvSpPr txBox="1"/>
          <p:nvPr/>
        </p:nvSpPr>
        <p:spPr>
          <a:xfrm>
            <a:off x="936100" y="3580950"/>
            <a:ext cx="15899100" cy="4987200"/>
          </a:xfrm>
          <a:prstGeom prst="rect">
            <a:avLst/>
          </a:prstGeom>
          <a:noFill/>
          <a:ln>
            <a:noFill/>
          </a:ln>
        </p:spPr>
        <p:txBody>
          <a:bodyPr anchorCtr="0" anchor="t" bIns="91425" lIns="91425" spcFirstLastPara="1" rIns="91425" wrap="square" tIns="91425">
            <a:spAutoFit/>
          </a:bodyPr>
          <a:lstStyle/>
          <a:p>
            <a:pPr indent="-381000" lvl="0" marL="457200" rtl="0" algn="just">
              <a:lnSpc>
                <a:spcPct val="150000"/>
              </a:lnSpc>
              <a:spcBef>
                <a:spcPts val="0"/>
              </a:spcBef>
              <a:spcAft>
                <a:spcPts val="0"/>
              </a:spcAft>
              <a:buSzPts val="2400"/>
              <a:buFont typeface="Montserrat"/>
              <a:buAutoNum type="arabicPeriod"/>
            </a:pPr>
            <a:r>
              <a:rPr b="1" lang="en-US" sz="2400">
                <a:latin typeface="Montserrat"/>
                <a:ea typeface="Montserrat"/>
                <a:cs typeface="Montserrat"/>
                <a:sym typeface="Montserrat"/>
              </a:rPr>
              <a:t>Khám lần đầu &amp; cá nhân hoá mô hình</a:t>
            </a:r>
            <a:endParaRPr b="1" sz="2400">
              <a:latin typeface="Montserrat"/>
              <a:ea typeface="Montserrat"/>
              <a:cs typeface="Montserrat"/>
              <a:sym typeface="Montserrat"/>
            </a:endParaRPr>
          </a:p>
          <a:p>
            <a:pPr indent="0" lvl="0" marL="0" rtl="0" algn="just">
              <a:lnSpc>
                <a:spcPct val="150000"/>
              </a:lnSpc>
              <a:spcBef>
                <a:spcPts val="0"/>
              </a:spcBef>
              <a:spcAft>
                <a:spcPts val="0"/>
              </a:spcAft>
              <a:buNone/>
            </a:pPr>
            <a:r>
              <a:rPr lang="en-US" sz="2400">
                <a:latin typeface="Montserrat"/>
                <a:ea typeface="Montserrat"/>
                <a:cs typeface="Montserrat"/>
                <a:sym typeface="Montserrat"/>
              </a:rPr>
              <a:t>Khám tại BV: Bé được đọc danh sách từ/câu qua thiết bị.</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rPr lang="en-US" sz="2400">
                <a:latin typeface="Montserrat"/>
                <a:ea typeface="Montserrat"/>
                <a:cs typeface="Montserrat"/>
                <a:sym typeface="Montserrat"/>
              </a:rPr>
              <a:t>MLLM nền (đã pretrain từ 150+150 trẻ) phân tích:</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Phát âm sai âm /l/ và /n/, đặc biệt khi ở đầu từ.</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Khả năng hiểu từ vựng tốt (điểm 85/100).</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Fine-tuning nhanh (&lt;5 phút) trên AI proxy để cá nhân hoá mô hình cho bé Minh.</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rPr lang="en-US" sz="2400">
                <a:latin typeface="Montserrat"/>
                <a:ea typeface="Montserrat"/>
                <a:cs typeface="Montserrat"/>
                <a:sym typeface="Montserrat"/>
              </a:rPr>
              <a:t>AI Planning (kết hợp IRT) tạo kế hoạch trị liệu:</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3 tháng, mỗi tuần 2-3 buổi online.</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b="1" lang="en-US" sz="2400">
                <a:latin typeface="Montserrat"/>
                <a:ea typeface="Montserrat"/>
                <a:cs typeface="Montserrat"/>
                <a:sym typeface="Montserrat"/>
              </a:rPr>
              <a:t>Bài tập trọng tâm:</a:t>
            </a:r>
            <a:r>
              <a:rPr lang="en-US" sz="2400">
                <a:latin typeface="Montserrat"/>
                <a:ea typeface="Montserrat"/>
                <a:cs typeface="Montserrat"/>
                <a:sym typeface="Montserrat"/>
              </a:rPr>
              <a:t> phân biệt /l/ và /n/, tốc độ nói chậm rãi.</a:t>
            </a:r>
            <a:endParaRPr sz="2400">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761bd615af_0_77"/>
          <p:cNvSpPr txBox="1"/>
          <p:nvPr/>
        </p:nvSpPr>
        <p:spPr>
          <a:xfrm>
            <a:off x="1026000" y="1468775"/>
            <a:ext cx="14460300" cy="18471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1" lang="en-US" sz="3000">
                <a:solidFill>
                  <a:schemeClr val="accent1"/>
                </a:solidFill>
                <a:latin typeface="Montserrat"/>
                <a:ea typeface="Montserrat"/>
                <a:cs typeface="Montserrat"/>
                <a:sym typeface="Montserrat"/>
              </a:rPr>
              <a:t>Tình huống:</a:t>
            </a:r>
            <a:r>
              <a:rPr lang="en-US" sz="3000">
                <a:solidFill>
                  <a:schemeClr val="accent1"/>
                </a:solidFill>
                <a:latin typeface="Montserrat Medium"/>
                <a:ea typeface="Montserrat Medium"/>
                <a:cs typeface="Montserrat Medium"/>
                <a:sym typeface="Montserrat Medium"/>
              </a:rPr>
              <a:t> Bé Minh, </a:t>
            </a:r>
            <a:r>
              <a:rPr b="1" lang="en-US" sz="3000">
                <a:solidFill>
                  <a:schemeClr val="accent1"/>
                </a:solidFill>
                <a:latin typeface="Montserrat"/>
                <a:ea typeface="Montserrat"/>
                <a:cs typeface="Montserrat"/>
                <a:sym typeface="Montserrat"/>
              </a:rPr>
              <a:t>6 tuổi</a:t>
            </a:r>
            <a:r>
              <a:rPr lang="en-US" sz="3000">
                <a:solidFill>
                  <a:schemeClr val="accent1"/>
                </a:solidFill>
                <a:latin typeface="Montserrat Medium"/>
                <a:ea typeface="Montserrat Medium"/>
                <a:cs typeface="Montserrat Medium"/>
                <a:sym typeface="Montserrat Medium"/>
              </a:rPr>
              <a:t>, </a:t>
            </a:r>
            <a:r>
              <a:rPr b="1" lang="en-US" sz="3000">
                <a:solidFill>
                  <a:schemeClr val="accent1"/>
                </a:solidFill>
                <a:latin typeface="Montserrat"/>
                <a:ea typeface="Montserrat"/>
                <a:cs typeface="Montserrat"/>
                <a:sym typeface="Montserrat"/>
              </a:rPr>
              <a:t>rối loạn phát âm (SSD)</a:t>
            </a:r>
            <a:endParaRPr b="1" sz="3000">
              <a:solidFill>
                <a:schemeClr val="accent1"/>
              </a:solidFill>
              <a:latin typeface="Montserrat"/>
              <a:ea typeface="Montserrat"/>
              <a:cs typeface="Montserrat"/>
              <a:sym typeface="Montserrat"/>
            </a:endParaRPr>
          </a:p>
          <a:p>
            <a:pPr indent="0" lvl="0" marL="0" marR="0" rtl="0" algn="just">
              <a:lnSpc>
                <a:spcPct val="150000"/>
              </a:lnSpc>
              <a:spcBef>
                <a:spcPts val="0"/>
              </a:spcBef>
              <a:spcAft>
                <a:spcPts val="0"/>
              </a:spcAft>
              <a:buNone/>
            </a:pPr>
            <a:r>
              <a:rPr lang="en-US" sz="3000">
                <a:solidFill>
                  <a:schemeClr val="accent1"/>
                </a:solidFill>
                <a:latin typeface="Montserrat Medium"/>
                <a:ea typeface="Montserrat Medium"/>
                <a:cs typeface="Montserrat Medium"/>
                <a:sym typeface="Montserrat Medium"/>
              </a:rPr>
              <a:t>Gia đình ở vùng xa (</a:t>
            </a:r>
            <a:r>
              <a:rPr b="1" lang="en-US" sz="3000">
                <a:solidFill>
                  <a:schemeClr val="accent1"/>
                </a:solidFill>
                <a:latin typeface="Montserrat"/>
                <a:ea typeface="Montserrat"/>
                <a:cs typeface="Montserrat"/>
                <a:sym typeface="Montserrat"/>
              </a:rPr>
              <a:t>cách TP.HCM 300 km</a:t>
            </a:r>
            <a:r>
              <a:rPr lang="en-US" sz="3000">
                <a:solidFill>
                  <a:schemeClr val="accent1"/>
                </a:solidFill>
                <a:latin typeface="Montserrat Medium"/>
                <a:ea typeface="Montserrat Medium"/>
                <a:cs typeface="Montserrat Medium"/>
                <a:sym typeface="Montserrat Medium"/>
              </a:rPr>
              <a:t>), lần đầu đưa bé đến bệnh viện nhi 2 khám.</a:t>
            </a:r>
            <a:endParaRPr sz="3000">
              <a:solidFill>
                <a:schemeClr val="accent1"/>
              </a:solidFill>
              <a:latin typeface="Montserrat Medium"/>
              <a:ea typeface="Montserrat Medium"/>
              <a:cs typeface="Montserrat Medium"/>
              <a:sym typeface="Montserrat Medium"/>
            </a:endParaRPr>
          </a:p>
        </p:txBody>
      </p:sp>
      <p:sp>
        <p:nvSpPr>
          <p:cNvPr id="142" name="Google Shape;142;g3761bd615af_0_77"/>
          <p:cNvSpPr txBox="1"/>
          <p:nvPr/>
        </p:nvSpPr>
        <p:spPr>
          <a:xfrm>
            <a:off x="1026000" y="529800"/>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143" name="Google Shape;143;g3761bd615af_0_77"/>
          <p:cNvSpPr/>
          <p:nvPr/>
        </p:nvSpPr>
        <p:spPr>
          <a:xfrm rot="-1624665">
            <a:off x="13605892" y="-477122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g3761bd615af_0_77"/>
          <p:cNvSpPr/>
          <p:nvPr/>
        </p:nvSpPr>
        <p:spPr>
          <a:xfrm rot="9479154">
            <a:off x="-1200309" y="813351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t/>
            </a:r>
            <a:endParaRPr sz="3000">
              <a:solidFill>
                <a:schemeClr val="dk1"/>
              </a:solidFill>
              <a:latin typeface="Montserrat Medium"/>
              <a:ea typeface="Montserrat Medium"/>
              <a:cs typeface="Montserrat Medium"/>
              <a:sym typeface="Montserrat Medium"/>
            </a:endParaRPr>
          </a:p>
        </p:txBody>
      </p:sp>
      <p:sp>
        <p:nvSpPr>
          <p:cNvPr id="145" name="Google Shape;145;g3761bd615af_0_77"/>
          <p:cNvSpPr txBox="1"/>
          <p:nvPr/>
        </p:nvSpPr>
        <p:spPr>
          <a:xfrm>
            <a:off x="936100" y="3580950"/>
            <a:ext cx="15899100" cy="33246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400">
                <a:latin typeface="Montserrat"/>
                <a:ea typeface="Montserrat"/>
                <a:cs typeface="Montserrat"/>
                <a:sym typeface="Montserrat"/>
              </a:rPr>
              <a:t>2. Giai đoạn luyện tập tại nhà (tháng 1–3)</a:t>
            </a:r>
            <a:endParaRPr b="1" sz="2400">
              <a:latin typeface="Montserrat"/>
              <a:ea typeface="Montserrat"/>
              <a:cs typeface="Montserrat"/>
              <a:sym typeface="Montserrat"/>
            </a:endParaRPr>
          </a:p>
          <a:p>
            <a:pPr indent="0" lvl="0" marL="0" rtl="0" algn="just">
              <a:lnSpc>
                <a:spcPct val="150000"/>
              </a:lnSpc>
              <a:spcBef>
                <a:spcPts val="0"/>
              </a:spcBef>
              <a:spcAft>
                <a:spcPts val="0"/>
              </a:spcAft>
              <a:buNone/>
            </a:pPr>
            <a:r>
              <a:rPr lang="en-US" sz="2400">
                <a:latin typeface="Montserrat"/>
                <a:ea typeface="Montserrat"/>
                <a:cs typeface="Montserrat"/>
                <a:sym typeface="Montserrat"/>
              </a:rPr>
              <a:t>Mỗi ngày bé mở app luyện:</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Đọc 10–15 từ, câu ngắn.</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AI phân tích lỗi ngay, chấm điểm, lưu dữ liệu.</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rPr lang="en-US" sz="2400">
                <a:latin typeface="Montserrat"/>
                <a:ea typeface="Montserrat"/>
                <a:cs typeface="Montserrat"/>
                <a:sym typeface="Montserrat"/>
              </a:rPr>
              <a:t>App dùng gamification: thưởng sticker, mở trò chơi khi hoàn thành mục tiêu.</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rPr lang="en-US" sz="2400">
                <a:latin typeface="Montserrat"/>
                <a:ea typeface="Montserrat"/>
                <a:cs typeface="Montserrat"/>
                <a:sym typeface="Montserrat"/>
              </a:rPr>
              <a:t>Phụ huynh và chuyên gia theo dõi tiến trình qua dashboard.</a:t>
            </a:r>
            <a:endParaRPr sz="2400">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761bd615af_0_85"/>
          <p:cNvSpPr txBox="1"/>
          <p:nvPr/>
        </p:nvSpPr>
        <p:spPr>
          <a:xfrm>
            <a:off x="1026000" y="1468775"/>
            <a:ext cx="14460300" cy="18471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1" lang="en-US" sz="3000">
                <a:solidFill>
                  <a:schemeClr val="accent1"/>
                </a:solidFill>
                <a:latin typeface="Montserrat"/>
                <a:ea typeface="Montserrat"/>
                <a:cs typeface="Montserrat"/>
                <a:sym typeface="Montserrat"/>
              </a:rPr>
              <a:t>Tình huống:</a:t>
            </a:r>
            <a:r>
              <a:rPr lang="en-US" sz="3000">
                <a:solidFill>
                  <a:schemeClr val="accent1"/>
                </a:solidFill>
                <a:latin typeface="Montserrat Medium"/>
                <a:ea typeface="Montserrat Medium"/>
                <a:cs typeface="Montserrat Medium"/>
                <a:sym typeface="Montserrat Medium"/>
              </a:rPr>
              <a:t> Bé Minh, </a:t>
            </a:r>
            <a:r>
              <a:rPr b="1" lang="en-US" sz="3000">
                <a:solidFill>
                  <a:schemeClr val="accent1"/>
                </a:solidFill>
                <a:latin typeface="Montserrat"/>
                <a:ea typeface="Montserrat"/>
                <a:cs typeface="Montserrat"/>
                <a:sym typeface="Montserrat"/>
              </a:rPr>
              <a:t>6 tuổi</a:t>
            </a:r>
            <a:r>
              <a:rPr lang="en-US" sz="3000">
                <a:solidFill>
                  <a:schemeClr val="accent1"/>
                </a:solidFill>
                <a:latin typeface="Montserrat Medium"/>
                <a:ea typeface="Montserrat Medium"/>
                <a:cs typeface="Montserrat Medium"/>
                <a:sym typeface="Montserrat Medium"/>
              </a:rPr>
              <a:t>, </a:t>
            </a:r>
            <a:r>
              <a:rPr b="1" lang="en-US" sz="3000">
                <a:solidFill>
                  <a:schemeClr val="accent1"/>
                </a:solidFill>
                <a:latin typeface="Montserrat"/>
                <a:ea typeface="Montserrat"/>
                <a:cs typeface="Montserrat"/>
                <a:sym typeface="Montserrat"/>
              </a:rPr>
              <a:t>rối loạn phát âm (SSD)</a:t>
            </a:r>
            <a:endParaRPr b="1" sz="3000">
              <a:solidFill>
                <a:schemeClr val="accent1"/>
              </a:solidFill>
              <a:latin typeface="Montserrat"/>
              <a:ea typeface="Montserrat"/>
              <a:cs typeface="Montserrat"/>
              <a:sym typeface="Montserrat"/>
            </a:endParaRPr>
          </a:p>
          <a:p>
            <a:pPr indent="0" lvl="0" marL="0" marR="0" rtl="0" algn="just">
              <a:lnSpc>
                <a:spcPct val="150000"/>
              </a:lnSpc>
              <a:spcBef>
                <a:spcPts val="0"/>
              </a:spcBef>
              <a:spcAft>
                <a:spcPts val="0"/>
              </a:spcAft>
              <a:buNone/>
            </a:pPr>
            <a:r>
              <a:rPr lang="en-US" sz="3000">
                <a:solidFill>
                  <a:schemeClr val="accent1"/>
                </a:solidFill>
                <a:latin typeface="Montserrat Medium"/>
                <a:ea typeface="Montserrat Medium"/>
                <a:cs typeface="Montserrat Medium"/>
                <a:sym typeface="Montserrat Medium"/>
              </a:rPr>
              <a:t>Gia đình ở vùng xa (</a:t>
            </a:r>
            <a:r>
              <a:rPr b="1" lang="en-US" sz="3000">
                <a:solidFill>
                  <a:schemeClr val="accent1"/>
                </a:solidFill>
                <a:latin typeface="Montserrat"/>
                <a:ea typeface="Montserrat"/>
                <a:cs typeface="Montserrat"/>
                <a:sym typeface="Montserrat"/>
              </a:rPr>
              <a:t>cách TP.HCM 300 km</a:t>
            </a:r>
            <a:r>
              <a:rPr lang="en-US" sz="3000">
                <a:solidFill>
                  <a:schemeClr val="accent1"/>
                </a:solidFill>
                <a:latin typeface="Montserrat Medium"/>
                <a:ea typeface="Montserrat Medium"/>
                <a:cs typeface="Montserrat Medium"/>
                <a:sym typeface="Montserrat Medium"/>
              </a:rPr>
              <a:t>), lần đầu đưa bé đến bệnh viện nhi 2 khám.</a:t>
            </a:r>
            <a:endParaRPr sz="3000">
              <a:solidFill>
                <a:schemeClr val="accent1"/>
              </a:solidFill>
              <a:latin typeface="Montserrat Medium"/>
              <a:ea typeface="Montserrat Medium"/>
              <a:cs typeface="Montserrat Medium"/>
              <a:sym typeface="Montserrat Medium"/>
            </a:endParaRPr>
          </a:p>
        </p:txBody>
      </p:sp>
      <p:sp>
        <p:nvSpPr>
          <p:cNvPr id="151" name="Google Shape;151;g3761bd615af_0_85"/>
          <p:cNvSpPr txBox="1"/>
          <p:nvPr/>
        </p:nvSpPr>
        <p:spPr>
          <a:xfrm>
            <a:off x="1026000" y="529800"/>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152" name="Google Shape;152;g3761bd615af_0_85"/>
          <p:cNvSpPr/>
          <p:nvPr/>
        </p:nvSpPr>
        <p:spPr>
          <a:xfrm rot="-1624665">
            <a:off x="13605892" y="-477122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g3761bd615af_0_85"/>
          <p:cNvSpPr/>
          <p:nvPr/>
        </p:nvSpPr>
        <p:spPr>
          <a:xfrm rot="9479154">
            <a:off x="-1200309" y="813351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t/>
            </a:r>
            <a:endParaRPr sz="3000">
              <a:solidFill>
                <a:schemeClr val="dk1"/>
              </a:solidFill>
              <a:latin typeface="Montserrat Medium"/>
              <a:ea typeface="Montserrat Medium"/>
              <a:cs typeface="Montserrat Medium"/>
              <a:sym typeface="Montserrat Medium"/>
            </a:endParaRPr>
          </a:p>
        </p:txBody>
      </p:sp>
      <p:sp>
        <p:nvSpPr>
          <p:cNvPr id="154" name="Google Shape;154;g3761bd615af_0_85"/>
          <p:cNvSpPr txBox="1"/>
          <p:nvPr/>
        </p:nvSpPr>
        <p:spPr>
          <a:xfrm>
            <a:off x="936100" y="3580950"/>
            <a:ext cx="15899100" cy="1108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400">
                <a:latin typeface="Montserrat"/>
                <a:ea typeface="Montserrat"/>
                <a:cs typeface="Montserrat"/>
                <a:sym typeface="Montserrat"/>
              </a:rPr>
              <a:t>3. Các hướng đi khi tái khám tháng thứ 2</a:t>
            </a:r>
            <a:endParaRPr b="1" sz="2400">
              <a:latin typeface="Montserrat"/>
              <a:ea typeface="Montserrat"/>
              <a:cs typeface="Montserrat"/>
              <a:sym typeface="Montserrat"/>
            </a:endParaRPr>
          </a:p>
          <a:p>
            <a:pPr indent="0" lvl="0" marL="0" rtl="0" algn="just">
              <a:lnSpc>
                <a:spcPct val="150000"/>
              </a:lnSpc>
              <a:spcBef>
                <a:spcPts val="0"/>
              </a:spcBef>
              <a:spcAft>
                <a:spcPts val="0"/>
              </a:spcAft>
              <a:buNone/>
            </a:pPr>
            <a:r>
              <a:rPr b="1" lang="en-US" sz="2400">
                <a:latin typeface="Montserrat"/>
                <a:ea typeface="Montserrat"/>
                <a:cs typeface="Montserrat"/>
                <a:sym typeface="Montserrat"/>
              </a:rPr>
              <a:t>Giả sử bé Minh quay lại BV hoặc khám online, MLLM đánh giá lại → so với kỳ vọng ban đầu.</a:t>
            </a:r>
            <a:endParaRPr b="1" sz="2400">
              <a:latin typeface="Montserrat"/>
              <a:ea typeface="Montserrat"/>
              <a:cs typeface="Montserrat"/>
              <a:sym typeface="Montserrat"/>
            </a:endParaRPr>
          </a:p>
        </p:txBody>
      </p:sp>
      <p:graphicFrame>
        <p:nvGraphicFramePr>
          <p:cNvPr id="155" name="Google Shape;155;g3761bd615af_0_85"/>
          <p:cNvGraphicFramePr/>
          <p:nvPr/>
        </p:nvGraphicFramePr>
        <p:xfrm>
          <a:off x="952500" y="4762500"/>
          <a:ext cx="3000000" cy="3000000"/>
        </p:xfrm>
        <a:graphic>
          <a:graphicData uri="http://schemas.openxmlformats.org/drawingml/2006/table">
            <a:tbl>
              <a:tblPr>
                <a:noFill/>
                <a:tableStyleId>{2574BBB1-0352-4FAC-8113-02A18F34E9BB}</a:tableStyleId>
              </a:tblPr>
              <a:tblGrid>
                <a:gridCol w="8265400"/>
                <a:gridCol w="8265400"/>
              </a:tblGrid>
              <a:tr h="1941150">
                <a:tc>
                  <a:txBody>
                    <a:bodyPr/>
                    <a:lstStyle/>
                    <a:p>
                      <a:pPr indent="0" lvl="0" marL="0" rtl="0" algn="l">
                        <a:spcBef>
                          <a:spcPts val="0"/>
                        </a:spcBef>
                        <a:spcAft>
                          <a:spcPts val="0"/>
                        </a:spcAft>
                        <a:buNone/>
                      </a:pPr>
                      <a:r>
                        <a:rPr b="1" lang="en-US" sz="2100">
                          <a:latin typeface="Montserrat"/>
                          <a:ea typeface="Montserrat"/>
                          <a:cs typeface="Montserrat"/>
                          <a:sym typeface="Montserrat"/>
                        </a:rPr>
                        <a:t>Trường hợp A – Tiến bộ tốt hơn dự kiến</a:t>
                      </a:r>
                      <a:endParaRPr b="1" sz="2100">
                        <a:latin typeface="Montserrat"/>
                        <a:ea typeface="Montserrat"/>
                        <a:cs typeface="Montserrat"/>
                        <a:sym typeface="Montserrat"/>
                      </a:endParaRPr>
                    </a:p>
                    <a:p>
                      <a:pPr indent="0" lvl="0" marL="0" rtl="0" algn="l">
                        <a:spcBef>
                          <a:spcPts val="0"/>
                        </a:spcBef>
                        <a:spcAft>
                          <a:spcPts val="0"/>
                        </a:spcAft>
                        <a:buNone/>
                      </a:pPr>
                      <a:r>
                        <a:rPr lang="en-US" sz="2100">
                          <a:latin typeface="Montserrat"/>
                          <a:ea typeface="Montserrat"/>
                          <a:cs typeface="Montserrat"/>
                          <a:sym typeface="Montserrat"/>
                        </a:rPr>
                        <a:t>Nguyên nhân: Bé chăm luyện, phù hợp tốc độ tăng độ khó.</a:t>
                      </a:r>
                      <a:endParaRPr sz="2100">
                        <a:latin typeface="Montserrat"/>
                        <a:ea typeface="Montserrat"/>
                        <a:cs typeface="Montserrat"/>
                        <a:sym typeface="Montserrat"/>
                      </a:endParaRPr>
                    </a:p>
                    <a:p>
                      <a:pPr indent="0" lvl="0" marL="0" rtl="0" algn="l">
                        <a:spcBef>
                          <a:spcPts val="0"/>
                        </a:spcBef>
                        <a:spcAft>
                          <a:spcPts val="0"/>
                        </a:spcAft>
                        <a:buNone/>
                      </a:pPr>
                      <a:r>
                        <a:rPr b="1" lang="en-US" sz="2100">
                          <a:latin typeface="Montserrat"/>
                          <a:ea typeface="Montserrat"/>
                          <a:cs typeface="Montserrat"/>
                          <a:sym typeface="Montserrat"/>
                        </a:rPr>
                        <a:t>AI Planning:</a:t>
                      </a:r>
                      <a:endParaRPr b="1" sz="2100">
                        <a:latin typeface="Montserrat"/>
                        <a:ea typeface="Montserrat"/>
                        <a:cs typeface="Montserrat"/>
                        <a:sym typeface="Montserrat"/>
                      </a:endParaRPr>
                    </a:p>
                    <a:p>
                      <a:pPr indent="-361950" lvl="0" marL="457200" rtl="0" algn="l">
                        <a:spcBef>
                          <a:spcPts val="0"/>
                        </a:spcBef>
                        <a:spcAft>
                          <a:spcPts val="0"/>
                        </a:spcAft>
                        <a:buSzPts val="2100"/>
                        <a:buFont typeface="Montserrat"/>
                        <a:buChar char="●"/>
                      </a:pPr>
                      <a:r>
                        <a:rPr lang="en-US" sz="2100">
                          <a:latin typeface="Montserrat"/>
                          <a:ea typeface="Montserrat"/>
                          <a:cs typeface="Montserrat"/>
                          <a:sym typeface="Montserrat"/>
                        </a:rPr>
                        <a:t>Nâng độ khó bài tập (từ từ/câu ngắn → đoạn hội thoại).</a:t>
                      </a:r>
                      <a:endParaRPr sz="2100">
                        <a:latin typeface="Montserrat"/>
                        <a:ea typeface="Montserrat"/>
                        <a:cs typeface="Montserrat"/>
                        <a:sym typeface="Montserrat"/>
                      </a:endParaRPr>
                    </a:p>
                    <a:p>
                      <a:pPr indent="-361950" lvl="0" marL="457200" rtl="0" algn="l">
                        <a:spcBef>
                          <a:spcPts val="0"/>
                        </a:spcBef>
                        <a:spcAft>
                          <a:spcPts val="0"/>
                        </a:spcAft>
                        <a:buSzPts val="2100"/>
                        <a:buFont typeface="Montserrat"/>
                        <a:buChar char="●"/>
                      </a:pPr>
                      <a:r>
                        <a:rPr lang="en-US" sz="2100">
                          <a:latin typeface="Montserrat"/>
                          <a:ea typeface="Montserrat"/>
                          <a:cs typeface="Montserrat"/>
                          <a:sym typeface="Montserrat"/>
                        </a:rPr>
                        <a:t>Bổ sung luyện âm khác như /r/ để chuẩn bị giai đoạn tiếp theo.</a:t>
                      </a:r>
                      <a:endParaRPr sz="2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US" sz="2100">
                          <a:latin typeface="Montserrat"/>
                          <a:ea typeface="Montserrat"/>
                          <a:cs typeface="Montserrat"/>
                          <a:sym typeface="Montserrat"/>
                        </a:rPr>
                        <a:t>Trường hợp B – Tiến bộ chậm</a:t>
                      </a:r>
                      <a:endParaRPr b="1" sz="2100">
                        <a:latin typeface="Montserrat"/>
                        <a:ea typeface="Montserrat"/>
                        <a:cs typeface="Montserrat"/>
                        <a:sym typeface="Montserrat"/>
                      </a:endParaRPr>
                    </a:p>
                    <a:p>
                      <a:pPr indent="0" lvl="0" marL="0" rtl="0" algn="l">
                        <a:spcBef>
                          <a:spcPts val="0"/>
                        </a:spcBef>
                        <a:spcAft>
                          <a:spcPts val="0"/>
                        </a:spcAft>
                        <a:buNone/>
                      </a:pPr>
                      <a:r>
                        <a:rPr lang="en-US" sz="2100">
                          <a:latin typeface="Montserrat"/>
                          <a:ea typeface="Montserrat"/>
                          <a:cs typeface="Montserrat"/>
                          <a:sym typeface="Montserrat"/>
                        </a:rPr>
                        <a:t>Nguyên nhân: Bài tập hơi khó, bé bỏ qua luyện tại nhà.</a:t>
                      </a:r>
                      <a:endParaRPr sz="2100">
                        <a:latin typeface="Montserrat"/>
                        <a:ea typeface="Montserrat"/>
                        <a:cs typeface="Montserrat"/>
                        <a:sym typeface="Montserrat"/>
                      </a:endParaRPr>
                    </a:p>
                    <a:p>
                      <a:pPr indent="0" lvl="0" marL="0" rtl="0" algn="l">
                        <a:spcBef>
                          <a:spcPts val="0"/>
                        </a:spcBef>
                        <a:spcAft>
                          <a:spcPts val="0"/>
                        </a:spcAft>
                        <a:buNone/>
                      </a:pPr>
                      <a:r>
                        <a:rPr b="1" lang="en-US" sz="2100">
                          <a:latin typeface="Montserrat"/>
                          <a:ea typeface="Montserrat"/>
                          <a:cs typeface="Montserrat"/>
                          <a:sym typeface="Montserrat"/>
                        </a:rPr>
                        <a:t>AI Planning:</a:t>
                      </a:r>
                      <a:endParaRPr b="1" sz="2100">
                        <a:latin typeface="Montserrat"/>
                        <a:ea typeface="Montserrat"/>
                        <a:cs typeface="Montserrat"/>
                        <a:sym typeface="Montserrat"/>
                      </a:endParaRPr>
                    </a:p>
                    <a:p>
                      <a:pPr indent="-361950" lvl="0" marL="457200" rtl="0" algn="l">
                        <a:spcBef>
                          <a:spcPts val="0"/>
                        </a:spcBef>
                        <a:spcAft>
                          <a:spcPts val="0"/>
                        </a:spcAft>
                        <a:buSzPts val="2100"/>
                        <a:buFont typeface="Montserrat"/>
                        <a:buChar char="●"/>
                      </a:pPr>
                      <a:r>
                        <a:rPr lang="en-US" sz="2100">
                          <a:latin typeface="Montserrat"/>
                          <a:ea typeface="Montserrat"/>
                          <a:cs typeface="Montserrat"/>
                          <a:sym typeface="Montserrat"/>
                        </a:rPr>
                        <a:t>Giảm độ khó, tăng lặp lại âm/vần sai.</a:t>
                      </a:r>
                      <a:endParaRPr sz="2100">
                        <a:latin typeface="Montserrat"/>
                        <a:ea typeface="Montserrat"/>
                        <a:cs typeface="Montserrat"/>
                        <a:sym typeface="Montserrat"/>
                      </a:endParaRPr>
                    </a:p>
                    <a:p>
                      <a:pPr indent="-361950" lvl="0" marL="457200" rtl="0" algn="l">
                        <a:spcBef>
                          <a:spcPts val="0"/>
                        </a:spcBef>
                        <a:spcAft>
                          <a:spcPts val="0"/>
                        </a:spcAft>
                        <a:buSzPts val="2100"/>
                        <a:buFont typeface="Montserrat"/>
                        <a:buChar char="●"/>
                      </a:pPr>
                      <a:r>
                        <a:rPr lang="en-US" sz="2100">
                          <a:latin typeface="Montserrat"/>
                          <a:ea typeface="Montserrat"/>
                          <a:cs typeface="Montserrat"/>
                          <a:sym typeface="Montserrat"/>
                        </a:rPr>
                        <a:t>Thêm trò chơi luyện nghe–nói dễ hơn để khuyến khích.</a:t>
                      </a:r>
                      <a:endParaRPr sz="2100">
                        <a:latin typeface="Montserrat"/>
                        <a:ea typeface="Montserrat"/>
                        <a:cs typeface="Montserrat"/>
                        <a:sym typeface="Montserrat"/>
                      </a:endParaRPr>
                    </a:p>
                    <a:p>
                      <a:pPr indent="0" lvl="0" marL="0" rtl="0" algn="l">
                        <a:spcBef>
                          <a:spcPts val="0"/>
                        </a:spcBef>
                        <a:spcAft>
                          <a:spcPts val="0"/>
                        </a:spcAft>
                        <a:buNone/>
                      </a:pPr>
                      <a:r>
                        <a:rPr lang="en-US" sz="2100">
                          <a:latin typeface="Montserrat"/>
                          <a:ea typeface="Montserrat"/>
                          <a:cs typeface="Montserrat"/>
                          <a:sym typeface="Montserrat"/>
                        </a:rPr>
                        <a:t>Fine-tuning cá nhân: cập nhật với dữ liệu mới để mô phỏng chính xác giọng hiện tại của bé.</a:t>
                      </a:r>
                      <a:endParaRPr sz="2100">
                        <a:latin typeface="Montserrat"/>
                        <a:ea typeface="Montserrat"/>
                        <a:cs typeface="Montserrat"/>
                        <a:sym typeface="Montserrat"/>
                      </a:endParaRPr>
                    </a:p>
                  </a:txBody>
                  <a:tcPr marT="91425" marB="91425" marR="91425" marL="91425"/>
                </a:tc>
              </a:tr>
              <a:tr h="1941150">
                <a:tc>
                  <a:txBody>
                    <a:bodyPr/>
                    <a:lstStyle/>
                    <a:p>
                      <a:pPr indent="0" lvl="0" marL="0" rtl="0" algn="l">
                        <a:spcBef>
                          <a:spcPts val="0"/>
                        </a:spcBef>
                        <a:spcAft>
                          <a:spcPts val="0"/>
                        </a:spcAft>
                        <a:buNone/>
                      </a:pPr>
                      <a:r>
                        <a:rPr b="1" lang="en-US" sz="2100">
                          <a:latin typeface="Montserrat"/>
                          <a:ea typeface="Montserrat"/>
                          <a:cs typeface="Montserrat"/>
                          <a:sym typeface="Montserrat"/>
                        </a:rPr>
                        <a:t>Trường hợp C – Xuất hiện lỗi mới</a:t>
                      </a:r>
                      <a:endParaRPr b="1" sz="2100">
                        <a:latin typeface="Montserrat"/>
                        <a:ea typeface="Montserrat"/>
                        <a:cs typeface="Montserrat"/>
                        <a:sym typeface="Montserrat"/>
                      </a:endParaRPr>
                    </a:p>
                    <a:p>
                      <a:pPr indent="0" lvl="0" marL="0" rtl="0" algn="l">
                        <a:spcBef>
                          <a:spcPts val="0"/>
                        </a:spcBef>
                        <a:spcAft>
                          <a:spcPts val="0"/>
                        </a:spcAft>
                        <a:buNone/>
                      </a:pPr>
                      <a:r>
                        <a:rPr lang="en-US" sz="2100">
                          <a:latin typeface="Montserrat"/>
                          <a:ea typeface="Montserrat"/>
                          <a:cs typeface="Montserrat"/>
                          <a:sym typeface="Montserrat"/>
                        </a:rPr>
                        <a:t>Nguyên nhân: Bé học xong một âm nhưng phát sinh lỗi với âm khác (ví dụ /s/).</a:t>
                      </a:r>
                      <a:endParaRPr sz="2100">
                        <a:latin typeface="Montserrat"/>
                        <a:ea typeface="Montserrat"/>
                        <a:cs typeface="Montserrat"/>
                        <a:sym typeface="Montserrat"/>
                      </a:endParaRPr>
                    </a:p>
                    <a:p>
                      <a:pPr indent="0" lvl="0" marL="0" rtl="0" algn="l">
                        <a:spcBef>
                          <a:spcPts val="0"/>
                        </a:spcBef>
                        <a:spcAft>
                          <a:spcPts val="0"/>
                        </a:spcAft>
                        <a:buNone/>
                      </a:pPr>
                      <a:r>
                        <a:rPr b="1" lang="en-US" sz="2100">
                          <a:latin typeface="Montserrat"/>
                          <a:ea typeface="Montserrat"/>
                          <a:cs typeface="Montserrat"/>
                          <a:sym typeface="Montserrat"/>
                        </a:rPr>
                        <a:t>AI Planning:</a:t>
                      </a:r>
                      <a:endParaRPr b="1" sz="2100">
                        <a:latin typeface="Montserrat"/>
                        <a:ea typeface="Montserrat"/>
                        <a:cs typeface="Montserrat"/>
                        <a:sym typeface="Montserrat"/>
                      </a:endParaRPr>
                    </a:p>
                    <a:p>
                      <a:pPr indent="-361950" lvl="0" marL="457200" rtl="0" algn="l">
                        <a:spcBef>
                          <a:spcPts val="0"/>
                        </a:spcBef>
                        <a:spcAft>
                          <a:spcPts val="0"/>
                        </a:spcAft>
                        <a:buSzPts val="2100"/>
                        <a:buFont typeface="Montserrat"/>
                        <a:buChar char="●"/>
                      </a:pPr>
                      <a:r>
                        <a:rPr lang="en-US" sz="2100">
                          <a:latin typeface="Montserrat"/>
                          <a:ea typeface="Montserrat"/>
                          <a:cs typeface="Montserrat"/>
                          <a:sym typeface="Montserrat"/>
                        </a:rPr>
                        <a:t>Điều chỉnh mục tiêu, thêm luyện âm mới song song.</a:t>
                      </a:r>
                      <a:endParaRPr sz="2100">
                        <a:latin typeface="Montserrat"/>
                        <a:ea typeface="Montserrat"/>
                        <a:cs typeface="Montserrat"/>
                        <a:sym typeface="Montserrat"/>
                      </a:endParaRPr>
                    </a:p>
                    <a:p>
                      <a:pPr indent="-361950" lvl="0" marL="457200" rtl="0" algn="l">
                        <a:spcBef>
                          <a:spcPts val="0"/>
                        </a:spcBef>
                        <a:spcAft>
                          <a:spcPts val="0"/>
                        </a:spcAft>
                        <a:buSzPts val="2100"/>
                        <a:buFont typeface="Montserrat"/>
                        <a:buChar char="●"/>
                      </a:pPr>
                      <a:r>
                        <a:rPr lang="en-US" sz="2100">
                          <a:latin typeface="Montserrat"/>
                          <a:ea typeface="Montserrat"/>
                          <a:cs typeface="Montserrat"/>
                          <a:sym typeface="Montserrat"/>
                        </a:rPr>
                        <a:t>Dùng dữ liệu mới fine-tune để mô hình nhận diện đúng lỗi này.</a:t>
                      </a:r>
                      <a:endParaRPr sz="21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US" sz="2100">
                          <a:latin typeface="Montserrat"/>
                          <a:ea typeface="Montserrat"/>
                          <a:cs typeface="Montserrat"/>
                          <a:sym typeface="Montserrat"/>
                        </a:rPr>
                        <a:t>Trường hợp D – Không hợp tác luyện tập</a:t>
                      </a:r>
                      <a:endParaRPr b="1" sz="2100">
                        <a:latin typeface="Montserrat"/>
                        <a:ea typeface="Montserrat"/>
                        <a:cs typeface="Montserrat"/>
                        <a:sym typeface="Montserrat"/>
                      </a:endParaRPr>
                    </a:p>
                    <a:p>
                      <a:pPr indent="0" lvl="0" marL="0" rtl="0" algn="l">
                        <a:spcBef>
                          <a:spcPts val="0"/>
                        </a:spcBef>
                        <a:spcAft>
                          <a:spcPts val="0"/>
                        </a:spcAft>
                        <a:buNone/>
                      </a:pPr>
                      <a:r>
                        <a:rPr lang="en-US" sz="2100">
                          <a:latin typeface="Montserrat"/>
                          <a:ea typeface="Montserrat"/>
                          <a:cs typeface="Montserrat"/>
                          <a:sym typeface="Montserrat"/>
                        </a:rPr>
                        <a:t>Nguyên nhân: Bé không hứng thú hoặc điều kiện gia đình không cho phép.</a:t>
                      </a:r>
                      <a:endParaRPr sz="2100">
                        <a:latin typeface="Montserrat"/>
                        <a:ea typeface="Montserrat"/>
                        <a:cs typeface="Montserrat"/>
                        <a:sym typeface="Montserrat"/>
                      </a:endParaRPr>
                    </a:p>
                    <a:p>
                      <a:pPr indent="0" lvl="0" marL="0" rtl="0" algn="l">
                        <a:spcBef>
                          <a:spcPts val="0"/>
                        </a:spcBef>
                        <a:spcAft>
                          <a:spcPts val="0"/>
                        </a:spcAft>
                        <a:buNone/>
                      </a:pPr>
                      <a:r>
                        <a:rPr b="1" lang="en-US" sz="2100">
                          <a:latin typeface="Montserrat"/>
                          <a:ea typeface="Montserrat"/>
                          <a:cs typeface="Montserrat"/>
                          <a:sym typeface="Montserrat"/>
                        </a:rPr>
                        <a:t>AI Planning:</a:t>
                      </a:r>
                      <a:endParaRPr b="1" sz="2100">
                        <a:latin typeface="Montserrat"/>
                        <a:ea typeface="Montserrat"/>
                        <a:cs typeface="Montserrat"/>
                        <a:sym typeface="Montserrat"/>
                      </a:endParaRPr>
                    </a:p>
                    <a:p>
                      <a:pPr indent="-361950" lvl="0" marL="457200" rtl="0" algn="l">
                        <a:spcBef>
                          <a:spcPts val="0"/>
                        </a:spcBef>
                        <a:spcAft>
                          <a:spcPts val="0"/>
                        </a:spcAft>
                        <a:buSzPts val="2100"/>
                        <a:buFont typeface="Montserrat"/>
                        <a:buChar char="●"/>
                      </a:pPr>
                      <a:r>
                        <a:rPr lang="en-US" sz="2100">
                          <a:latin typeface="Montserrat"/>
                          <a:ea typeface="Montserrat"/>
                          <a:cs typeface="Montserrat"/>
                          <a:sym typeface="Montserrat"/>
                        </a:rPr>
                        <a:t>Chuyển sang plan tối thiểu, chỉ tập trung duy trì kỹ năng hiện có.</a:t>
                      </a:r>
                      <a:endParaRPr sz="2100">
                        <a:latin typeface="Montserrat"/>
                        <a:ea typeface="Montserrat"/>
                        <a:cs typeface="Montserrat"/>
                        <a:sym typeface="Montserrat"/>
                      </a:endParaRPr>
                    </a:p>
                    <a:p>
                      <a:pPr indent="-361950" lvl="0" marL="457200" rtl="0" algn="l">
                        <a:spcBef>
                          <a:spcPts val="0"/>
                        </a:spcBef>
                        <a:spcAft>
                          <a:spcPts val="0"/>
                        </a:spcAft>
                        <a:buSzPts val="2100"/>
                        <a:buFont typeface="Montserrat"/>
                        <a:buChar char="●"/>
                      </a:pPr>
                      <a:r>
                        <a:rPr lang="en-US" sz="2100">
                          <a:latin typeface="Montserrat"/>
                          <a:ea typeface="Montserrat"/>
                          <a:cs typeface="Montserrat"/>
                          <a:sym typeface="Montserrat"/>
                        </a:rPr>
                        <a:t>Hẹn buổi tương tác trực tiếp nhiều hơn để tăng động lực.</a:t>
                      </a:r>
                      <a:endParaRPr sz="21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761bd615af_0_97"/>
          <p:cNvSpPr txBox="1"/>
          <p:nvPr/>
        </p:nvSpPr>
        <p:spPr>
          <a:xfrm>
            <a:off x="1026000" y="1468775"/>
            <a:ext cx="144603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1" lang="en-US" sz="3000">
                <a:solidFill>
                  <a:schemeClr val="accent1"/>
                </a:solidFill>
                <a:latin typeface="Montserrat"/>
                <a:ea typeface="Montserrat"/>
                <a:cs typeface="Montserrat"/>
                <a:sym typeface="Montserrat"/>
              </a:rPr>
              <a:t>Lợi ích mang lại</a:t>
            </a:r>
            <a:endParaRPr sz="3000">
              <a:solidFill>
                <a:schemeClr val="accent1"/>
              </a:solidFill>
              <a:latin typeface="Montserrat Medium"/>
              <a:ea typeface="Montserrat Medium"/>
              <a:cs typeface="Montserrat Medium"/>
              <a:sym typeface="Montserrat Medium"/>
            </a:endParaRPr>
          </a:p>
        </p:txBody>
      </p:sp>
      <p:sp>
        <p:nvSpPr>
          <p:cNvPr id="161" name="Google Shape;161;g3761bd615af_0_97"/>
          <p:cNvSpPr txBox="1"/>
          <p:nvPr/>
        </p:nvSpPr>
        <p:spPr>
          <a:xfrm>
            <a:off x="1026000" y="529800"/>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162" name="Google Shape;162;g3761bd615af_0_97"/>
          <p:cNvSpPr/>
          <p:nvPr/>
        </p:nvSpPr>
        <p:spPr>
          <a:xfrm rot="-1624665">
            <a:off x="13605892" y="-477122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g3761bd615af_0_97"/>
          <p:cNvSpPr/>
          <p:nvPr/>
        </p:nvSpPr>
        <p:spPr>
          <a:xfrm rot="9479154">
            <a:off x="-1200309" y="813351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t/>
            </a:r>
            <a:endParaRPr sz="3000">
              <a:solidFill>
                <a:schemeClr val="dk1"/>
              </a:solidFill>
              <a:latin typeface="Montserrat Medium"/>
              <a:ea typeface="Montserrat Medium"/>
              <a:cs typeface="Montserrat Medium"/>
              <a:sym typeface="Montserrat Medium"/>
            </a:endParaRPr>
          </a:p>
        </p:txBody>
      </p:sp>
      <p:sp>
        <p:nvSpPr>
          <p:cNvPr id="164" name="Google Shape;164;g3761bd615af_0_97"/>
          <p:cNvSpPr txBox="1"/>
          <p:nvPr/>
        </p:nvSpPr>
        <p:spPr>
          <a:xfrm>
            <a:off x="1026000" y="2431375"/>
            <a:ext cx="15899100" cy="2216400"/>
          </a:xfrm>
          <a:prstGeom prst="rect">
            <a:avLst/>
          </a:prstGeom>
          <a:noFill/>
          <a:ln>
            <a:noFill/>
          </a:ln>
        </p:spPr>
        <p:txBody>
          <a:bodyPr anchorCtr="0" anchor="t" bIns="91425" lIns="91425" spcFirstLastPara="1" rIns="91425" wrap="square" tIns="91425">
            <a:spAutoFit/>
          </a:bodyPr>
          <a:lstStyle/>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Báo cáo chi tiết </a:t>
            </a:r>
            <a:r>
              <a:rPr b="1" lang="en-US" sz="2400">
                <a:latin typeface="Montserrat"/>
                <a:ea typeface="Montserrat"/>
                <a:cs typeface="Montserrat"/>
                <a:sym typeface="Montserrat"/>
              </a:rPr>
              <a:t>giúp bác sĩ và phụ huynh </a:t>
            </a:r>
            <a:r>
              <a:rPr lang="en-US" sz="2400">
                <a:latin typeface="Montserrat"/>
                <a:ea typeface="Montserrat"/>
                <a:cs typeface="Montserrat"/>
                <a:sym typeface="Montserrat"/>
              </a:rPr>
              <a:t>thấy tiến trình rõ ràng.</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Dữ liệu thu thập đóng góp cho </a:t>
            </a:r>
            <a:r>
              <a:rPr b="1" lang="en-US" sz="2400">
                <a:latin typeface="Montserrat"/>
                <a:ea typeface="Montserrat"/>
                <a:cs typeface="Montserrat"/>
                <a:sym typeface="Montserrat"/>
              </a:rPr>
              <a:t>mô hình nền → cải thiện cho các trẻ sau</a:t>
            </a:r>
            <a:r>
              <a:rPr lang="en-US" sz="2400">
                <a:latin typeface="Montserrat"/>
                <a:ea typeface="Montserrat"/>
                <a:cs typeface="Montserrat"/>
                <a:sym typeface="Montserrat"/>
              </a:rPr>
              <a:t>.</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b="1" lang="en-US" sz="2400">
                <a:latin typeface="Montserrat"/>
                <a:ea typeface="Montserrat"/>
                <a:cs typeface="Montserrat"/>
                <a:sym typeface="Montserrat"/>
              </a:rPr>
              <a:t>Giảm gánh nặng</a:t>
            </a:r>
            <a:r>
              <a:rPr lang="en-US" sz="2400">
                <a:latin typeface="Montserrat"/>
                <a:ea typeface="Montserrat"/>
                <a:cs typeface="Montserrat"/>
                <a:sym typeface="Montserrat"/>
              </a:rPr>
              <a:t> cho </a:t>
            </a:r>
            <a:r>
              <a:rPr b="1" lang="en-US" sz="2400">
                <a:latin typeface="Montserrat"/>
                <a:ea typeface="Montserrat"/>
                <a:cs typeface="Montserrat"/>
                <a:sym typeface="Montserrat"/>
              </a:rPr>
              <a:t>chuyên gia</a:t>
            </a:r>
            <a:r>
              <a:rPr lang="en-US" sz="2400">
                <a:latin typeface="Montserrat"/>
                <a:ea typeface="Montserrat"/>
                <a:cs typeface="Montserrat"/>
                <a:sym typeface="Montserrat"/>
              </a:rPr>
              <a:t>, nhất là ở vùng thiếu nhân lực.</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T</a:t>
            </a:r>
            <a:r>
              <a:rPr b="1" lang="en-US" sz="2400">
                <a:latin typeface="Montserrat"/>
                <a:ea typeface="Montserrat"/>
                <a:cs typeface="Montserrat"/>
                <a:sym typeface="Montserrat"/>
              </a:rPr>
              <a:t>ối ưu cả thời gian</a:t>
            </a:r>
            <a:r>
              <a:rPr lang="en-US" sz="2400">
                <a:latin typeface="Montserrat"/>
                <a:ea typeface="Montserrat"/>
                <a:cs typeface="Montserrat"/>
                <a:sym typeface="Montserrat"/>
              </a:rPr>
              <a:t> và chất lượng trị liệu.</a:t>
            </a:r>
            <a:endParaRPr sz="2400">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761bd615af_0_68"/>
          <p:cNvSpPr txBox="1"/>
          <p:nvPr/>
        </p:nvSpPr>
        <p:spPr>
          <a:xfrm>
            <a:off x="1026000" y="1468775"/>
            <a:ext cx="117009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3000">
                <a:solidFill>
                  <a:schemeClr val="accent1"/>
                </a:solidFill>
                <a:latin typeface="Montserrat Medium"/>
                <a:ea typeface="Montserrat Medium"/>
                <a:cs typeface="Montserrat Medium"/>
                <a:sym typeface="Montserrat Medium"/>
              </a:rPr>
              <a:t>Ba cột mốc AI trong đề tài</a:t>
            </a:r>
            <a:endParaRPr sz="3000">
              <a:latin typeface="Montserrat Medium"/>
              <a:ea typeface="Montserrat Medium"/>
              <a:cs typeface="Montserrat Medium"/>
              <a:sym typeface="Montserrat Medium"/>
            </a:endParaRPr>
          </a:p>
        </p:txBody>
      </p:sp>
      <p:sp>
        <p:nvSpPr>
          <p:cNvPr id="170" name="Google Shape;170;g3761bd615af_0_68"/>
          <p:cNvSpPr txBox="1"/>
          <p:nvPr/>
        </p:nvSpPr>
        <p:spPr>
          <a:xfrm>
            <a:off x="1026000" y="529800"/>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171" name="Google Shape;171;g3761bd615af_0_68"/>
          <p:cNvSpPr/>
          <p:nvPr/>
        </p:nvSpPr>
        <p:spPr>
          <a:xfrm rot="-1624665">
            <a:off x="13605892" y="-477122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g3761bd615af_0_68"/>
          <p:cNvSpPr/>
          <p:nvPr/>
        </p:nvSpPr>
        <p:spPr>
          <a:xfrm rot="9479154">
            <a:off x="-1200309" y="813351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t/>
            </a:r>
            <a:endParaRPr sz="3000">
              <a:solidFill>
                <a:schemeClr val="dk1"/>
              </a:solidFill>
              <a:latin typeface="Montserrat Medium"/>
              <a:ea typeface="Montserrat Medium"/>
              <a:cs typeface="Montserrat Medium"/>
              <a:sym typeface="Montserrat Medium"/>
            </a:endParaRPr>
          </a:p>
        </p:txBody>
      </p:sp>
      <p:sp>
        <p:nvSpPr>
          <p:cNvPr id="173" name="Google Shape;173;g3761bd615af_0_68"/>
          <p:cNvSpPr txBox="1"/>
          <p:nvPr/>
        </p:nvSpPr>
        <p:spPr>
          <a:xfrm>
            <a:off x="952500" y="2201475"/>
            <a:ext cx="15899100" cy="4987200"/>
          </a:xfrm>
          <a:prstGeom prst="rect">
            <a:avLst/>
          </a:prstGeom>
          <a:noFill/>
          <a:ln>
            <a:noFill/>
          </a:ln>
        </p:spPr>
        <p:txBody>
          <a:bodyPr anchorCtr="0" anchor="t" bIns="91425" lIns="91425" spcFirstLastPara="1" rIns="91425" wrap="square" tIns="91425">
            <a:spAutoFit/>
          </a:bodyPr>
          <a:lstStyle/>
          <a:p>
            <a:pPr indent="-381000" lvl="0" marL="457200" rtl="0" algn="just">
              <a:lnSpc>
                <a:spcPct val="150000"/>
              </a:lnSpc>
              <a:spcBef>
                <a:spcPts val="0"/>
              </a:spcBef>
              <a:spcAft>
                <a:spcPts val="0"/>
              </a:spcAft>
              <a:buSzPts val="2400"/>
              <a:buFont typeface="Montserrat"/>
              <a:buAutoNum type="arabicPeriod"/>
            </a:pPr>
            <a:r>
              <a:rPr b="1" lang="en-US" sz="2400">
                <a:latin typeface="Montserrat"/>
                <a:ea typeface="Montserrat"/>
                <a:cs typeface="Montserrat"/>
                <a:sym typeface="Montserrat"/>
              </a:rPr>
              <a:t>Xây dựng MLLM nền (Multimodal Large Language Model)</a:t>
            </a:r>
            <a:endParaRPr b="1" sz="2400">
              <a:latin typeface="Montserrat"/>
              <a:ea typeface="Montserrat"/>
              <a:cs typeface="Montserrat"/>
              <a:sym typeface="Montserrat"/>
            </a:endParaRPr>
          </a:p>
          <a:p>
            <a:pPr indent="0" lvl="0" marL="0" rtl="0" algn="just">
              <a:lnSpc>
                <a:spcPct val="150000"/>
              </a:lnSpc>
              <a:spcBef>
                <a:spcPts val="0"/>
              </a:spcBef>
              <a:spcAft>
                <a:spcPts val="0"/>
              </a:spcAft>
              <a:buNone/>
            </a:pPr>
            <a:r>
              <a:rPr b="1" lang="en-US" sz="2400">
                <a:latin typeface="Montserrat"/>
                <a:ea typeface="Montserrat"/>
                <a:cs typeface="Montserrat"/>
                <a:sym typeface="Montserrat"/>
              </a:rPr>
              <a:t>Mục tiêu:</a:t>
            </a:r>
            <a:r>
              <a:rPr lang="en-US" sz="2400">
                <a:latin typeface="Montserrat"/>
                <a:ea typeface="Montserrat"/>
                <a:cs typeface="Montserrat"/>
                <a:sym typeface="Montserrat"/>
              </a:rPr>
              <a:t> Tạo mô hình AI có thể xử lý đồng thời giọng nói, văn bản, và thông tin phụ trợ để phân tích, đánh giá, và mô phỏng lời nói trẻ.</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rPr b="1" lang="en-US" sz="2400">
                <a:latin typeface="Montserrat"/>
                <a:ea typeface="Montserrat"/>
                <a:cs typeface="Montserrat"/>
                <a:sym typeface="Montserrat"/>
              </a:rPr>
              <a:t>Dữ liệu: </a:t>
            </a:r>
            <a:r>
              <a:rPr lang="en-US" sz="2400">
                <a:latin typeface="Montserrat"/>
                <a:ea typeface="Montserrat"/>
                <a:cs typeface="Montserrat"/>
                <a:sym typeface="Montserrat"/>
              </a:rPr>
              <a:t>thu thập từ 150 trẻ bình thường + 150 trẻ bị rối loạn (có gắn nhãn).</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rPr b="1" lang="en-US" sz="2400">
                <a:latin typeface="Montserrat"/>
                <a:ea typeface="Montserrat"/>
                <a:cs typeface="Montserrat"/>
                <a:sym typeface="Montserrat"/>
              </a:rPr>
              <a:t>Cách thực hiện:</a:t>
            </a:r>
            <a:endParaRPr b="1"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Huấn luyện trên tập dữ liệu đa phương thức (speech + text + metadata).</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Có thể dùng kỹ thuật như LoRA/adapter để giảm chi phí</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rPr b="1" lang="en-US" sz="2400">
                <a:latin typeface="Montserrat"/>
                <a:ea typeface="Montserrat"/>
                <a:cs typeface="Montserrat"/>
                <a:sym typeface="Montserrat"/>
              </a:rPr>
              <a:t>Kết quả: </a:t>
            </a:r>
            <a:r>
              <a:rPr lang="en-US" sz="2400">
                <a:latin typeface="Montserrat"/>
                <a:ea typeface="Montserrat"/>
                <a:cs typeface="Montserrat"/>
                <a:sym typeface="Montserrat"/>
              </a:rPr>
              <a:t>MLLM đã “hiểu” ngôn ngữ trẻ em Việt Nam và đặc điểm lỗi phát âm.</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rPr b="1" lang="en-US" sz="2400">
                <a:latin typeface="Montserrat"/>
                <a:ea typeface="Montserrat"/>
                <a:cs typeface="Montserrat"/>
                <a:sym typeface="Montserrat"/>
              </a:rPr>
              <a:t>Vai trò: </a:t>
            </a:r>
            <a:r>
              <a:rPr lang="en-US" sz="2400">
                <a:latin typeface="Montserrat"/>
                <a:ea typeface="Montserrat"/>
                <a:cs typeface="Montserrat"/>
                <a:sym typeface="Montserrat"/>
              </a:rPr>
              <a:t>Là “bộ não” nền tảng để đánh giá và tạo mô phỏng chính xác.</a:t>
            </a:r>
            <a:endParaRPr sz="2400">
              <a:latin typeface="Montserrat"/>
              <a:ea typeface="Montserrat"/>
              <a:cs typeface="Montserrat"/>
              <a:sym typeface="Montserrat"/>
            </a:endParaRPr>
          </a:p>
        </p:txBody>
      </p:sp>
      <p:pic>
        <p:nvPicPr>
          <p:cNvPr id="174" name="Google Shape;174;g3761bd615af_0_68"/>
          <p:cNvPicPr preferRelativeResize="0"/>
          <p:nvPr/>
        </p:nvPicPr>
        <p:blipFill>
          <a:blip r:embed="rId4">
            <a:alphaModFix/>
          </a:blip>
          <a:stretch>
            <a:fillRect/>
          </a:stretch>
        </p:blipFill>
        <p:spPr>
          <a:xfrm>
            <a:off x="13822103" y="3732400"/>
            <a:ext cx="2895900" cy="5351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761bd615af_0_49"/>
          <p:cNvSpPr txBox="1"/>
          <p:nvPr/>
        </p:nvSpPr>
        <p:spPr>
          <a:xfrm>
            <a:off x="1026000" y="1468775"/>
            <a:ext cx="117009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3000">
                <a:solidFill>
                  <a:schemeClr val="accent1"/>
                </a:solidFill>
                <a:latin typeface="Montserrat Medium"/>
                <a:ea typeface="Montserrat Medium"/>
                <a:cs typeface="Montserrat Medium"/>
                <a:sym typeface="Montserrat Medium"/>
              </a:rPr>
              <a:t>Ba cột mốc AI trong đề tài</a:t>
            </a:r>
            <a:endParaRPr sz="3000">
              <a:latin typeface="Montserrat Medium"/>
              <a:ea typeface="Montserrat Medium"/>
              <a:cs typeface="Montserrat Medium"/>
              <a:sym typeface="Montserrat Medium"/>
            </a:endParaRPr>
          </a:p>
        </p:txBody>
      </p:sp>
      <p:sp>
        <p:nvSpPr>
          <p:cNvPr id="180" name="Google Shape;180;g3761bd615af_0_49"/>
          <p:cNvSpPr txBox="1"/>
          <p:nvPr/>
        </p:nvSpPr>
        <p:spPr>
          <a:xfrm>
            <a:off x="1026000" y="529800"/>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181" name="Google Shape;181;g3761bd615af_0_49"/>
          <p:cNvSpPr/>
          <p:nvPr/>
        </p:nvSpPr>
        <p:spPr>
          <a:xfrm rot="-1624665">
            <a:off x="13605892" y="-477122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g3761bd615af_0_49"/>
          <p:cNvSpPr/>
          <p:nvPr/>
        </p:nvSpPr>
        <p:spPr>
          <a:xfrm rot="9479154">
            <a:off x="-1200309" y="813351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t/>
            </a:r>
            <a:endParaRPr sz="3000">
              <a:solidFill>
                <a:schemeClr val="dk1"/>
              </a:solidFill>
              <a:latin typeface="Montserrat Medium"/>
              <a:ea typeface="Montserrat Medium"/>
              <a:cs typeface="Montserrat Medium"/>
              <a:sym typeface="Montserrat Medium"/>
            </a:endParaRPr>
          </a:p>
        </p:txBody>
      </p:sp>
      <p:sp>
        <p:nvSpPr>
          <p:cNvPr id="183" name="Google Shape;183;g3761bd615af_0_49"/>
          <p:cNvSpPr txBox="1"/>
          <p:nvPr/>
        </p:nvSpPr>
        <p:spPr>
          <a:xfrm>
            <a:off x="952500" y="2201475"/>
            <a:ext cx="15899100" cy="44331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400">
                <a:latin typeface="Montserrat"/>
                <a:ea typeface="Montserrat"/>
                <a:cs typeface="Montserrat"/>
                <a:sym typeface="Montserrat"/>
              </a:rPr>
              <a:t>2. AI Planning – Cá nhân hóa kế hoạch trị liệu</a:t>
            </a:r>
            <a:endParaRPr b="1" sz="2400">
              <a:latin typeface="Montserrat"/>
              <a:ea typeface="Montserrat"/>
              <a:cs typeface="Montserrat"/>
              <a:sym typeface="Montserrat"/>
            </a:endParaRPr>
          </a:p>
          <a:p>
            <a:pPr indent="0" lvl="0" marL="0" rtl="0" algn="just">
              <a:lnSpc>
                <a:spcPct val="150000"/>
              </a:lnSpc>
              <a:spcBef>
                <a:spcPts val="0"/>
              </a:spcBef>
              <a:spcAft>
                <a:spcPts val="0"/>
              </a:spcAft>
              <a:buNone/>
            </a:pPr>
            <a:r>
              <a:rPr b="1" lang="en-US" sz="2400">
                <a:latin typeface="Montserrat"/>
                <a:ea typeface="Montserrat"/>
                <a:cs typeface="Montserrat"/>
                <a:sym typeface="Montserrat"/>
              </a:rPr>
              <a:t>Mục tiêu: </a:t>
            </a:r>
            <a:r>
              <a:rPr lang="en-US" sz="2400">
                <a:latin typeface="Montserrat"/>
                <a:ea typeface="Montserrat"/>
                <a:cs typeface="Montserrat"/>
                <a:sym typeface="Montserrat"/>
              </a:rPr>
              <a:t>Tự động xây dựng kế hoạch trị liệu tối ưu cho từng trẻ.</a:t>
            </a:r>
            <a:endParaRPr b="1" sz="2400">
              <a:latin typeface="Montserrat"/>
              <a:ea typeface="Montserrat"/>
              <a:cs typeface="Montserrat"/>
              <a:sym typeface="Montserrat"/>
            </a:endParaRPr>
          </a:p>
          <a:p>
            <a:pPr indent="0" lvl="0" marL="0" rtl="0" algn="just">
              <a:lnSpc>
                <a:spcPct val="150000"/>
              </a:lnSpc>
              <a:spcBef>
                <a:spcPts val="0"/>
              </a:spcBef>
              <a:spcAft>
                <a:spcPts val="0"/>
              </a:spcAft>
              <a:buNone/>
            </a:pPr>
            <a:r>
              <a:rPr b="1" lang="en-US" sz="2400">
                <a:latin typeface="Montserrat"/>
                <a:ea typeface="Montserrat"/>
                <a:cs typeface="Montserrat"/>
                <a:sym typeface="Montserrat"/>
              </a:rPr>
              <a:t>Cách thực hiện:</a:t>
            </a:r>
            <a:endParaRPr b="1"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Dùng dữ liệu đánh giá từ MLLM + lý thuyết Item Response Theory (IRT).</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Áp dụng thuật toán lập kế hoạch dài hạn (non-myopic planning) thay vì chỉ điều chỉnh theo buổi.</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rPr b="1" lang="en-US" sz="2400">
                <a:latin typeface="Montserrat"/>
                <a:ea typeface="Montserrat"/>
                <a:cs typeface="Montserrat"/>
                <a:sym typeface="Montserrat"/>
              </a:rPr>
              <a:t>Vai trò: </a:t>
            </a:r>
            <a:r>
              <a:rPr lang="en-US" sz="2400">
                <a:latin typeface="Montserrat"/>
                <a:ea typeface="Montserrat"/>
                <a:cs typeface="Montserrat"/>
                <a:sym typeface="Montserrat"/>
              </a:rPr>
              <a:t>Tối ưu thời gian trị liệu, định hướng các bước can thiệp phù hợp khả năng của từng trẻ.</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b="1" sz="2400">
              <a:latin typeface="Montserrat"/>
              <a:ea typeface="Montserrat"/>
              <a:cs typeface="Montserrat"/>
              <a:sym typeface="Montserrat"/>
            </a:endParaRPr>
          </a:p>
        </p:txBody>
      </p:sp>
      <p:pic>
        <p:nvPicPr>
          <p:cNvPr id="184" name="Google Shape;184;g3761bd615af_0_49"/>
          <p:cNvPicPr preferRelativeResize="0"/>
          <p:nvPr/>
        </p:nvPicPr>
        <p:blipFill>
          <a:blip r:embed="rId4">
            <a:alphaModFix/>
          </a:blip>
          <a:stretch>
            <a:fillRect/>
          </a:stretch>
        </p:blipFill>
        <p:spPr>
          <a:xfrm>
            <a:off x="7307943" y="6006000"/>
            <a:ext cx="10268325" cy="3461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761bd615af_0_57"/>
          <p:cNvSpPr txBox="1"/>
          <p:nvPr/>
        </p:nvSpPr>
        <p:spPr>
          <a:xfrm>
            <a:off x="1026000" y="1468775"/>
            <a:ext cx="117009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3000">
                <a:solidFill>
                  <a:schemeClr val="accent1"/>
                </a:solidFill>
                <a:latin typeface="Montserrat Medium"/>
                <a:ea typeface="Montserrat Medium"/>
                <a:cs typeface="Montserrat Medium"/>
                <a:sym typeface="Montserrat Medium"/>
              </a:rPr>
              <a:t>Ba cột mốc AI trong đề tài</a:t>
            </a:r>
            <a:endParaRPr sz="3000">
              <a:latin typeface="Montserrat Medium"/>
              <a:ea typeface="Montserrat Medium"/>
              <a:cs typeface="Montserrat Medium"/>
              <a:sym typeface="Montserrat Medium"/>
            </a:endParaRPr>
          </a:p>
        </p:txBody>
      </p:sp>
      <p:sp>
        <p:nvSpPr>
          <p:cNvPr id="190" name="Google Shape;190;g3761bd615af_0_57"/>
          <p:cNvSpPr txBox="1"/>
          <p:nvPr/>
        </p:nvSpPr>
        <p:spPr>
          <a:xfrm>
            <a:off x="1026000" y="529800"/>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191" name="Google Shape;191;g3761bd615af_0_57"/>
          <p:cNvSpPr/>
          <p:nvPr/>
        </p:nvSpPr>
        <p:spPr>
          <a:xfrm rot="-1624665">
            <a:off x="13605892" y="-477122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g3761bd615af_0_57"/>
          <p:cNvSpPr/>
          <p:nvPr/>
        </p:nvSpPr>
        <p:spPr>
          <a:xfrm rot="9479154">
            <a:off x="-1200309" y="813351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t/>
            </a:r>
            <a:endParaRPr sz="3000">
              <a:solidFill>
                <a:schemeClr val="dk1"/>
              </a:solidFill>
              <a:latin typeface="Montserrat Medium"/>
              <a:ea typeface="Montserrat Medium"/>
              <a:cs typeface="Montserrat Medium"/>
              <a:sym typeface="Montserrat Medium"/>
            </a:endParaRPr>
          </a:p>
        </p:txBody>
      </p:sp>
      <p:sp>
        <p:nvSpPr>
          <p:cNvPr id="193" name="Google Shape;193;g3761bd615af_0_57"/>
          <p:cNvSpPr txBox="1"/>
          <p:nvPr/>
        </p:nvSpPr>
        <p:spPr>
          <a:xfrm>
            <a:off x="952500" y="2201475"/>
            <a:ext cx="15899100" cy="44331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400">
                <a:latin typeface="Montserrat"/>
                <a:ea typeface="Montserrat"/>
                <a:cs typeface="Montserrat"/>
                <a:sym typeface="Montserrat"/>
              </a:rPr>
              <a:t>3. Đề xuất bài tập luyện tại nhà</a:t>
            </a:r>
            <a:endParaRPr b="1" sz="2400">
              <a:latin typeface="Montserrat"/>
              <a:ea typeface="Montserrat"/>
              <a:cs typeface="Montserrat"/>
              <a:sym typeface="Montserrat"/>
            </a:endParaRPr>
          </a:p>
          <a:p>
            <a:pPr indent="0" lvl="0" marL="0" rtl="0" algn="just">
              <a:lnSpc>
                <a:spcPct val="150000"/>
              </a:lnSpc>
              <a:spcBef>
                <a:spcPts val="0"/>
              </a:spcBef>
              <a:spcAft>
                <a:spcPts val="0"/>
              </a:spcAft>
              <a:buNone/>
            </a:pPr>
            <a:r>
              <a:rPr b="1" lang="en-US" sz="2400">
                <a:latin typeface="Montserrat"/>
                <a:ea typeface="Montserrat"/>
                <a:cs typeface="Montserrat"/>
                <a:sym typeface="Montserrat"/>
              </a:rPr>
              <a:t>Mục tiêu: </a:t>
            </a:r>
            <a:r>
              <a:rPr lang="en-US" sz="2400">
                <a:latin typeface="Montserrat"/>
                <a:ea typeface="Montserrat"/>
                <a:cs typeface="Montserrat"/>
                <a:sym typeface="Montserrat"/>
              </a:rPr>
              <a:t>Giúp trẻ tiếp tục luyện tập và điều chỉnh tiến trình ở ngoài bệnh viện.</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rPr b="1" lang="en-US" sz="2400">
                <a:latin typeface="Montserrat"/>
                <a:ea typeface="Montserrat"/>
                <a:cs typeface="Montserrat"/>
                <a:sym typeface="Montserrat"/>
              </a:rPr>
              <a:t>Cách thực hiện:</a:t>
            </a:r>
            <a:endParaRPr b="1"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Khi trẻ làm bài tập tại nhà, AI phân tích kết quả ngay lập tức.</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Đề xuất bài tiếp theo theo độ khó phù hợp và loại lỗi phát âm cần cải thiện.</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Tích hợp gamification để duy trì hứng thú.</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rPr b="1" lang="en-US" sz="2400">
                <a:latin typeface="Montserrat"/>
                <a:ea typeface="Montserrat"/>
                <a:cs typeface="Montserrat"/>
                <a:sym typeface="Montserrat"/>
              </a:rPr>
              <a:t>Vai trò: </a:t>
            </a:r>
            <a:r>
              <a:rPr lang="en-US" sz="2400">
                <a:latin typeface="Montserrat"/>
                <a:ea typeface="Montserrat"/>
                <a:cs typeface="Montserrat"/>
                <a:sym typeface="Montserrat"/>
              </a:rPr>
              <a:t>Duy trì tác động trị liệu liên tục, giảm phụ thuộc vào lịch khám trực tiếp, đặc biệt hữu ích ở vùng xa.</a:t>
            </a:r>
            <a:endParaRPr sz="2400">
              <a:latin typeface="Montserrat"/>
              <a:ea typeface="Montserrat"/>
              <a:cs typeface="Montserrat"/>
              <a:sym typeface="Montserrat"/>
            </a:endParaRPr>
          </a:p>
        </p:txBody>
      </p:sp>
      <p:pic>
        <p:nvPicPr>
          <p:cNvPr id="194" name="Google Shape;194;g3761bd615af_0_57"/>
          <p:cNvPicPr preferRelativeResize="0"/>
          <p:nvPr/>
        </p:nvPicPr>
        <p:blipFill>
          <a:blip r:embed="rId4">
            <a:alphaModFix/>
          </a:blip>
          <a:stretch>
            <a:fillRect/>
          </a:stretch>
        </p:blipFill>
        <p:spPr>
          <a:xfrm>
            <a:off x="8090709" y="6425675"/>
            <a:ext cx="9085725" cy="3263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75a3787e2b_0_0"/>
          <p:cNvSpPr txBox="1"/>
          <p:nvPr/>
        </p:nvSpPr>
        <p:spPr>
          <a:xfrm>
            <a:off x="1026000" y="1325975"/>
            <a:ext cx="162360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3000">
                <a:solidFill>
                  <a:schemeClr val="accent1"/>
                </a:solidFill>
                <a:latin typeface="Montserrat Medium"/>
                <a:ea typeface="Montserrat Medium"/>
                <a:cs typeface="Montserrat Medium"/>
                <a:sym typeface="Montserrat Medium"/>
              </a:rPr>
              <a:t>Dự án gồm </a:t>
            </a:r>
            <a:r>
              <a:rPr b="1" lang="en-US" sz="3000">
                <a:solidFill>
                  <a:schemeClr val="accent1"/>
                </a:solidFill>
                <a:latin typeface="Montserrat"/>
                <a:ea typeface="Montserrat"/>
                <a:cs typeface="Montserrat"/>
                <a:sym typeface="Montserrat"/>
              </a:rPr>
              <a:t>4 giai đoạn</a:t>
            </a:r>
            <a:r>
              <a:rPr lang="en-US" sz="3000">
                <a:solidFill>
                  <a:schemeClr val="accent1"/>
                </a:solidFill>
                <a:latin typeface="Montserrat Medium"/>
                <a:ea typeface="Montserrat Medium"/>
                <a:cs typeface="Montserrat Medium"/>
                <a:sym typeface="Montserrat Medium"/>
              </a:rPr>
              <a:t> chính kéo dài 36 tháng:</a:t>
            </a:r>
            <a:endParaRPr sz="3000">
              <a:latin typeface="Montserrat Medium"/>
              <a:ea typeface="Montserrat Medium"/>
              <a:cs typeface="Montserrat Medium"/>
              <a:sym typeface="Montserrat Medium"/>
            </a:endParaRPr>
          </a:p>
        </p:txBody>
      </p:sp>
      <p:sp>
        <p:nvSpPr>
          <p:cNvPr id="200" name="Google Shape;200;g375a3787e2b_0_0"/>
          <p:cNvSpPr txBox="1"/>
          <p:nvPr/>
        </p:nvSpPr>
        <p:spPr>
          <a:xfrm>
            <a:off x="1026000" y="490900"/>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201" name="Google Shape;201;g375a3787e2b_0_0"/>
          <p:cNvSpPr/>
          <p:nvPr/>
        </p:nvSpPr>
        <p:spPr>
          <a:xfrm rot="-1624665">
            <a:off x="13427867" y="-5213049"/>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g375a3787e2b_0_0"/>
          <p:cNvSpPr/>
          <p:nvPr/>
        </p:nvSpPr>
        <p:spPr>
          <a:xfrm rot="9479154">
            <a:off x="-1070959" y="6871286"/>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3" name="Google Shape;203;g375a3787e2b_0_0"/>
          <p:cNvPicPr preferRelativeResize="0"/>
          <p:nvPr/>
        </p:nvPicPr>
        <p:blipFill>
          <a:blip r:embed="rId4">
            <a:alphaModFix/>
          </a:blip>
          <a:stretch>
            <a:fillRect/>
          </a:stretch>
        </p:blipFill>
        <p:spPr>
          <a:xfrm>
            <a:off x="9451459" y="4842853"/>
            <a:ext cx="514350" cy="514350"/>
          </a:xfrm>
          <a:prstGeom prst="rect">
            <a:avLst/>
          </a:prstGeom>
          <a:noFill/>
          <a:ln>
            <a:noFill/>
          </a:ln>
        </p:spPr>
      </p:pic>
      <p:sp>
        <p:nvSpPr>
          <p:cNvPr id="204" name="Google Shape;204;g375a3787e2b_0_0"/>
          <p:cNvSpPr/>
          <p:nvPr/>
        </p:nvSpPr>
        <p:spPr>
          <a:xfrm>
            <a:off x="2781527" y="4915927"/>
            <a:ext cx="456434" cy="456435"/>
          </a:xfrm>
          <a:custGeom>
            <a:rect b="b" l="l" r="r" t="t"/>
            <a:pathLst>
              <a:path extrusionOk="0" h="459" w="459">
                <a:moveTo>
                  <a:pt x="229" y="0"/>
                </a:moveTo>
                <a:lnTo>
                  <a:pt x="229" y="0"/>
                </a:lnTo>
                <a:cubicBezTo>
                  <a:pt x="356" y="0"/>
                  <a:pt x="458" y="103"/>
                  <a:pt x="458" y="229"/>
                </a:cubicBezTo>
                <a:lnTo>
                  <a:pt x="458" y="229"/>
                </a:lnTo>
                <a:cubicBezTo>
                  <a:pt x="458" y="356"/>
                  <a:pt x="356" y="458"/>
                  <a:pt x="229" y="458"/>
                </a:cubicBezTo>
                <a:lnTo>
                  <a:pt x="229" y="458"/>
                </a:lnTo>
                <a:cubicBezTo>
                  <a:pt x="103" y="458"/>
                  <a:pt x="0" y="356"/>
                  <a:pt x="0" y="229"/>
                </a:cubicBezTo>
                <a:lnTo>
                  <a:pt x="0" y="229"/>
                </a:lnTo>
                <a:cubicBezTo>
                  <a:pt x="0" y="103"/>
                  <a:pt x="103" y="0"/>
                  <a:pt x="229" y="0"/>
                </a:cubicBezTo>
              </a:path>
            </a:pathLst>
          </a:custGeom>
          <a:solidFill>
            <a:srgbClr val="5DCED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4898">
              <a:solidFill>
                <a:srgbClr val="737572"/>
              </a:solidFill>
              <a:latin typeface="Lato Light"/>
              <a:ea typeface="Lato Light"/>
              <a:cs typeface="Lato Light"/>
              <a:sym typeface="Lato Light"/>
            </a:endParaRPr>
          </a:p>
        </p:txBody>
      </p:sp>
      <p:sp>
        <p:nvSpPr>
          <p:cNvPr id="205" name="Google Shape;205;g375a3787e2b_0_0"/>
          <p:cNvSpPr/>
          <p:nvPr/>
        </p:nvSpPr>
        <p:spPr>
          <a:xfrm>
            <a:off x="6897107" y="4915927"/>
            <a:ext cx="456434" cy="456435"/>
          </a:xfrm>
          <a:custGeom>
            <a:rect b="b" l="l" r="r" t="t"/>
            <a:pathLst>
              <a:path extrusionOk="0" h="459" w="459">
                <a:moveTo>
                  <a:pt x="229" y="0"/>
                </a:moveTo>
                <a:lnTo>
                  <a:pt x="229" y="0"/>
                </a:lnTo>
                <a:cubicBezTo>
                  <a:pt x="356" y="0"/>
                  <a:pt x="458" y="103"/>
                  <a:pt x="458" y="229"/>
                </a:cubicBezTo>
                <a:lnTo>
                  <a:pt x="458" y="229"/>
                </a:lnTo>
                <a:cubicBezTo>
                  <a:pt x="458" y="356"/>
                  <a:pt x="356" y="458"/>
                  <a:pt x="229" y="458"/>
                </a:cubicBezTo>
                <a:lnTo>
                  <a:pt x="229" y="458"/>
                </a:lnTo>
                <a:cubicBezTo>
                  <a:pt x="103" y="458"/>
                  <a:pt x="0" y="356"/>
                  <a:pt x="0" y="229"/>
                </a:cubicBezTo>
                <a:lnTo>
                  <a:pt x="0" y="229"/>
                </a:lnTo>
                <a:cubicBezTo>
                  <a:pt x="0" y="103"/>
                  <a:pt x="103" y="0"/>
                  <a:pt x="229" y="0"/>
                </a:cubicBezTo>
              </a:path>
            </a:pathLst>
          </a:custGeom>
          <a:solidFill>
            <a:srgbClr val="5ECB9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4898">
              <a:solidFill>
                <a:srgbClr val="737572"/>
              </a:solidFill>
              <a:latin typeface="Lato Light"/>
              <a:ea typeface="Lato Light"/>
              <a:cs typeface="Lato Light"/>
              <a:sym typeface="Lato Light"/>
            </a:endParaRPr>
          </a:p>
        </p:txBody>
      </p:sp>
      <p:sp>
        <p:nvSpPr>
          <p:cNvPr id="206" name="Google Shape;206;g375a3787e2b_0_0"/>
          <p:cNvSpPr/>
          <p:nvPr/>
        </p:nvSpPr>
        <p:spPr>
          <a:xfrm>
            <a:off x="11010092" y="4915927"/>
            <a:ext cx="456434" cy="456435"/>
          </a:xfrm>
          <a:custGeom>
            <a:rect b="b" l="l" r="r" t="t"/>
            <a:pathLst>
              <a:path extrusionOk="0" h="459" w="459">
                <a:moveTo>
                  <a:pt x="229" y="0"/>
                </a:moveTo>
                <a:lnTo>
                  <a:pt x="229" y="0"/>
                </a:lnTo>
                <a:cubicBezTo>
                  <a:pt x="356" y="0"/>
                  <a:pt x="458" y="103"/>
                  <a:pt x="458" y="229"/>
                </a:cubicBezTo>
                <a:lnTo>
                  <a:pt x="458" y="229"/>
                </a:lnTo>
                <a:cubicBezTo>
                  <a:pt x="458" y="356"/>
                  <a:pt x="356" y="458"/>
                  <a:pt x="229" y="458"/>
                </a:cubicBezTo>
                <a:lnTo>
                  <a:pt x="229" y="458"/>
                </a:lnTo>
                <a:cubicBezTo>
                  <a:pt x="103" y="458"/>
                  <a:pt x="0" y="356"/>
                  <a:pt x="0" y="229"/>
                </a:cubicBezTo>
                <a:lnTo>
                  <a:pt x="0" y="229"/>
                </a:lnTo>
                <a:cubicBezTo>
                  <a:pt x="0" y="103"/>
                  <a:pt x="103" y="0"/>
                  <a:pt x="229" y="0"/>
                </a:cubicBezTo>
              </a:path>
            </a:pathLst>
          </a:custGeom>
          <a:solidFill>
            <a:srgbClr val="F0D06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4898">
              <a:solidFill>
                <a:srgbClr val="737572"/>
              </a:solidFill>
              <a:latin typeface="Lato Light"/>
              <a:ea typeface="Lato Light"/>
              <a:cs typeface="Lato Light"/>
              <a:sym typeface="Lato Light"/>
            </a:endParaRPr>
          </a:p>
        </p:txBody>
      </p:sp>
      <p:sp>
        <p:nvSpPr>
          <p:cNvPr id="207" name="Google Shape;207;g375a3787e2b_0_0"/>
          <p:cNvSpPr/>
          <p:nvPr/>
        </p:nvSpPr>
        <p:spPr>
          <a:xfrm>
            <a:off x="15127202" y="4915927"/>
            <a:ext cx="456434" cy="456435"/>
          </a:xfrm>
          <a:custGeom>
            <a:rect b="b" l="l" r="r" t="t"/>
            <a:pathLst>
              <a:path extrusionOk="0" h="459" w="459">
                <a:moveTo>
                  <a:pt x="229" y="0"/>
                </a:moveTo>
                <a:lnTo>
                  <a:pt x="229" y="0"/>
                </a:lnTo>
                <a:cubicBezTo>
                  <a:pt x="356" y="0"/>
                  <a:pt x="458" y="103"/>
                  <a:pt x="458" y="229"/>
                </a:cubicBezTo>
                <a:lnTo>
                  <a:pt x="458" y="229"/>
                </a:lnTo>
                <a:cubicBezTo>
                  <a:pt x="458" y="356"/>
                  <a:pt x="356" y="458"/>
                  <a:pt x="229" y="458"/>
                </a:cubicBezTo>
                <a:lnTo>
                  <a:pt x="229" y="458"/>
                </a:lnTo>
                <a:cubicBezTo>
                  <a:pt x="103" y="458"/>
                  <a:pt x="0" y="356"/>
                  <a:pt x="0" y="229"/>
                </a:cubicBezTo>
                <a:lnTo>
                  <a:pt x="0" y="229"/>
                </a:lnTo>
                <a:cubicBezTo>
                  <a:pt x="0" y="103"/>
                  <a:pt x="103" y="0"/>
                  <a:pt x="229" y="0"/>
                </a:cubicBezTo>
              </a:path>
            </a:pathLst>
          </a:custGeom>
          <a:solidFill>
            <a:srgbClr val="EC9F5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4898">
              <a:solidFill>
                <a:srgbClr val="737572"/>
              </a:solidFill>
              <a:latin typeface="Lato Light"/>
              <a:ea typeface="Lato Light"/>
              <a:cs typeface="Lato Light"/>
              <a:sym typeface="Lato Light"/>
            </a:endParaRPr>
          </a:p>
        </p:txBody>
      </p:sp>
      <p:sp>
        <p:nvSpPr>
          <p:cNvPr id="208" name="Google Shape;208;g375a3787e2b_0_0"/>
          <p:cNvSpPr/>
          <p:nvPr/>
        </p:nvSpPr>
        <p:spPr>
          <a:xfrm>
            <a:off x="2058275" y="2086888"/>
            <a:ext cx="1908129" cy="2151282"/>
          </a:xfrm>
          <a:custGeom>
            <a:rect b="b" l="l" r="r" t="t"/>
            <a:pathLst>
              <a:path extrusionOk="0" h="2300" w="2040">
                <a:moveTo>
                  <a:pt x="1019" y="60"/>
                </a:moveTo>
                <a:lnTo>
                  <a:pt x="1019" y="60"/>
                </a:lnTo>
                <a:cubicBezTo>
                  <a:pt x="992" y="60"/>
                  <a:pt x="966" y="66"/>
                  <a:pt x="943" y="80"/>
                </a:cubicBezTo>
                <a:lnTo>
                  <a:pt x="127" y="551"/>
                </a:lnTo>
                <a:lnTo>
                  <a:pt x="127" y="551"/>
                </a:lnTo>
                <a:cubicBezTo>
                  <a:pt x="80" y="578"/>
                  <a:pt x="50" y="629"/>
                  <a:pt x="50" y="684"/>
                </a:cubicBezTo>
                <a:lnTo>
                  <a:pt x="50" y="1624"/>
                </a:lnTo>
                <a:lnTo>
                  <a:pt x="50" y="1624"/>
                </a:lnTo>
                <a:cubicBezTo>
                  <a:pt x="50" y="1679"/>
                  <a:pt x="80" y="1730"/>
                  <a:pt x="127" y="1756"/>
                </a:cubicBezTo>
                <a:lnTo>
                  <a:pt x="943" y="2227"/>
                </a:lnTo>
                <a:lnTo>
                  <a:pt x="943" y="2227"/>
                </a:lnTo>
                <a:cubicBezTo>
                  <a:pt x="990" y="2255"/>
                  <a:pt x="1048" y="2255"/>
                  <a:pt x="1095" y="2227"/>
                </a:cubicBezTo>
                <a:lnTo>
                  <a:pt x="1911" y="1756"/>
                </a:lnTo>
                <a:lnTo>
                  <a:pt x="1911" y="1756"/>
                </a:lnTo>
                <a:cubicBezTo>
                  <a:pt x="1959" y="1730"/>
                  <a:pt x="1987" y="1679"/>
                  <a:pt x="1987" y="1624"/>
                </a:cubicBezTo>
                <a:lnTo>
                  <a:pt x="1987" y="684"/>
                </a:lnTo>
                <a:lnTo>
                  <a:pt x="1987" y="684"/>
                </a:lnTo>
                <a:cubicBezTo>
                  <a:pt x="1987" y="629"/>
                  <a:pt x="1959" y="578"/>
                  <a:pt x="1911" y="551"/>
                </a:cubicBezTo>
                <a:lnTo>
                  <a:pt x="1095" y="80"/>
                </a:lnTo>
                <a:lnTo>
                  <a:pt x="1095" y="80"/>
                </a:lnTo>
                <a:cubicBezTo>
                  <a:pt x="1072" y="66"/>
                  <a:pt x="1045" y="60"/>
                  <a:pt x="1019" y="60"/>
                </a:cubicBezTo>
                <a:close/>
                <a:moveTo>
                  <a:pt x="1019" y="2299"/>
                </a:moveTo>
                <a:lnTo>
                  <a:pt x="1019" y="2299"/>
                </a:lnTo>
                <a:cubicBezTo>
                  <a:pt x="984" y="2299"/>
                  <a:pt x="948" y="2290"/>
                  <a:pt x="917" y="2271"/>
                </a:cubicBezTo>
                <a:lnTo>
                  <a:pt x="101" y="1800"/>
                </a:lnTo>
                <a:lnTo>
                  <a:pt x="101" y="1800"/>
                </a:lnTo>
                <a:cubicBezTo>
                  <a:pt x="38" y="1764"/>
                  <a:pt x="0" y="1696"/>
                  <a:pt x="0" y="1624"/>
                </a:cubicBezTo>
                <a:lnTo>
                  <a:pt x="0" y="684"/>
                </a:lnTo>
                <a:lnTo>
                  <a:pt x="0" y="684"/>
                </a:lnTo>
                <a:cubicBezTo>
                  <a:pt x="0" y="611"/>
                  <a:pt x="38" y="543"/>
                  <a:pt x="101" y="507"/>
                </a:cubicBezTo>
                <a:lnTo>
                  <a:pt x="917" y="36"/>
                </a:lnTo>
                <a:lnTo>
                  <a:pt x="917" y="36"/>
                </a:lnTo>
                <a:cubicBezTo>
                  <a:pt x="980" y="0"/>
                  <a:pt x="1058" y="0"/>
                  <a:pt x="1121" y="36"/>
                </a:cubicBezTo>
                <a:lnTo>
                  <a:pt x="1937" y="507"/>
                </a:lnTo>
                <a:lnTo>
                  <a:pt x="1937" y="507"/>
                </a:lnTo>
                <a:cubicBezTo>
                  <a:pt x="2000" y="543"/>
                  <a:pt x="2039" y="611"/>
                  <a:pt x="2039" y="684"/>
                </a:cubicBezTo>
                <a:lnTo>
                  <a:pt x="2039" y="1624"/>
                </a:lnTo>
                <a:lnTo>
                  <a:pt x="2039" y="1624"/>
                </a:lnTo>
                <a:cubicBezTo>
                  <a:pt x="2039" y="1696"/>
                  <a:pt x="2000" y="1764"/>
                  <a:pt x="1937" y="1800"/>
                </a:cubicBezTo>
                <a:lnTo>
                  <a:pt x="1121" y="2271"/>
                </a:lnTo>
                <a:lnTo>
                  <a:pt x="1121" y="2271"/>
                </a:lnTo>
                <a:cubicBezTo>
                  <a:pt x="1089" y="2290"/>
                  <a:pt x="1054" y="2299"/>
                  <a:pt x="1019" y="2299"/>
                </a:cubicBezTo>
                <a:close/>
              </a:path>
            </a:pathLst>
          </a:custGeom>
          <a:solidFill>
            <a:srgbClr val="5DCEDB"/>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4898">
              <a:solidFill>
                <a:srgbClr val="737572"/>
              </a:solidFill>
              <a:latin typeface="Lato Light"/>
              <a:ea typeface="Lato Light"/>
              <a:cs typeface="Lato Light"/>
              <a:sym typeface="Lato Light"/>
            </a:endParaRPr>
          </a:p>
        </p:txBody>
      </p:sp>
      <p:sp>
        <p:nvSpPr>
          <p:cNvPr id="209" name="Google Shape;209;g375a3787e2b_0_0"/>
          <p:cNvSpPr/>
          <p:nvPr/>
        </p:nvSpPr>
        <p:spPr>
          <a:xfrm>
            <a:off x="6171261" y="2086888"/>
            <a:ext cx="1908129" cy="2151282"/>
          </a:xfrm>
          <a:custGeom>
            <a:rect b="b" l="l" r="r" t="t"/>
            <a:pathLst>
              <a:path extrusionOk="0" h="2300" w="2040">
                <a:moveTo>
                  <a:pt x="1019" y="60"/>
                </a:moveTo>
                <a:lnTo>
                  <a:pt x="1019" y="60"/>
                </a:lnTo>
                <a:cubicBezTo>
                  <a:pt x="992" y="60"/>
                  <a:pt x="966" y="66"/>
                  <a:pt x="943" y="80"/>
                </a:cubicBezTo>
                <a:lnTo>
                  <a:pt x="127" y="551"/>
                </a:lnTo>
                <a:lnTo>
                  <a:pt x="127" y="551"/>
                </a:lnTo>
                <a:cubicBezTo>
                  <a:pt x="80" y="578"/>
                  <a:pt x="51" y="629"/>
                  <a:pt x="51" y="684"/>
                </a:cubicBezTo>
                <a:lnTo>
                  <a:pt x="51" y="1624"/>
                </a:lnTo>
                <a:lnTo>
                  <a:pt x="51" y="1624"/>
                </a:lnTo>
                <a:cubicBezTo>
                  <a:pt x="51" y="1679"/>
                  <a:pt x="80" y="1730"/>
                  <a:pt x="127" y="1756"/>
                </a:cubicBezTo>
                <a:lnTo>
                  <a:pt x="943" y="2227"/>
                </a:lnTo>
                <a:lnTo>
                  <a:pt x="943" y="2227"/>
                </a:lnTo>
                <a:cubicBezTo>
                  <a:pt x="990" y="2255"/>
                  <a:pt x="1049" y="2255"/>
                  <a:pt x="1096" y="2227"/>
                </a:cubicBezTo>
                <a:lnTo>
                  <a:pt x="1911" y="1756"/>
                </a:lnTo>
                <a:lnTo>
                  <a:pt x="1911" y="1756"/>
                </a:lnTo>
                <a:cubicBezTo>
                  <a:pt x="1959" y="1730"/>
                  <a:pt x="1988" y="1679"/>
                  <a:pt x="1988" y="1624"/>
                </a:cubicBezTo>
                <a:lnTo>
                  <a:pt x="1988" y="684"/>
                </a:lnTo>
                <a:lnTo>
                  <a:pt x="1988" y="684"/>
                </a:lnTo>
                <a:cubicBezTo>
                  <a:pt x="1988" y="629"/>
                  <a:pt x="1959" y="578"/>
                  <a:pt x="1911" y="551"/>
                </a:cubicBezTo>
                <a:lnTo>
                  <a:pt x="1096" y="80"/>
                </a:lnTo>
                <a:lnTo>
                  <a:pt x="1096" y="80"/>
                </a:lnTo>
                <a:cubicBezTo>
                  <a:pt x="1072" y="66"/>
                  <a:pt x="1046" y="60"/>
                  <a:pt x="1019" y="60"/>
                </a:cubicBezTo>
                <a:close/>
                <a:moveTo>
                  <a:pt x="1019" y="2299"/>
                </a:moveTo>
                <a:lnTo>
                  <a:pt x="1019" y="2299"/>
                </a:lnTo>
                <a:cubicBezTo>
                  <a:pt x="984" y="2299"/>
                  <a:pt x="949" y="2290"/>
                  <a:pt x="917" y="2271"/>
                </a:cubicBezTo>
                <a:lnTo>
                  <a:pt x="101" y="1800"/>
                </a:lnTo>
                <a:lnTo>
                  <a:pt x="101" y="1800"/>
                </a:lnTo>
                <a:cubicBezTo>
                  <a:pt x="38" y="1764"/>
                  <a:pt x="0" y="1696"/>
                  <a:pt x="0" y="1624"/>
                </a:cubicBezTo>
                <a:lnTo>
                  <a:pt x="0" y="684"/>
                </a:lnTo>
                <a:lnTo>
                  <a:pt x="0" y="684"/>
                </a:lnTo>
                <a:cubicBezTo>
                  <a:pt x="0" y="611"/>
                  <a:pt x="38" y="543"/>
                  <a:pt x="101" y="507"/>
                </a:cubicBezTo>
                <a:lnTo>
                  <a:pt x="917" y="36"/>
                </a:lnTo>
                <a:lnTo>
                  <a:pt x="917" y="36"/>
                </a:lnTo>
                <a:cubicBezTo>
                  <a:pt x="980" y="0"/>
                  <a:pt x="1059" y="0"/>
                  <a:pt x="1121" y="36"/>
                </a:cubicBezTo>
                <a:lnTo>
                  <a:pt x="1937" y="507"/>
                </a:lnTo>
                <a:lnTo>
                  <a:pt x="1937" y="507"/>
                </a:lnTo>
                <a:cubicBezTo>
                  <a:pt x="2000" y="543"/>
                  <a:pt x="2039" y="611"/>
                  <a:pt x="2039" y="684"/>
                </a:cubicBezTo>
                <a:lnTo>
                  <a:pt x="2039" y="1624"/>
                </a:lnTo>
                <a:lnTo>
                  <a:pt x="2039" y="1624"/>
                </a:lnTo>
                <a:cubicBezTo>
                  <a:pt x="2039" y="1696"/>
                  <a:pt x="2000" y="1764"/>
                  <a:pt x="1937" y="1800"/>
                </a:cubicBezTo>
                <a:lnTo>
                  <a:pt x="1121" y="2271"/>
                </a:lnTo>
                <a:lnTo>
                  <a:pt x="1121" y="2271"/>
                </a:lnTo>
                <a:cubicBezTo>
                  <a:pt x="1090" y="2290"/>
                  <a:pt x="1054" y="2299"/>
                  <a:pt x="1019" y="2299"/>
                </a:cubicBezTo>
                <a:close/>
              </a:path>
            </a:pathLst>
          </a:custGeom>
          <a:solidFill>
            <a:srgbClr val="5ECB9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4898">
              <a:solidFill>
                <a:srgbClr val="737572"/>
              </a:solidFill>
              <a:latin typeface="Lato Light"/>
              <a:ea typeface="Lato Light"/>
              <a:cs typeface="Lato Light"/>
              <a:sym typeface="Lato Light"/>
            </a:endParaRPr>
          </a:p>
        </p:txBody>
      </p:sp>
      <p:sp>
        <p:nvSpPr>
          <p:cNvPr id="210" name="Google Shape;210;g375a3787e2b_0_0"/>
          <p:cNvSpPr/>
          <p:nvPr/>
        </p:nvSpPr>
        <p:spPr>
          <a:xfrm>
            <a:off x="10284246" y="2086888"/>
            <a:ext cx="1908131" cy="2151280"/>
          </a:xfrm>
          <a:custGeom>
            <a:rect b="b" l="l" r="r" t="t"/>
            <a:pathLst>
              <a:path extrusionOk="0" h="2301" w="2041">
                <a:moveTo>
                  <a:pt x="1021" y="61"/>
                </a:moveTo>
                <a:lnTo>
                  <a:pt x="1021" y="61"/>
                </a:lnTo>
                <a:cubicBezTo>
                  <a:pt x="994" y="61"/>
                  <a:pt x="968" y="67"/>
                  <a:pt x="944" y="81"/>
                </a:cubicBezTo>
                <a:lnTo>
                  <a:pt x="944" y="81"/>
                </a:lnTo>
                <a:lnTo>
                  <a:pt x="128" y="552"/>
                </a:lnTo>
                <a:lnTo>
                  <a:pt x="128" y="552"/>
                </a:lnTo>
                <a:cubicBezTo>
                  <a:pt x="81" y="579"/>
                  <a:pt x="52" y="630"/>
                  <a:pt x="52" y="685"/>
                </a:cubicBezTo>
                <a:lnTo>
                  <a:pt x="52" y="1625"/>
                </a:lnTo>
                <a:lnTo>
                  <a:pt x="52" y="1625"/>
                </a:lnTo>
                <a:cubicBezTo>
                  <a:pt x="52" y="1680"/>
                  <a:pt x="81" y="1731"/>
                  <a:pt x="128" y="1757"/>
                </a:cubicBezTo>
                <a:lnTo>
                  <a:pt x="944" y="2228"/>
                </a:lnTo>
                <a:lnTo>
                  <a:pt x="944" y="2228"/>
                </a:lnTo>
                <a:cubicBezTo>
                  <a:pt x="991" y="2256"/>
                  <a:pt x="1050" y="2256"/>
                  <a:pt x="1097" y="2228"/>
                </a:cubicBezTo>
                <a:lnTo>
                  <a:pt x="1912" y="1757"/>
                </a:lnTo>
                <a:lnTo>
                  <a:pt x="1912" y="1757"/>
                </a:lnTo>
                <a:cubicBezTo>
                  <a:pt x="1960" y="1731"/>
                  <a:pt x="1989" y="1680"/>
                  <a:pt x="1989" y="1625"/>
                </a:cubicBezTo>
                <a:lnTo>
                  <a:pt x="1989" y="685"/>
                </a:lnTo>
                <a:lnTo>
                  <a:pt x="1989" y="685"/>
                </a:lnTo>
                <a:cubicBezTo>
                  <a:pt x="1989" y="630"/>
                  <a:pt x="1960" y="579"/>
                  <a:pt x="1912" y="552"/>
                </a:cubicBezTo>
                <a:lnTo>
                  <a:pt x="1097" y="81"/>
                </a:lnTo>
                <a:lnTo>
                  <a:pt x="1097" y="81"/>
                </a:lnTo>
                <a:cubicBezTo>
                  <a:pt x="1073" y="67"/>
                  <a:pt x="1047" y="61"/>
                  <a:pt x="1021" y="61"/>
                </a:cubicBezTo>
                <a:close/>
                <a:moveTo>
                  <a:pt x="1021" y="2300"/>
                </a:moveTo>
                <a:lnTo>
                  <a:pt x="1021" y="2300"/>
                </a:lnTo>
                <a:cubicBezTo>
                  <a:pt x="985" y="2300"/>
                  <a:pt x="950" y="2291"/>
                  <a:pt x="918" y="2272"/>
                </a:cubicBezTo>
                <a:lnTo>
                  <a:pt x="103" y="1801"/>
                </a:lnTo>
                <a:lnTo>
                  <a:pt x="103" y="1801"/>
                </a:lnTo>
                <a:cubicBezTo>
                  <a:pt x="40" y="1765"/>
                  <a:pt x="0" y="1697"/>
                  <a:pt x="0" y="1625"/>
                </a:cubicBezTo>
                <a:lnTo>
                  <a:pt x="0" y="685"/>
                </a:lnTo>
                <a:lnTo>
                  <a:pt x="0" y="685"/>
                </a:lnTo>
                <a:cubicBezTo>
                  <a:pt x="0" y="612"/>
                  <a:pt x="40" y="544"/>
                  <a:pt x="103" y="508"/>
                </a:cubicBezTo>
                <a:lnTo>
                  <a:pt x="918" y="37"/>
                </a:lnTo>
                <a:lnTo>
                  <a:pt x="918" y="37"/>
                </a:lnTo>
                <a:lnTo>
                  <a:pt x="918" y="37"/>
                </a:lnTo>
                <a:cubicBezTo>
                  <a:pt x="981" y="0"/>
                  <a:pt x="1060" y="0"/>
                  <a:pt x="1122" y="37"/>
                </a:cubicBezTo>
                <a:lnTo>
                  <a:pt x="1938" y="508"/>
                </a:lnTo>
                <a:lnTo>
                  <a:pt x="1938" y="508"/>
                </a:lnTo>
                <a:cubicBezTo>
                  <a:pt x="2001" y="544"/>
                  <a:pt x="2040" y="612"/>
                  <a:pt x="2040" y="685"/>
                </a:cubicBezTo>
                <a:lnTo>
                  <a:pt x="2040" y="1625"/>
                </a:lnTo>
                <a:lnTo>
                  <a:pt x="2040" y="1625"/>
                </a:lnTo>
                <a:cubicBezTo>
                  <a:pt x="2040" y="1697"/>
                  <a:pt x="2001" y="1765"/>
                  <a:pt x="1938" y="1801"/>
                </a:cubicBezTo>
                <a:lnTo>
                  <a:pt x="1122" y="2272"/>
                </a:lnTo>
                <a:lnTo>
                  <a:pt x="1122" y="2272"/>
                </a:lnTo>
                <a:cubicBezTo>
                  <a:pt x="1091" y="2291"/>
                  <a:pt x="1056" y="2300"/>
                  <a:pt x="1021" y="2300"/>
                </a:cubicBezTo>
                <a:close/>
              </a:path>
            </a:pathLst>
          </a:custGeom>
          <a:solidFill>
            <a:srgbClr val="F0D06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4898">
              <a:solidFill>
                <a:srgbClr val="737572"/>
              </a:solidFill>
              <a:latin typeface="Lato Light"/>
              <a:ea typeface="Lato Light"/>
              <a:cs typeface="Lato Light"/>
              <a:sym typeface="Lato Light"/>
            </a:endParaRPr>
          </a:p>
        </p:txBody>
      </p:sp>
      <p:sp>
        <p:nvSpPr>
          <p:cNvPr id="211" name="Google Shape;211;g375a3787e2b_0_0"/>
          <p:cNvSpPr/>
          <p:nvPr/>
        </p:nvSpPr>
        <p:spPr>
          <a:xfrm>
            <a:off x="14401355" y="2086888"/>
            <a:ext cx="1908131" cy="2151280"/>
          </a:xfrm>
          <a:custGeom>
            <a:rect b="b" l="l" r="r" t="t"/>
            <a:pathLst>
              <a:path extrusionOk="0" h="2301" w="2041">
                <a:moveTo>
                  <a:pt x="1020" y="61"/>
                </a:moveTo>
                <a:lnTo>
                  <a:pt x="1020" y="61"/>
                </a:lnTo>
                <a:cubicBezTo>
                  <a:pt x="993" y="61"/>
                  <a:pt x="967" y="67"/>
                  <a:pt x="944" y="81"/>
                </a:cubicBezTo>
                <a:lnTo>
                  <a:pt x="944" y="81"/>
                </a:lnTo>
                <a:lnTo>
                  <a:pt x="128" y="552"/>
                </a:lnTo>
                <a:lnTo>
                  <a:pt x="128" y="552"/>
                </a:lnTo>
                <a:cubicBezTo>
                  <a:pt x="81" y="579"/>
                  <a:pt x="51" y="630"/>
                  <a:pt x="51" y="685"/>
                </a:cubicBezTo>
                <a:lnTo>
                  <a:pt x="51" y="1625"/>
                </a:lnTo>
                <a:lnTo>
                  <a:pt x="51" y="1625"/>
                </a:lnTo>
                <a:cubicBezTo>
                  <a:pt x="51" y="1680"/>
                  <a:pt x="81" y="1731"/>
                  <a:pt x="128" y="1757"/>
                </a:cubicBezTo>
                <a:lnTo>
                  <a:pt x="944" y="2228"/>
                </a:lnTo>
                <a:lnTo>
                  <a:pt x="944" y="2228"/>
                </a:lnTo>
                <a:cubicBezTo>
                  <a:pt x="991" y="2256"/>
                  <a:pt x="1049" y="2256"/>
                  <a:pt x="1096" y="2228"/>
                </a:cubicBezTo>
                <a:lnTo>
                  <a:pt x="1912" y="1757"/>
                </a:lnTo>
                <a:lnTo>
                  <a:pt x="1912" y="1757"/>
                </a:lnTo>
                <a:cubicBezTo>
                  <a:pt x="1959" y="1731"/>
                  <a:pt x="1988" y="1680"/>
                  <a:pt x="1988" y="1625"/>
                </a:cubicBezTo>
                <a:lnTo>
                  <a:pt x="1988" y="685"/>
                </a:lnTo>
                <a:lnTo>
                  <a:pt x="1988" y="685"/>
                </a:lnTo>
                <a:cubicBezTo>
                  <a:pt x="1988" y="630"/>
                  <a:pt x="1959" y="579"/>
                  <a:pt x="1912" y="552"/>
                </a:cubicBezTo>
                <a:lnTo>
                  <a:pt x="1096" y="81"/>
                </a:lnTo>
                <a:lnTo>
                  <a:pt x="1096" y="81"/>
                </a:lnTo>
                <a:cubicBezTo>
                  <a:pt x="1073" y="67"/>
                  <a:pt x="1046" y="61"/>
                  <a:pt x="1020" y="61"/>
                </a:cubicBezTo>
                <a:close/>
                <a:moveTo>
                  <a:pt x="1020" y="2300"/>
                </a:moveTo>
                <a:lnTo>
                  <a:pt x="1020" y="2300"/>
                </a:lnTo>
                <a:cubicBezTo>
                  <a:pt x="985" y="2300"/>
                  <a:pt x="949" y="2291"/>
                  <a:pt x="918" y="2272"/>
                </a:cubicBezTo>
                <a:lnTo>
                  <a:pt x="102" y="1801"/>
                </a:lnTo>
                <a:lnTo>
                  <a:pt x="102" y="1801"/>
                </a:lnTo>
                <a:cubicBezTo>
                  <a:pt x="39" y="1765"/>
                  <a:pt x="0" y="1697"/>
                  <a:pt x="0" y="1625"/>
                </a:cubicBezTo>
                <a:lnTo>
                  <a:pt x="0" y="685"/>
                </a:lnTo>
                <a:lnTo>
                  <a:pt x="0" y="685"/>
                </a:lnTo>
                <a:cubicBezTo>
                  <a:pt x="0" y="612"/>
                  <a:pt x="39" y="544"/>
                  <a:pt x="102" y="508"/>
                </a:cubicBezTo>
                <a:lnTo>
                  <a:pt x="918" y="37"/>
                </a:lnTo>
                <a:lnTo>
                  <a:pt x="918" y="37"/>
                </a:lnTo>
                <a:lnTo>
                  <a:pt x="918" y="37"/>
                </a:lnTo>
                <a:cubicBezTo>
                  <a:pt x="981" y="0"/>
                  <a:pt x="1059" y="0"/>
                  <a:pt x="1122" y="37"/>
                </a:cubicBezTo>
                <a:lnTo>
                  <a:pt x="1937" y="508"/>
                </a:lnTo>
                <a:lnTo>
                  <a:pt x="1937" y="508"/>
                </a:lnTo>
                <a:cubicBezTo>
                  <a:pt x="2000" y="544"/>
                  <a:pt x="2040" y="612"/>
                  <a:pt x="2040" y="685"/>
                </a:cubicBezTo>
                <a:lnTo>
                  <a:pt x="2040" y="1625"/>
                </a:lnTo>
                <a:lnTo>
                  <a:pt x="2040" y="1625"/>
                </a:lnTo>
                <a:cubicBezTo>
                  <a:pt x="2040" y="1697"/>
                  <a:pt x="2000" y="1765"/>
                  <a:pt x="1937" y="1801"/>
                </a:cubicBezTo>
                <a:lnTo>
                  <a:pt x="1122" y="2272"/>
                </a:lnTo>
                <a:lnTo>
                  <a:pt x="1122" y="2272"/>
                </a:lnTo>
                <a:cubicBezTo>
                  <a:pt x="1090" y="2291"/>
                  <a:pt x="1055" y="2300"/>
                  <a:pt x="1020" y="2300"/>
                </a:cubicBezTo>
                <a:close/>
              </a:path>
            </a:pathLst>
          </a:custGeom>
          <a:solidFill>
            <a:srgbClr val="EC9F5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4898">
              <a:solidFill>
                <a:srgbClr val="737572"/>
              </a:solidFill>
              <a:latin typeface="Lato Light"/>
              <a:ea typeface="Lato Light"/>
              <a:cs typeface="Lato Light"/>
              <a:sym typeface="Lato Light"/>
            </a:endParaRPr>
          </a:p>
        </p:txBody>
      </p:sp>
      <p:sp>
        <p:nvSpPr>
          <p:cNvPr id="212" name="Google Shape;212;g375a3787e2b_0_0"/>
          <p:cNvSpPr/>
          <p:nvPr/>
        </p:nvSpPr>
        <p:spPr>
          <a:xfrm>
            <a:off x="97175" y="5122099"/>
            <a:ext cx="18288000" cy="44100"/>
          </a:xfrm>
          <a:prstGeom prst="rect">
            <a:avLst/>
          </a:prstGeom>
          <a:gradFill>
            <a:gsLst>
              <a:gs pos="0">
                <a:srgbClr val="5DCEDB"/>
              </a:gs>
              <a:gs pos="15000">
                <a:srgbClr val="5DCEDB"/>
              </a:gs>
              <a:gs pos="33000">
                <a:srgbClr val="5ECB95"/>
              </a:gs>
              <a:gs pos="66000">
                <a:srgbClr val="F0D065"/>
              </a:gs>
              <a:gs pos="85000">
                <a:srgbClr val="EC9F56"/>
              </a:gs>
              <a:gs pos="100000">
                <a:srgbClr val="EC9F56"/>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4898">
              <a:solidFill>
                <a:srgbClr val="737572"/>
              </a:solidFill>
              <a:latin typeface="Lato Light"/>
              <a:ea typeface="Lato Light"/>
              <a:cs typeface="Lato Light"/>
              <a:sym typeface="Lato Light"/>
            </a:endParaRPr>
          </a:p>
        </p:txBody>
      </p:sp>
      <p:sp>
        <p:nvSpPr>
          <p:cNvPr id="213" name="Google Shape;213;g375a3787e2b_0_0"/>
          <p:cNvSpPr/>
          <p:nvPr/>
        </p:nvSpPr>
        <p:spPr>
          <a:xfrm>
            <a:off x="2814806" y="4949206"/>
            <a:ext cx="389877" cy="389878"/>
          </a:xfrm>
          <a:custGeom>
            <a:rect b="b" l="l" r="r" t="t"/>
            <a:pathLst>
              <a:path extrusionOk="0" h="459" w="459">
                <a:moveTo>
                  <a:pt x="229" y="0"/>
                </a:moveTo>
                <a:lnTo>
                  <a:pt x="229" y="0"/>
                </a:lnTo>
                <a:cubicBezTo>
                  <a:pt x="356" y="0"/>
                  <a:pt x="458" y="103"/>
                  <a:pt x="458" y="229"/>
                </a:cubicBezTo>
                <a:lnTo>
                  <a:pt x="458" y="229"/>
                </a:lnTo>
                <a:cubicBezTo>
                  <a:pt x="458" y="356"/>
                  <a:pt x="356" y="458"/>
                  <a:pt x="229" y="458"/>
                </a:cubicBezTo>
                <a:lnTo>
                  <a:pt x="229" y="458"/>
                </a:lnTo>
                <a:cubicBezTo>
                  <a:pt x="103" y="458"/>
                  <a:pt x="0" y="356"/>
                  <a:pt x="0" y="229"/>
                </a:cubicBezTo>
                <a:lnTo>
                  <a:pt x="0" y="229"/>
                </a:lnTo>
                <a:cubicBezTo>
                  <a:pt x="0" y="103"/>
                  <a:pt x="103" y="0"/>
                  <a:pt x="229" y="0"/>
                </a:cubicBezTo>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4898">
              <a:solidFill>
                <a:srgbClr val="737572"/>
              </a:solidFill>
              <a:latin typeface="Lato Light"/>
              <a:ea typeface="Lato Light"/>
              <a:cs typeface="Lato Light"/>
              <a:sym typeface="Lato Light"/>
            </a:endParaRPr>
          </a:p>
        </p:txBody>
      </p:sp>
      <p:sp>
        <p:nvSpPr>
          <p:cNvPr id="214" name="Google Shape;214;g375a3787e2b_0_0"/>
          <p:cNvSpPr/>
          <p:nvPr/>
        </p:nvSpPr>
        <p:spPr>
          <a:xfrm>
            <a:off x="6930386" y="4949206"/>
            <a:ext cx="389877" cy="389878"/>
          </a:xfrm>
          <a:custGeom>
            <a:rect b="b" l="l" r="r" t="t"/>
            <a:pathLst>
              <a:path extrusionOk="0" h="459" w="459">
                <a:moveTo>
                  <a:pt x="229" y="0"/>
                </a:moveTo>
                <a:lnTo>
                  <a:pt x="229" y="0"/>
                </a:lnTo>
                <a:cubicBezTo>
                  <a:pt x="356" y="0"/>
                  <a:pt x="458" y="103"/>
                  <a:pt x="458" y="229"/>
                </a:cubicBezTo>
                <a:lnTo>
                  <a:pt x="458" y="229"/>
                </a:lnTo>
                <a:cubicBezTo>
                  <a:pt x="458" y="356"/>
                  <a:pt x="356" y="458"/>
                  <a:pt x="229" y="458"/>
                </a:cubicBezTo>
                <a:lnTo>
                  <a:pt x="229" y="458"/>
                </a:lnTo>
                <a:cubicBezTo>
                  <a:pt x="103" y="458"/>
                  <a:pt x="0" y="356"/>
                  <a:pt x="0" y="229"/>
                </a:cubicBezTo>
                <a:lnTo>
                  <a:pt x="0" y="229"/>
                </a:lnTo>
                <a:cubicBezTo>
                  <a:pt x="0" y="103"/>
                  <a:pt x="103" y="0"/>
                  <a:pt x="229" y="0"/>
                </a:cubicBezTo>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4898">
              <a:solidFill>
                <a:srgbClr val="737572"/>
              </a:solidFill>
              <a:latin typeface="Lato Light"/>
              <a:ea typeface="Lato Light"/>
              <a:cs typeface="Lato Light"/>
              <a:sym typeface="Lato Light"/>
            </a:endParaRPr>
          </a:p>
        </p:txBody>
      </p:sp>
      <p:sp>
        <p:nvSpPr>
          <p:cNvPr id="215" name="Google Shape;215;g375a3787e2b_0_0"/>
          <p:cNvSpPr/>
          <p:nvPr/>
        </p:nvSpPr>
        <p:spPr>
          <a:xfrm>
            <a:off x="11043371" y="4949206"/>
            <a:ext cx="389877" cy="389878"/>
          </a:xfrm>
          <a:custGeom>
            <a:rect b="b" l="l" r="r" t="t"/>
            <a:pathLst>
              <a:path extrusionOk="0" h="459" w="459">
                <a:moveTo>
                  <a:pt x="229" y="0"/>
                </a:moveTo>
                <a:lnTo>
                  <a:pt x="229" y="0"/>
                </a:lnTo>
                <a:cubicBezTo>
                  <a:pt x="356" y="0"/>
                  <a:pt x="458" y="103"/>
                  <a:pt x="458" y="229"/>
                </a:cubicBezTo>
                <a:lnTo>
                  <a:pt x="458" y="229"/>
                </a:lnTo>
                <a:cubicBezTo>
                  <a:pt x="458" y="356"/>
                  <a:pt x="356" y="458"/>
                  <a:pt x="229" y="458"/>
                </a:cubicBezTo>
                <a:lnTo>
                  <a:pt x="229" y="458"/>
                </a:lnTo>
                <a:cubicBezTo>
                  <a:pt x="103" y="458"/>
                  <a:pt x="0" y="356"/>
                  <a:pt x="0" y="229"/>
                </a:cubicBezTo>
                <a:lnTo>
                  <a:pt x="0" y="229"/>
                </a:lnTo>
                <a:cubicBezTo>
                  <a:pt x="0" y="103"/>
                  <a:pt x="103" y="0"/>
                  <a:pt x="229" y="0"/>
                </a:cubicBezTo>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4898">
              <a:solidFill>
                <a:srgbClr val="737572"/>
              </a:solidFill>
              <a:latin typeface="Lato Light"/>
              <a:ea typeface="Lato Light"/>
              <a:cs typeface="Lato Light"/>
              <a:sym typeface="Lato Light"/>
            </a:endParaRPr>
          </a:p>
        </p:txBody>
      </p:sp>
      <p:sp>
        <p:nvSpPr>
          <p:cNvPr id="216" name="Google Shape;216;g375a3787e2b_0_0"/>
          <p:cNvSpPr/>
          <p:nvPr/>
        </p:nvSpPr>
        <p:spPr>
          <a:xfrm>
            <a:off x="15160481" y="4949206"/>
            <a:ext cx="389877" cy="389878"/>
          </a:xfrm>
          <a:custGeom>
            <a:rect b="b" l="l" r="r" t="t"/>
            <a:pathLst>
              <a:path extrusionOk="0" h="459" w="459">
                <a:moveTo>
                  <a:pt x="229" y="0"/>
                </a:moveTo>
                <a:lnTo>
                  <a:pt x="229" y="0"/>
                </a:lnTo>
                <a:cubicBezTo>
                  <a:pt x="356" y="0"/>
                  <a:pt x="458" y="103"/>
                  <a:pt x="458" y="229"/>
                </a:cubicBezTo>
                <a:lnTo>
                  <a:pt x="458" y="229"/>
                </a:lnTo>
                <a:cubicBezTo>
                  <a:pt x="458" y="356"/>
                  <a:pt x="356" y="458"/>
                  <a:pt x="229" y="458"/>
                </a:cubicBezTo>
                <a:lnTo>
                  <a:pt x="229" y="458"/>
                </a:lnTo>
                <a:cubicBezTo>
                  <a:pt x="103" y="458"/>
                  <a:pt x="0" y="356"/>
                  <a:pt x="0" y="229"/>
                </a:cubicBezTo>
                <a:lnTo>
                  <a:pt x="0" y="229"/>
                </a:lnTo>
                <a:cubicBezTo>
                  <a:pt x="0" y="103"/>
                  <a:pt x="103" y="0"/>
                  <a:pt x="229" y="0"/>
                </a:cubicBezTo>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4898">
              <a:solidFill>
                <a:srgbClr val="737572"/>
              </a:solidFill>
              <a:latin typeface="Lato Light"/>
              <a:ea typeface="Lato Light"/>
              <a:cs typeface="Lato Light"/>
              <a:sym typeface="Lato Light"/>
            </a:endParaRPr>
          </a:p>
        </p:txBody>
      </p:sp>
      <p:sp>
        <p:nvSpPr>
          <p:cNvPr id="217" name="Google Shape;217;g375a3787e2b_0_0"/>
          <p:cNvSpPr txBox="1"/>
          <p:nvPr/>
        </p:nvSpPr>
        <p:spPr>
          <a:xfrm>
            <a:off x="2058383" y="2908554"/>
            <a:ext cx="1908000" cy="5310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lang="en-US" sz="3000">
                <a:solidFill>
                  <a:srgbClr val="445469"/>
                </a:solidFill>
                <a:latin typeface="Poppins"/>
                <a:ea typeface="Poppins"/>
                <a:cs typeface="Poppins"/>
                <a:sym typeface="Poppins"/>
              </a:rPr>
              <a:t>3 tháng</a:t>
            </a:r>
            <a:endParaRPr sz="3000"/>
          </a:p>
        </p:txBody>
      </p:sp>
      <p:sp>
        <p:nvSpPr>
          <p:cNvPr id="218" name="Google Shape;218;g375a3787e2b_0_0"/>
          <p:cNvSpPr txBox="1"/>
          <p:nvPr/>
        </p:nvSpPr>
        <p:spPr>
          <a:xfrm>
            <a:off x="6171307" y="2954540"/>
            <a:ext cx="1908000" cy="5310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lang="en-US" sz="3000">
                <a:solidFill>
                  <a:srgbClr val="445469"/>
                </a:solidFill>
                <a:latin typeface="Poppins"/>
                <a:ea typeface="Poppins"/>
                <a:cs typeface="Poppins"/>
                <a:sym typeface="Poppins"/>
              </a:rPr>
              <a:t>12 tháng</a:t>
            </a:r>
            <a:endParaRPr sz="3000"/>
          </a:p>
        </p:txBody>
      </p:sp>
      <p:sp>
        <p:nvSpPr>
          <p:cNvPr id="219" name="Google Shape;219;g375a3787e2b_0_0"/>
          <p:cNvSpPr txBox="1"/>
          <p:nvPr/>
        </p:nvSpPr>
        <p:spPr>
          <a:xfrm>
            <a:off x="14401358" y="2908000"/>
            <a:ext cx="1908300" cy="5310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lang="en-US" sz="3000">
                <a:solidFill>
                  <a:srgbClr val="445469"/>
                </a:solidFill>
                <a:latin typeface="Poppins"/>
                <a:ea typeface="Poppins"/>
                <a:cs typeface="Poppins"/>
                <a:sym typeface="Poppins"/>
              </a:rPr>
              <a:t>9 tháng</a:t>
            </a:r>
            <a:endParaRPr sz="3000"/>
          </a:p>
        </p:txBody>
      </p:sp>
      <p:sp>
        <p:nvSpPr>
          <p:cNvPr id="220" name="Google Shape;220;g375a3787e2b_0_0"/>
          <p:cNvSpPr txBox="1"/>
          <p:nvPr/>
        </p:nvSpPr>
        <p:spPr>
          <a:xfrm>
            <a:off x="10284250" y="2908000"/>
            <a:ext cx="1908000" cy="5310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lang="en-US" sz="3000">
                <a:solidFill>
                  <a:srgbClr val="445469"/>
                </a:solidFill>
                <a:latin typeface="Poppins"/>
                <a:ea typeface="Poppins"/>
                <a:cs typeface="Poppins"/>
                <a:sym typeface="Poppins"/>
              </a:rPr>
              <a:t>12 tháng</a:t>
            </a:r>
            <a:endParaRPr sz="3000"/>
          </a:p>
        </p:txBody>
      </p:sp>
      <p:sp>
        <p:nvSpPr>
          <p:cNvPr id="221" name="Google Shape;221;g375a3787e2b_0_0"/>
          <p:cNvSpPr txBox="1"/>
          <p:nvPr/>
        </p:nvSpPr>
        <p:spPr>
          <a:xfrm>
            <a:off x="1532334" y="6050113"/>
            <a:ext cx="2879700" cy="923700"/>
          </a:xfrm>
          <a:prstGeom prst="rect">
            <a:avLst/>
          </a:prstGeom>
          <a:noFill/>
          <a:ln>
            <a:noFill/>
          </a:ln>
        </p:spPr>
        <p:txBody>
          <a:bodyPr anchorCtr="0" anchor="b" bIns="34275" lIns="68575" spcFirstLastPara="1" rIns="68575" wrap="square" tIns="34275">
            <a:spAutoFit/>
          </a:bodyPr>
          <a:lstStyle/>
          <a:p>
            <a:pPr indent="0" lvl="0" marL="0" marR="0" rtl="0" algn="ctr">
              <a:spcBef>
                <a:spcPts val="0"/>
              </a:spcBef>
              <a:spcAft>
                <a:spcPts val="0"/>
              </a:spcAft>
              <a:buNone/>
            </a:pPr>
            <a:r>
              <a:rPr b="1" lang="en-US" sz="2775">
                <a:solidFill>
                  <a:srgbClr val="445469"/>
                </a:solidFill>
              </a:rPr>
              <a:t>Thu thập và xử lý dữ liệu</a:t>
            </a:r>
            <a:endParaRPr sz="2775"/>
          </a:p>
        </p:txBody>
      </p:sp>
      <p:sp>
        <p:nvSpPr>
          <p:cNvPr id="222" name="Google Shape;222;g375a3787e2b_0_0"/>
          <p:cNvSpPr txBox="1"/>
          <p:nvPr/>
        </p:nvSpPr>
        <p:spPr>
          <a:xfrm>
            <a:off x="5705002" y="5994505"/>
            <a:ext cx="2879700" cy="1778100"/>
          </a:xfrm>
          <a:prstGeom prst="rect">
            <a:avLst/>
          </a:prstGeom>
          <a:noFill/>
          <a:ln>
            <a:noFill/>
          </a:ln>
        </p:spPr>
        <p:txBody>
          <a:bodyPr anchorCtr="0" anchor="b" bIns="34275" lIns="68575" spcFirstLastPara="1" rIns="68575" wrap="square" tIns="34275">
            <a:spAutoFit/>
          </a:bodyPr>
          <a:lstStyle/>
          <a:p>
            <a:pPr indent="0" lvl="0" marL="0" marR="0" rtl="0" algn="ctr">
              <a:spcBef>
                <a:spcPts val="0"/>
              </a:spcBef>
              <a:spcAft>
                <a:spcPts val="0"/>
              </a:spcAft>
              <a:buNone/>
            </a:pPr>
            <a:r>
              <a:rPr b="1" lang="en-US" sz="2775">
                <a:solidFill>
                  <a:srgbClr val="445469"/>
                </a:solidFill>
              </a:rPr>
              <a:t>Phát triển thiết bị AI proxy và phương pháp đánh giá điều trị</a:t>
            </a:r>
            <a:endParaRPr sz="2775"/>
          </a:p>
        </p:txBody>
      </p:sp>
      <p:sp>
        <p:nvSpPr>
          <p:cNvPr id="223" name="Google Shape;223;g375a3787e2b_0_0"/>
          <p:cNvSpPr txBox="1"/>
          <p:nvPr/>
        </p:nvSpPr>
        <p:spPr>
          <a:xfrm>
            <a:off x="9934852" y="5994505"/>
            <a:ext cx="2879700" cy="2205600"/>
          </a:xfrm>
          <a:prstGeom prst="rect">
            <a:avLst/>
          </a:prstGeom>
          <a:noFill/>
          <a:ln>
            <a:noFill/>
          </a:ln>
        </p:spPr>
        <p:txBody>
          <a:bodyPr anchorCtr="0" anchor="b" bIns="34275" lIns="68575" spcFirstLastPara="1" rIns="68575" wrap="square" tIns="34275">
            <a:spAutoFit/>
          </a:bodyPr>
          <a:lstStyle/>
          <a:p>
            <a:pPr indent="0" lvl="0" marL="0" marR="0" rtl="0" algn="ctr">
              <a:spcBef>
                <a:spcPts val="0"/>
              </a:spcBef>
              <a:spcAft>
                <a:spcPts val="0"/>
              </a:spcAft>
              <a:buNone/>
            </a:pPr>
            <a:r>
              <a:rPr b="1" lang="en-US" sz="2775">
                <a:solidFill>
                  <a:srgbClr val="445469"/>
                </a:solidFill>
              </a:rPr>
              <a:t>Phát triển phương pháp cá nhân hóa điều trị và ứng dụng</a:t>
            </a:r>
            <a:endParaRPr sz="2775"/>
          </a:p>
        </p:txBody>
      </p:sp>
      <p:sp>
        <p:nvSpPr>
          <p:cNvPr id="224" name="Google Shape;224;g375a3787e2b_0_0"/>
          <p:cNvSpPr txBox="1"/>
          <p:nvPr/>
        </p:nvSpPr>
        <p:spPr>
          <a:xfrm>
            <a:off x="13915575" y="6050113"/>
            <a:ext cx="2879700" cy="1350900"/>
          </a:xfrm>
          <a:prstGeom prst="rect">
            <a:avLst/>
          </a:prstGeom>
          <a:noFill/>
          <a:ln>
            <a:noFill/>
          </a:ln>
        </p:spPr>
        <p:txBody>
          <a:bodyPr anchorCtr="0" anchor="b" bIns="34275" lIns="68575" spcFirstLastPara="1" rIns="68575" wrap="square" tIns="34275">
            <a:spAutoFit/>
          </a:bodyPr>
          <a:lstStyle/>
          <a:p>
            <a:pPr indent="0" lvl="0" marL="0" rtl="0" algn="ctr">
              <a:spcBef>
                <a:spcPts val="0"/>
              </a:spcBef>
              <a:spcAft>
                <a:spcPts val="0"/>
              </a:spcAft>
              <a:buNone/>
            </a:pPr>
            <a:r>
              <a:rPr b="1" lang="en-US" sz="2775">
                <a:solidFill>
                  <a:srgbClr val="445469"/>
                </a:solidFill>
              </a:rPr>
              <a:t>Triển khai lâm sàng và đánh giá hiệu quả</a:t>
            </a:r>
            <a:endParaRPr b="1" sz="2775">
              <a:solidFill>
                <a:srgbClr val="44546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75a3787e2b_0_15"/>
          <p:cNvSpPr txBox="1"/>
          <p:nvPr/>
        </p:nvSpPr>
        <p:spPr>
          <a:xfrm>
            <a:off x="1026000" y="1468775"/>
            <a:ext cx="117009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3000">
                <a:solidFill>
                  <a:schemeClr val="accent1"/>
                </a:solidFill>
                <a:latin typeface="Montserrat Medium"/>
                <a:ea typeface="Montserrat Medium"/>
                <a:cs typeface="Montserrat Medium"/>
                <a:sym typeface="Montserrat Medium"/>
              </a:rPr>
              <a:t>Giai đoạn 1: Thu thập và xử lý dữ liệu (3</a:t>
            </a:r>
            <a:r>
              <a:rPr lang="en-US" sz="3000">
                <a:solidFill>
                  <a:schemeClr val="accent1"/>
                </a:solidFill>
                <a:latin typeface="Montserrat Medium"/>
                <a:ea typeface="Montserrat Medium"/>
                <a:cs typeface="Montserrat Medium"/>
                <a:sym typeface="Montserrat Medium"/>
              </a:rPr>
              <a:t> tháng)</a:t>
            </a:r>
            <a:endParaRPr sz="3000">
              <a:latin typeface="Montserrat Medium"/>
              <a:ea typeface="Montserrat Medium"/>
              <a:cs typeface="Montserrat Medium"/>
              <a:sym typeface="Montserrat Medium"/>
            </a:endParaRPr>
          </a:p>
        </p:txBody>
      </p:sp>
      <p:sp>
        <p:nvSpPr>
          <p:cNvPr id="230" name="Google Shape;230;g375a3787e2b_0_15"/>
          <p:cNvSpPr txBox="1"/>
          <p:nvPr/>
        </p:nvSpPr>
        <p:spPr>
          <a:xfrm>
            <a:off x="1026000" y="529800"/>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231" name="Google Shape;231;g375a3787e2b_0_15"/>
          <p:cNvSpPr/>
          <p:nvPr/>
        </p:nvSpPr>
        <p:spPr>
          <a:xfrm rot="-1624665">
            <a:off x="13605892" y="-477122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g375a3787e2b_0_15"/>
          <p:cNvSpPr/>
          <p:nvPr/>
        </p:nvSpPr>
        <p:spPr>
          <a:xfrm rot="9479154">
            <a:off x="-1200309" y="813351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t/>
            </a:r>
            <a:endParaRPr sz="3000">
              <a:solidFill>
                <a:schemeClr val="dk1"/>
              </a:solidFill>
              <a:latin typeface="Montserrat Medium"/>
              <a:ea typeface="Montserrat Medium"/>
              <a:cs typeface="Montserrat Medium"/>
              <a:sym typeface="Montserrat Medium"/>
            </a:endParaRPr>
          </a:p>
        </p:txBody>
      </p:sp>
      <p:sp>
        <p:nvSpPr>
          <p:cNvPr id="233" name="Google Shape;233;g375a3787e2b_0_15"/>
          <p:cNvSpPr txBox="1"/>
          <p:nvPr/>
        </p:nvSpPr>
        <p:spPr>
          <a:xfrm>
            <a:off x="952500" y="2201475"/>
            <a:ext cx="15899100" cy="27705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400">
                <a:latin typeface="Montserrat"/>
                <a:ea typeface="Montserrat"/>
                <a:cs typeface="Montserrat"/>
                <a:sym typeface="Montserrat"/>
              </a:rPr>
              <a:t>Mục tiêu của giai đoạn này:</a:t>
            </a:r>
            <a:endParaRPr b="1"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Hiểu rõ các phương pháp điều trị và đánh giá rối loạn ngôn ngữ phát triển– âm lời nói</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Xây dựng bộ dữ liệu đầy đủ:  Thông tin nhân khẩu học, Kết quả đánh giá ngôn ngữ – âm lời nói, Mẫu giọng nói, Chi tiết quy trình điều trị</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rPr b="1" lang="en-US" sz="2400">
                <a:latin typeface="Montserrat"/>
                <a:ea typeface="Montserrat"/>
                <a:cs typeface="Montserrat"/>
                <a:sym typeface="Montserrat"/>
              </a:rPr>
              <a:t>Đối tượng:</a:t>
            </a:r>
            <a:r>
              <a:rPr lang="en-US" sz="2400">
                <a:latin typeface="Montserrat"/>
                <a:ea typeface="Montserrat"/>
                <a:cs typeface="Montserrat"/>
                <a:sym typeface="Montserrat"/>
              </a:rPr>
              <a:t> Trẻ 3–6 tuổi với nhóm trẻ rối loạn ngôn ngữ phát triển và nhóm phát triển bình thường</a:t>
            </a:r>
            <a:endParaRPr sz="2400">
              <a:latin typeface="Montserrat"/>
              <a:ea typeface="Montserrat"/>
              <a:cs typeface="Montserrat"/>
              <a:sym typeface="Montserrat"/>
            </a:endParaRPr>
          </a:p>
        </p:txBody>
      </p:sp>
      <p:graphicFrame>
        <p:nvGraphicFramePr>
          <p:cNvPr id="234" name="Google Shape;234;g375a3787e2b_0_15"/>
          <p:cNvGraphicFramePr/>
          <p:nvPr/>
        </p:nvGraphicFramePr>
        <p:xfrm>
          <a:off x="952500" y="4971975"/>
          <a:ext cx="3000000" cy="3000000"/>
        </p:xfrm>
        <a:graphic>
          <a:graphicData uri="http://schemas.openxmlformats.org/drawingml/2006/table">
            <a:tbl>
              <a:tblPr>
                <a:noFill/>
                <a:tableStyleId>{2574BBB1-0352-4FAC-8113-02A18F34E9BB}</a:tableStyleId>
              </a:tblPr>
              <a:tblGrid>
                <a:gridCol w="8191500"/>
                <a:gridCol w="8191500"/>
              </a:tblGrid>
              <a:tr h="381000">
                <a:tc>
                  <a:txBody>
                    <a:bodyPr/>
                    <a:lstStyle/>
                    <a:p>
                      <a:pPr indent="0" lvl="0" marL="0" rtl="0" algn="ctr">
                        <a:spcBef>
                          <a:spcPts val="0"/>
                        </a:spcBef>
                        <a:spcAft>
                          <a:spcPts val="0"/>
                        </a:spcAft>
                        <a:buNone/>
                      </a:pPr>
                      <a:r>
                        <a:rPr b="1" lang="en-US" sz="2000">
                          <a:latin typeface="Montserrat"/>
                          <a:ea typeface="Montserrat"/>
                          <a:cs typeface="Montserrat"/>
                          <a:sym typeface="Montserrat"/>
                        </a:rPr>
                        <a:t>Nhóm trẻ rối loạn</a:t>
                      </a:r>
                      <a:endParaRPr b="1" sz="2000">
                        <a:latin typeface="Montserrat"/>
                        <a:ea typeface="Montserrat"/>
                        <a:cs typeface="Montserrat"/>
                        <a:sym typeface="Montserrat"/>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Nhóm đối chứng</a:t>
                      </a:r>
                      <a:endParaRPr b="1" sz="2000">
                        <a:latin typeface="Montserrat"/>
                        <a:ea typeface="Montserrat"/>
                        <a:cs typeface="Montserrat"/>
                        <a:sym typeface="Montserrat"/>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000">
                          <a:latin typeface="Montserrat"/>
                          <a:ea typeface="Montserrat"/>
                          <a:cs typeface="Montserrat"/>
                          <a:sym typeface="Montserrat"/>
                        </a:rPr>
                        <a:t>150 bé</a:t>
                      </a:r>
                      <a:endParaRPr sz="2000">
                        <a:latin typeface="Montserrat"/>
                        <a:ea typeface="Montserrat"/>
                        <a:cs typeface="Montserrat"/>
                        <a:sym typeface="Montserrat"/>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latin typeface="Montserrat"/>
                          <a:ea typeface="Montserrat"/>
                          <a:cs typeface="Montserrat"/>
                          <a:sym typeface="Montserrat"/>
                        </a:rPr>
                        <a:t>150 bé</a:t>
                      </a:r>
                      <a:endParaRPr sz="2000">
                        <a:latin typeface="Montserrat"/>
                        <a:ea typeface="Montserrat"/>
                        <a:cs typeface="Montserrat"/>
                        <a:sym typeface="Montserrat"/>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000">
                          <a:latin typeface="Montserrat"/>
                          <a:ea typeface="Montserrat"/>
                          <a:cs typeface="Montserrat"/>
                          <a:sym typeface="Montserrat"/>
                        </a:rPr>
                        <a:t>Được chẩn đoán rối loạn ngôn ngữ phát triển và âm lời nói nói </a:t>
                      </a:r>
                      <a:r>
                        <a:rPr lang="en-US" sz="2000">
                          <a:latin typeface="Montserrat"/>
                          <a:ea typeface="Montserrat"/>
                          <a:cs typeface="Montserrat"/>
                          <a:sym typeface="Montserrat"/>
                        </a:rPr>
                        <a:t>bởi</a:t>
                      </a:r>
                      <a:r>
                        <a:rPr lang="en-US" sz="2000">
                          <a:latin typeface="Montserrat"/>
                          <a:ea typeface="Montserrat"/>
                          <a:cs typeface="Montserrat"/>
                          <a:sym typeface="Montserrat"/>
                        </a:rPr>
                        <a:t> các bác sĩ</a:t>
                      </a:r>
                      <a:endParaRPr sz="2000">
                        <a:latin typeface="Montserrat"/>
                        <a:ea typeface="Montserrat"/>
                        <a:cs typeface="Montserrat"/>
                        <a:sym typeface="Montserrat"/>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latin typeface="Montserrat"/>
                          <a:ea typeface="Montserrat"/>
                          <a:cs typeface="Montserrat"/>
                          <a:sym typeface="Montserrat"/>
                        </a:rPr>
                        <a:t>Phát triển ngôn ngữ bình thường được sàng lọc bởi bác sĩ</a:t>
                      </a:r>
                      <a:endParaRPr sz="2000">
                        <a:latin typeface="Montserrat"/>
                        <a:ea typeface="Montserrat"/>
                        <a:cs typeface="Montserrat"/>
                        <a:sym typeface="Montserrat"/>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000">
                          <a:latin typeface="Montserrat"/>
                          <a:ea typeface="Montserrat"/>
                          <a:cs typeface="Montserrat"/>
                          <a:sym typeface="Montserrat"/>
                        </a:rPr>
                        <a:t>Bệnh viện Nhi đồng ở TP.HCM</a:t>
                      </a:r>
                      <a:endParaRPr sz="2000">
                        <a:latin typeface="Montserrat"/>
                        <a:ea typeface="Montserrat"/>
                        <a:cs typeface="Montserrat"/>
                        <a:sym typeface="Montserrat"/>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latin typeface="Montserrat"/>
                          <a:ea typeface="Montserrat"/>
                          <a:cs typeface="Montserrat"/>
                          <a:sym typeface="Montserrat"/>
                        </a:rPr>
                        <a:t>Lấy mẫu từ các trường mẫu giáo</a:t>
                      </a:r>
                      <a:endParaRPr sz="2000">
                        <a:latin typeface="Montserrat"/>
                        <a:ea typeface="Montserrat"/>
                        <a:cs typeface="Montserrat"/>
                        <a:sym typeface="Montserrat"/>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741772633c_0_7"/>
          <p:cNvSpPr txBox="1"/>
          <p:nvPr/>
        </p:nvSpPr>
        <p:spPr>
          <a:xfrm>
            <a:off x="1026000" y="1376350"/>
            <a:ext cx="162360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3000">
                <a:solidFill>
                  <a:schemeClr val="accent1"/>
                </a:solidFill>
                <a:latin typeface="Montserrat Medium"/>
                <a:ea typeface="Montserrat Medium"/>
                <a:cs typeface="Montserrat Medium"/>
                <a:sym typeface="Montserrat Medium"/>
              </a:rPr>
              <a:t>Giai đoạn 2: </a:t>
            </a:r>
            <a:r>
              <a:rPr lang="en-US" sz="3000">
                <a:solidFill>
                  <a:schemeClr val="accent1"/>
                </a:solidFill>
                <a:latin typeface="Montserrat Medium"/>
                <a:ea typeface="Montserrat Medium"/>
                <a:cs typeface="Montserrat Medium"/>
                <a:sym typeface="Montserrat Medium"/>
              </a:rPr>
              <a:t>Phát triển thiết bị AI và mô hình đánh giá đáp ứng điều trị (12 tháng)</a:t>
            </a:r>
            <a:endParaRPr sz="3000">
              <a:latin typeface="Montserrat Medium"/>
              <a:ea typeface="Montserrat Medium"/>
              <a:cs typeface="Montserrat Medium"/>
              <a:sym typeface="Montserrat Medium"/>
            </a:endParaRPr>
          </a:p>
        </p:txBody>
      </p:sp>
      <p:sp>
        <p:nvSpPr>
          <p:cNvPr id="240" name="Google Shape;240;g3741772633c_0_7"/>
          <p:cNvSpPr txBox="1"/>
          <p:nvPr/>
        </p:nvSpPr>
        <p:spPr>
          <a:xfrm>
            <a:off x="1028700" y="490925"/>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241" name="Google Shape;241;g3741772633c_0_7"/>
          <p:cNvSpPr/>
          <p:nvPr/>
        </p:nvSpPr>
        <p:spPr>
          <a:xfrm rot="-1624665">
            <a:off x="12731142" y="-535437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g3741772633c_0_7"/>
          <p:cNvSpPr/>
          <p:nvPr/>
        </p:nvSpPr>
        <p:spPr>
          <a:xfrm rot="9479154">
            <a:off x="-888734" y="792036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g3741772633c_0_7"/>
          <p:cNvSpPr txBox="1"/>
          <p:nvPr/>
        </p:nvSpPr>
        <p:spPr>
          <a:xfrm>
            <a:off x="9350113" y="8669450"/>
            <a:ext cx="5573700" cy="5694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US" sz="2500">
                <a:solidFill>
                  <a:schemeClr val="dk1"/>
                </a:solidFill>
                <a:latin typeface="Montserrat Medium"/>
                <a:ea typeface="Montserrat Medium"/>
                <a:cs typeface="Montserrat Medium"/>
                <a:sym typeface="Montserrat Medium"/>
              </a:rPr>
              <a:t>Phát triển thiết bị AI </a:t>
            </a:r>
            <a:r>
              <a:rPr lang="en-US" sz="2500">
                <a:solidFill>
                  <a:schemeClr val="dk1"/>
                </a:solidFill>
                <a:latin typeface="Montserrat Medium"/>
                <a:ea typeface="Montserrat Medium"/>
                <a:cs typeface="Montserrat Medium"/>
                <a:sym typeface="Montserrat Medium"/>
              </a:rPr>
              <a:t>proxy</a:t>
            </a:r>
            <a:endParaRPr sz="900"/>
          </a:p>
        </p:txBody>
      </p:sp>
      <p:pic>
        <p:nvPicPr>
          <p:cNvPr id="244" name="Google Shape;244;g3741772633c_0_7"/>
          <p:cNvPicPr preferRelativeResize="0"/>
          <p:nvPr/>
        </p:nvPicPr>
        <p:blipFill>
          <a:blip r:embed="rId4">
            <a:alphaModFix/>
          </a:blip>
          <a:stretch>
            <a:fillRect/>
          </a:stretch>
        </p:blipFill>
        <p:spPr>
          <a:xfrm>
            <a:off x="8891100" y="6653950"/>
            <a:ext cx="6748200" cy="1868950"/>
          </a:xfrm>
          <a:prstGeom prst="rect">
            <a:avLst/>
          </a:prstGeom>
          <a:noFill/>
          <a:ln>
            <a:noFill/>
          </a:ln>
        </p:spPr>
      </p:pic>
      <p:sp>
        <p:nvSpPr>
          <p:cNvPr id="245" name="Google Shape;245;g3741772633c_0_7"/>
          <p:cNvSpPr txBox="1"/>
          <p:nvPr/>
        </p:nvSpPr>
        <p:spPr>
          <a:xfrm>
            <a:off x="1026000" y="1953975"/>
            <a:ext cx="15493500" cy="66495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400">
                <a:latin typeface="Montserrat"/>
                <a:ea typeface="Montserrat"/>
                <a:cs typeface="Montserrat"/>
                <a:sym typeface="Montserrat"/>
              </a:rPr>
              <a:t>Mục tiêu của giai đoạn này:</a:t>
            </a:r>
            <a:endParaRPr b="1"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Thiết kế và triển khai thiết bị AI proxy</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Xây dựng phương pháp đánh giá thích ứng dựa trên IRT</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Phát triển MLLM đa phương thức để mô phỏng phản hồi trẻ</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rPr b="1" lang="en-US" sz="2400">
                <a:latin typeface="Montserrat"/>
                <a:ea typeface="Montserrat"/>
                <a:cs typeface="Montserrat"/>
                <a:sym typeface="Montserrat"/>
              </a:rPr>
              <a:t>Thiết bị AI Proxy:</a:t>
            </a:r>
            <a:endParaRPr b="1"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b="1" lang="en-US" sz="2400">
                <a:latin typeface="Montserrat"/>
                <a:ea typeface="Montserrat"/>
                <a:cs typeface="Montserrat"/>
                <a:sym typeface="Montserrat"/>
              </a:rPr>
              <a:t>Yêu cầu kỹ thuật:</a:t>
            </a:r>
            <a:r>
              <a:rPr lang="en-US" sz="2400">
                <a:latin typeface="Montserrat"/>
                <a:ea typeface="Montserrat"/>
                <a:cs typeface="Montserrat"/>
                <a:sym typeface="Montserrat"/>
              </a:rPr>
              <a:t> Bo mạch tích hợp NVIDIA Jetson Orin ≥ 100 TOPS và kết nối với micro đa hướng &amp; máy tính trị liệu viên qua USB</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b="1" lang="en-US" sz="2400">
                <a:latin typeface="Montserrat"/>
                <a:ea typeface="Montserrat"/>
                <a:cs typeface="Montserrat"/>
                <a:sym typeface="Montserrat"/>
              </a:rPr>
              <a:t>Chức năng: </a:t>
            </a:r>
            <a:r>
              <a:rPr lang="en-US" sz="2400">
                <a:latin typeface="Montserrat"/>
                <a:ea typeface="Montserrat"/>
                <a:cs typeface="Montserrat"/>
                <a:sym typeface="Montserrat"/>
              </a:rPr>
              <a:t>Ra lệnh thu thập speech samples, Mô phỏng phản hồi trẻ và Phân tích kết quả và đề xuất bài tập cá nhân hóa</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732b898f84_0_11"/>
          <p:cNvSpPr txBox="1"/>
          <p:nvPr/>
        </p:nvSpPr>
        <p:spPr>
          <a:xfrm>
            <a:off x="1026000" y="1300125"/>
            <a:ext cx="162360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3000">
                <a:solidFill>
                  <a:schemeClr val="accent1"/>
                </a:solidFill>
                <a:latin typeface="Montserrat Medium"/>
                <a:ea typeface="Montserrat Medium"/>
                <a:cs typeface="Montserrat Medium"/>
                <a:sym typeface="Montserrat Medium"/>
              </a:rPr>
              <a:t>Giai đoạn 2: Phát triển thiết bị AI và mô hình đánh giá đáp ứng điều trị (12 tháng)</a:t>
            </a:r>
            <a:endParaRPr sz="3000">
              <a:latin typeface="Montserrat Medium"/>
              <a:ea typeface="Montserrat Medium"/>
              <a:cs typeface="Montserrat Medium"/>
              <a:sym typeface="Montserrat Medium"/>
            </a:endParaRPr>
          </a:p>
        </p:txBody>
      </p:sp>
      <p:sp>
        <p:nvSpPr>
          <p:cNvPr id="251" name="Google Shape;251;g3732b898f84_0_11"/>
          <p:cNvSpPr txBox="1"/>
          <p:nvPr/>
        </p:nvSpPr>
        <p:spPr>
          <a:xfrm>
            <a:off x="1028700" y="374275"/>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252" name="Google Shape;252;g3732b898f84_0_11"/>
          <p:cNvSpPr/>
          <p:nvPr/>
        </p:nvSpPr>
        <p:spPr>
          <a:xfrm rot="-1624665">
            <a:off x="15627567" y="-434357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g3732b898f84_0_11"/>
          <p:cNvSpPr/>
          <p:nvPr/>
        </p:nvSpPr>
        <p:spPr>
          <a:xfrm rot="9479154">
            <a:off x="-752659" y="638471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g3732b898f84_0_11"/>
          <p:cNvSpPr txBox="1"/>
          <p:nvPr/>
        </p:nvSpPr>
        <p:spPr>
          <a:xfrm>
            <a:off x="1026000" y="1918175"/>
            <a:ext cx="15493500" cy="66495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400">
                <a:latin typeface="Montserrat"/>
                <a:ea typeface="Montserrat"/>
                <a:cs typeface="Montserrat"/>
                <a:sym typeface="Montserrat"/>
              </a:rPr>
              <a:t>2. Phân tích Item Response Theory (IRT)</a:t>
            </a:r>
            <a:endParaRPr b="1"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b="1" i="1" lang="en-US" sz="2400">
                <a:latin typeface="Montserrat"/>
                <a:ea typeface="Montserrat"/>
                <a:cs typeface="Montserrat"/>
                <a:sym typeface="Montserrat"/>
              </a:rPr>
              <a:t>Mục tiêu: </a:t>
            </a:r>
            <a:r>
              <a:rPr lang="en-US" sz="2400">
                <a:latin typeface="Montserrat"/>
                <a:ea typeface="Montserrat"/>
                <a:cs typeface="Montserrat"/>
                <a:sym typeface="Montserrat"/>
              </a:rPr>
              <a:t>Đánh giá độ khó, khả năng phân biệt, hệ số đoán của từng câu hỏi/bài tập</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b="1" lang="en-US" sz="2400">
                <a:latin typeface="Montserrat"/>
                <a:ea typeface="Montserrat"/>
                <a:cs typeface="Montserrat"/>
                <a:sym typeface="Montserrat"/>
              </a:rPr>
              <a:t>Quy trình:</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Phân tích các câu hỏi đánh giá và phản hồi của trẻ từ bộ đề và bài tập thu thập được ở GĐ1, sử dụng Lý thuyết Đáp ứng Món (Item Response Theory – IRT).</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Xác định độ khó và mức độ phù hợp của từng câu hỏi/bài tập, bao gồm: </a:t>
            </a:r>
            <a:endParaRPr sz="2400">
              <a:latin typeface="Montserrat"/>
              <a:ea typeface="Montserrat"/>
              <a:cs typeface="Montserrat"/>
              <a:sym typeface="Montserrat"/>
            </a:endParaRPr>
          </a:p>
          <a:p>
            <a:pPr indent="-381000" lvl="2" marL="13716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Chỉ số phân biệt câu hỏi</a:t>
            </a:r>
            <a:endParaRPr sz="2400">
              <a:latin typeface="Montserrat"/>
              <a:ea typeface="Montserrat"/>
              <a:cs typeface="Montserrat"/>
              <a:sym typeface="Montserrat"/>
            </a:endParaRPr>
          </a:p>
          <a:p>
            <a:pPr indent="-381000" lvl="2" marL="13716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Hệ số đoán (guessing) </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Tối ưu hóa quy trình đánh giá trong các giai đoạn tiếp theo.</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732b898f84_0_21"/>
          <p:cNvSpPr txBox="1"/>
          <p:nvPr/>
        </p:nvSpPr>
        <p:spPr>
          <a:xfrm>
            <a:off x="1026000" y="1492975"/>
            <a:ext cx="162360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3000">
                <a:solidFill>
                  <a:schemeClr val="accent1"/>
                </a:solidFill>
                <a:latin typeface="Montserrat Medium"/>
                <a:ea typeface="Montserrat Medium"/>
                <a:cs typeface="Montserrat Medium"/>
                <a:sym typeface="Montserrat Medium"/>
              </a:rPr>
              <a:t>Giai đoạn 2: Phát triển thiết bị AI và mô hình đánh giá đáp ứng điều trị (12 tháng)</a:t>
            </a:r>
            <a:endParaRPr sz="3000">
              <a:latin typeface="Montserrat Medium"/>
              <a:ea typeface="Montserrat Medium"/>
              <a:cs typeface="Montserrat Medium"/>
              <a:sym typeface="Montserrat Medium"/>
            </a:endParaRPr>
          </a:p>
        </p:txBody>
      </p:sp>
      <p:sp>
        <p:nvSpPr>
          <p:cNvPr id="260" name="Google Shape;260;g3732b898f84_0_21"/>
          <p:cNvSpPr txBox="1"/>
          <p:nvPr/>
        </p:nvSpPr>
        <p:spPr>
          <a:xfrm>
            <a:off x="1026000" y="471475"/>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261" name="Google Shape;261;g3732b898f84_0_21"/>
          <p:cNvSpPr/>
          <p:nvPr/>
        </p:nvSpPr>
        <p:spPr>
          <a:xfrm rot="-1624665">
            <a:off x="15005492" y="-465457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g3732b898f84_0_21"/>
          <p:cNvSpPr/>
          <p:nvPr/>
        </p:nvSpPr>
        <p:spPr>
          <a:xfrm rot="9479154">
            <a:off x="-888734" y="792036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g3732b898f84_0_21"/>
          <p:cNvSpPr txBox="1"/>
          <p:nvPr/>
        </p:nvSpPr>
        <p:spPr>
          <a:xfrm>
            <a:off x="1026000" y="1954675"/>
            <a:ext cx="15493500" cy="66495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400">
                <a:latin typeface="Montserrat"/>
                <a:ea typeface="Montserrat"/>
                <a:cs typeface="Montserrat"/>
                <a:sym typeface="Montserrat"/>
              </a:rPr>
              <a:t>3. Xây dựng phương pháp đánh giá thích ứng (adaptive assessment)</a:t>
            </a:r>
            <a:endParaRPr b="1"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b="1" i="1" lang="en-US" sz="2400">
                <a:latin typeface="Montserrat"/>
                <a:ea typeface="Montserrat"/>
                <a:cs typeface="Montserrat"/>
                <a:sym typeface="Montserrat"/>
              </a:rPr>
              <a:t>Ý tưởng:</a:t>
            </a:r>
            <a:endParaRPr b="1" i="1"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Dựa trên phản hồi (đúng/sai, thời gian, chất lượng speech) để chọn câu hỏi tiếp theo</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Phương pháp này sẽ phân tích dữ liệu hành vi và kết quả thực hiện dựa trên lý thuyết đo lường.</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Áp dụng các kỹ thuật như IRT để tối đa hóa thông tin Fisher trong tâm lý đo lường.</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b="1" i="1" lang="en-US" sz="2400">
                <a:latin typeface="Montserrat"/>
                <a:ea typeface="Montserrat"/>
                <a:cs typeface="Montserrat"/>
                <a:sym typeface="Montserrat"/>
              </a:rPr>
              <a:t>Triển khai</a:t>
            </a:r>
            <a:r>
              <a:rPr b="1" lang="en-US" sz="2400">
                <a:latin typeface="Montserrat"/>
                <a:ea typeface="Montserrat"/>
                <a:cs typeface="Montserrat"/>
                <a:sym typeface="Montserrat"/>
              </a:rPr>
              <a:t>:</a:t>
            </a:r>
            <a:endParaRPr b="1"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Tích hợp vào phần mềm cho trị liệu viên</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App di động cho trẻ: tự động sinh bài tập phù hợp</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732b898f84_0_29"/>
          <p:cNvSpPr txBox="1"/>
          <p:nvPr/>
        </p:nvSpPr>
        <p:spPr>
          <a:xfrm>
            <a:off x="1026000" y="1512425"/>
            <a:ext cx="162360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3000">
                <a:solidFill>
                  <a:schemeClr val="accent1"/>
                </a:solidFill>
                <a:latin typeface="Montserrat Medium"/>
                <a:ea typeface="Montserrat Medium"/>
                <a:cs typeface="Montserrat Medium"/>
                <a:sym typeface="Montserrat Medium"/>
              </a:rPr>
              <a:t>Giai đoạn 2: Phát triển thiết bị AI và mô hình đánh giá đáp ứng điều trị (12 tháng)</a:t>
            </a:r>
            <a:endParaRPr sz="3000">
              <a:latin typeface="Montserrat Medium"/>
              <a:ea typeface="Montserrat Medium"/>
              <a:cs typeface="Montserrat Medium"/>
              <a:sym typeface="Montserrat Medium"/>
            </a:endParaRPr>
          </a:p>
        </p:txBody>
      </p:sp>
      <p:sp>
        <p:nvSpPr>
          <p:cNvPr id="269" name="Google Shape;269;g3732b898f84_0_29"/>
          <p:cNvSpPr txBox="1"/>
          <p:nvPr/>
        </p:nvSpPr>
        <p:spPr>
          <a:xfrm>
            <a:off x="1026000" y="490925"/>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270" name="Google Shape;270;g3732b898f84_0_29"/>
          <p:cNvSpPr/>
          <p:nvPr/>
        </p:nvSpPr>
        <p:spPr>
          <a:xfrm rot="-1624665">
            <a:off x="14986017" y="-451852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3732b898f84_0_29"/>
          <p:cNvSpPr/>
          <p:nvPr/>
        </p:nvSpPr>
        <p:spPr>
          <a:xfrm rot="9479154">
            <a:off x="-888734" y="792036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g3732b898f84_0_29"/>
          <p:cNvSpPr txBox="1"/>
          <p:nvPr/>
        </p:nvSpPr>
        <p:spPr>
          <a:xfrm>
            <a:off x="1026000" y="1974125"/>
            <a:ext cx="15493500" cy="72036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400">
                <a:latin typeface="Montserrat"/>
                <a:ea typeface="Montserrat"/>
                <a:cs typeface="Montserrat"/>
                <a:sym typeface="Montserrat"/>
              </a:rPr>
              <a:t>4. Phát triển mô hình ngôn ngữ lớn đa phương thức (Multimodal LLM – MLLM) kết hợp cả dữ liệu giọng nói và văn bản</a:t>
            </a:r>
            <a:endParaRPr b="1"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b="1" i="1" lang="en-US" sz="2400">
                <a:latin typeface="Montserrat"/>
                <a:ea typeface="Montserrat"/>
                <a:cs typeface="Montserrat"/>
                <a:sym typeface="Montserrat"/>
              </a:rPr>
              <a:t>Mục tiêu</a:t>
            </a:r>
            <a:r>
              <a:rPr b="1" i="1" lang="en-US" sz="2400">
                <a:latin typeface="Montserrat"/>
                <a:ea typeface="Montserrat"/>
                <a:cs typeface="Montserrat"/>
                <a:sym typeface="Montserrat"/>
              </a:rPr>
              <a:t>: </a:t>
            </a:r>
            <a:r>
              <a:rPr lang="en-US" sz="2400">
                <a:latin typeface="Montserrat"/>
                <a:ea typeface="Montserrat"/>
                <a:cs typeface="Montserrat"/>
                <a:sym typeface="Montserrat"/>
              </a:rPr>
              <a:t>Mô phỏng phản hồi trẻ (văn bản + giọng nói) theo lịch sử câu hỏi–phản hồi</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b="1" i="1" lang="en-US" sz="2400">
                <a:latin typeface="Montserrat"/>
                <a:ea typeface="Montserrat"/>
                <a:cs typeface="Montserrat"/>
                <a:sym typeface="Montserrat"/>
              </a:rPr>
              <a:t>Đặc điểm kỹ thuật:</a:t>
            </a:r>
            <a:endParaRPr b="1" i="1"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Input: </a:t>
            </a:r>
            <a:r>
              <a:rPr lang="en-US" sz="2400">
                <a:latin typeface="Montserrat"/>
                <a:ea typeface="Montserrat"/>
                <a:cs typeface="Montserrat"/>
                <a:sym typeface="Montserrat"/>
                <a:extLst>
                  <a:ext uri="http://customooxmlschemas.google.com/">
                    <go:slidesCustomData xmlns:go="http://customooxmlschemas.google.com/" textRoundtripDataId="0"/>
                  </a:ext>
                </a:extLst>
              </a:rPr>
              <a:t>history QA + speech samples</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Output: lời nói và văn bản</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b="1" i="1" lang="en-US" sz="2400">
                <a:latin typeface="Montserrat"/>
                <a:ea typeface="Montserrat"/>
                <a:cs typeface="Montserrat"/>
                <a:sym typeface="Montserrat"/>
              </a:rPr>
              <a:t>Quy trình </a:t>
            </a:r>
            <a:r>
              <a:rPr b="1" i="1" lang="en-US" sz="2400">
                <a:latin typeface="Montserrat"/>
                <a:ea typeface="Montserrat"/>
                <a:cs typeface="Montserrat"/>
                <a:sym typeface="Montserrat"/>
              </a:rPr>
              <a:t>huấn luyện</a:t>
            </a:r>
            <a:r>
              <a:rPr b="1" i="1" lang="en-US" sz="2400">
                <a:latin typeface="Montserrat"/>
                <a:ea typeface="Montserrat"/>
                <a:cs typeface="Montserrat"/>
                <a:sym typeface="Montserrat"/>
              </a:rPr>
              <a:t>:</a:t>
            </a:r>
            <a:endParaRPr b="1" i="1"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Dữ liệu từ giai đoạn 1</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Fine-tune trên tập</a:t>
            </a:r>
            <a:r>
              <a:rPr lang="en-US" sz="2400">
                <a:latin typeface="Montserrat"/>
                <a:ea typeface="Montserrat"/>
                <a:cs typeface="Montserrat"/>
                <a:sym typeface="Montserrat"/>
                <a:extLst>
                  <a:ext uri="http://customooxmlschemas.google.com/">
                    <go:slidesCustomData xmlns:go="http://customooxmlschemas.google.com/" textRoundtripDataId="1"/>
                  </a:ext>
                </a:extLst>
              </a:rPr>
              <a:t> annotated with clinician labels</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Đánh giá chất lượng</a:t>
            </a:r>
            <a:r>
              <a:rPr lang="en-US" sz="2400">
                <a:latin typeface="Montserrat"/>
                <a:ea typeface="Montserrat"/>
                <a:cs typeface="Montserrat"/>
                <a:sym typeface="Montserrat"/>
                <a:extLst>
                  <a:ext uri="http://customooxmlschemas.google.com/">
                    <go:slidesCustomData xmlns:go="http://customooxmlschemas.google.com/" textRoundtripDataId="2"/>
                  </a:ext>
                </a:extLst>
              </a:rPr>
              <a:t> v</a:t>
            </a:r>
            <a:r>
              <a:rPr lang="en-US" sz="2400">
                <a:latin typeface="Montserrat"/>
                <a:ea typeface="Montserrat"/>
                <a:cs typeface="Montserrat"/>
                <a:sym typeface="Montserrat"/>
              </a:rPr>
              <a:t>ới </a:t>
            </a:r>
            <a:r>
              <a:rPr lang="en-US" sz="2400">
                <a:latin typeface="Montserrat"/>
                <a:ea typeface="Montserrat"/>
                <a:cs typeface="Montserrat"/>
                <a:sym typeface="Montserrat"/>
              </a:rPr>
              <a:t>chuyên gia</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732b898f84_0_37"/>
          <p:cNvSpPr txBox="1"/>
          <p:nvPr/>
        </p:nvSpPr>
        <p:spPr>
          <a:xfrm>
            <a:off x="1028700" y="1544550"/>
            <a:ext cx="208239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3000">
                <a:solidFill>
                  <a:schemeClr val="accent1"/>
                </a:solidFill>
                <a:latin typeface="Montserrat Medium"/>
                <a:ea typeface="Montserrat Medium"/>
                <a:cs typeface="Montserrat Medium"/>
                <a:sym typeface="Montserrat Medium"/>
              </a:rPr>
              <a:t>Giai đoạn 3: </a:t>
            </a:r>
            <a:r>
              <a:rPr lang="en-US" sz="3000">
                <a:solidFill>
                  <a:schemeClr val="accent1"/>
                </a:solidFill>
                <a:latin typeface="Montserrat Medium"/>
                <a:ea typeface="Montserrat Medium"/>
                <a:cs typeface="Montserrat Medium"/>
                <a:sym typeface="Montserrat Medium"/>
              </a:rPr>
              <a:t>Phát triển phương pháp cá nhân hóa điều trị và ứng dụng </a:t>
            </a:r>
            <a:r>
              <a:rPr lang="en-US" sz="3000">
                <a:solidFill>
                  <a:schemeClr val="accent1"/>
                </a:solidFill>
                <a:latin typeface="Montserrat Medium"/>
                <a:ea typeface="Montserrat Medium"/>
                <a:cs typeface="Montserrat Medium"/>
                <a:sym typeface="Montserrat Medium"/>
              </a:rPr>
              <a:t>(12 tháng)</a:t>
            </a:r>
            <a:endParaRPr sz="3000">
              <a:latin typeface="Montserrat Medium"/>
              <a:ea typeface="Montserrat Medium"/>
              <a:cs typeface="Montserrat Medium"/>
              <a:sym typeface="Montserrat Medium"/>
            </a:endParaRPr>
          </a:p>
        </p:txBody>
      </p:sp>
      <p:sp>
        <p:nvSpPr>
          <p:cNvPr id="278" name="Google Shape;278;g3732b898f84_0_37"/>
          <p:cNvSpPr txBox="1"/>
          <p:nvPr/>
        </p:nvSpPr>
        <p:spPr>
          <a:xfrm>
            <a:off x="1028700" y="523050"/>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279" name="Google Shape;279;g3732b898f84_0_37"/>
          <p:cNvSpPr/>
          <p:nvPr/>
        </p:nvSpPr>
        <p:spPr>
          <a:xfrm rot="-1624665">
            <a:off x="14966617" y="-463517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g3732b898f84_0_37"/>
          <p:cNvSpPr/>
          <p:nvPr/>
        </p:nvSpPr>
        <p:spPr>
          <a:xfrm rot="9479154">
            <a:off x="-888734" y="792036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g3732b898f84_0_37"/>
          <p:cNvSpPr txBox="1"/>
          <p:nvPr/>
        </p:nvSpPr>
        <p:spPr>
          <a:xfrm>
            <a:off x="1028700" y="2006250"/>
            <a:ext cx="16625100" cy="9420000"/>
          </a:xfrm>
          <a:prstGeom prst="rect">
            <a:avLst/>
          </a:prstGeom>
          <a:noFill/>
          <a:ln>
            <a:noFill/>
          </a:ln>
        </p:spPr>
        <p:txBody>
          <a:bodyPr anchorCtr="0" anchor="t" bIns="91425" lIns="91425" spcFirstLastPara="1" rIns="91425" wrap="square" tIns="91425">
            <a:spAutoFit/>
          </a:bodyPr>
          <a:lstStyle/>
          <a:p>
            <a:pPr indent="-381000" lvl="0" marL="457200" rtl="0" algn="just">
              <a:lnSpc>
                <a:spcPct val="150000"/>
              </a:lnSpc>
              <a:spcBef>
                <a:spcPts val="0"/>
              </a:spcBef>
              <a:spcAft>
                <a:spcPts val="0"/>
              </a:spcAft>
              <a:buSzPts val="2400"/>
              <a:buFont typeface="Montserrat"/>
              <a:buAutoNum type="arabicPeriod"/>
            </a:pPr>
            <a:r>
              <a:rPr b="1" lang="en-US" sz="2400">
                <a:latin typeface="Montserrat"/>
                <a:ea typeface="Montserrat"/>
                <a:cs typeface="Montserrat"/>
                <a:sym typeface="Montserrat"/>
              </a:rPr>
              <a:t>Xây dựng phương pháp cá nhân hoá kế hoạch điều trị</a:t>
            </a:r>
            <a:endParaRPr b="1"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b="1" i="1" lang="en-US" sz="2400">
                <a:latin typeface="Montserrat"/>
                <a:ea typeface="Montserrat"/>
                <a:cs typeface="Montserrat"/>
                <a:sym typeface="Montserrat"/>
              </a:rPr>
              <a:t>Mục tiêu:</a:t>
            </a:r>
            <a:r>
              <a:rPr i="1" lang="en-US" sz="2400">
                <a:latin typeface="Montserrat"/>
                <a:ea typeface="Montserrat"/>
                <a:cs typeface="Montserrat"/>
                <a:sym typeface="Montserrat"/>
              </a:rPr>
              <a:t> </a:t>
            </a:r>
            <a:r>
              <a:rPr lang="en-US" sz="2400">
                <a:latin typeface="Montserrat"/>
                <a:ea typeface="Montserrat"/>
                <a:cs typeface="Montserrat"/>
                <a:sym typeface="Montserrat"/>
              </a:rPr>
              <a:t>Xây dựng chiến lược tinh chỉnh mô hình mô phỏng chun</a:t>
            </a:r>
            <a:r>
              <a:rPr lang="en-US" sz="2400">
                <a:latin typeface="Montserrat"/>
                <a:ea typeface="Montserrat"/>
                <a:cs typeface="Montserrat"/>
                <a:sym typeface="Montserrat"/>
              </a:rPr>
              <a:t>g ở GĐ</a:t>
            </a:r>
            <a:r>
              <a:rPr lang="en-US" sz="2400">
                <a:latin typeface="Montserrat"/>
                <a:ea typeface="Montserrat"/>
                <a:cs typeface="Montserrat"/>
                <a:sym typeface="Montserrat"/>
              </a:rPr>
              <a:t> 2 cho từng cá nhân.</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b="1" i="1" lang="en-US" sz="2400">
                <a:latin typeface="Montserrat"/>
                <a:ea typeface="Montserrat"/>
                <a:cs typeface="Montserrat"/>
                <a:sym typeface="Montserrat"/>
              </a:rPr>
              <a:t>Đặc điểm kỹ thuật</a:t>
            </a:r>
            <a:r>
              <a:rPr b="1" i="1" lang="en-US" sz="2400">
                <a:latin typeface="Montserrat"/>
                <a:ea typeface="Montserrat"/>
                <a:cs typeface="Montserrat"/>
                <a:sym typeface="Montserrat"/>
              </a:rPr>
              <a:t>:</a:t>
            </a:r>
            <a:endParaRPr b="1" i="1"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Dữ liệu đầu vào: phản hồi ngôn ngữ và/hoặc giọng nói của trẻ</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Fine-tune một phần nhỏ của MLLM bằng kỹ thuật transfer learning (ví dụ: Low-rank Adaptation)</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Thực hiện cục bộ trên thiết bị AI proxy (&lt;5 phút)</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b="1" i="1" lang="en-US" sz="2400">
                <a:latin typeface="Montserrat"/>
                <a:ea typeface="Montserrat"/>
                <a:cs typeface="Montserrat"/>
                <a:sym typeface="Montserrat"/>
              </a:rPr>
              <a:t>Quy trình </a:t>
            </a:r>
            <a:r>
              <a:rPr b="1" i="1" lang="en-US" sz="2400">
                <a:latin typeface="Montserrat"/>
                <a:ea typeface="Montserrat"/>
                <a:cs typeface="Montserrat"/>
                <a:sym typeface="Montserrat"/>
              </a:rPr>
              <a:t>thực hiện</a:t>
            </a:r>
            <a:r>
              <a:rPr b="1" i="1" lang="en-US" sz="2400">
                <a:latin typeface="Montserrat"/>
                <a:ea typeface="Montserrat"/>
                <a:cs typeface="Montserrat"/>
                <a:sym typeface="Montserrat"/>
              </a:rPr>
              <a:t>:</a:t>
            </a:r>
            <a:endParaRPr b="1" i="1"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extLst>
                  <a:ext uri="http://customooxmlschemas.google.com/">
                    <go:slidesCustomData xmlns:go="http://customooxmlschemas.google.com/" textRoundtripDataId="3"/>
                  </a:ext>
                </a:extLst>
              </a:rPr>
              <a:t>Tinh chỉnh mô hình MLLM cho cá nhân mỗi bé</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Phát triển phương pháp tối ưu hóa dựa trên kết quả phân tích câu hỏi theo IRT để xây dựng kế hoạch điều trị tối ưu, hướng tới tối đa hóa tiến bộ ngôn ngữ–âm lời nói.</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Tích hợp phương pháp đánh giá thích ứng vào quy trình, định kỳ đánh giá trẻ mỗi lần thăm khám.</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Xây dựng phương pháp đề xuất bài tập tại nhà dựa trên kiến thức chuyên môn và tiến trình của trẻ, đồng thời dùng IRT để vừa luyện tập vừa đánh giá tiến bộ song song.</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So sánh pipeline cá nhân hoá với liệu pháp truyền thống</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732b898f84_0_45"/>
          <p:cNvSpPr txBox="1"/>
          <p:nvPr/>
        </p:nvSpPr>
        <p:spPr>
          <a:xfrm>
            <a:off x="1028700" y="1667925"/>
            <a:ext cx="208239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3000">
                <a:solidFill>
                  <a:schemeClr val="accent1"/>
                </a:solidFill>
                <a:latin typeface="Montserrat Medium"/>
                <a:ea typeface="Montserrat Medium"/>
                <a:cs typeface="Montserrat Medium"/>
                <a:sym typeface="Montserrat Medium"/>
              </a:rPr>
              <a:t>Giai đoạn 3: Phát triển phương pháp cá nhân hóa điều trị và ứng dụng (12 tháng)</a:t>
            </a:r>
            <a:endParaRPr sz="3000">
              <a:latin typeface="Montserrat Medium"/>
              <a:ea typeface="Montserrat Medium"/>
              <a:cs typeface="Montserrat Medium"/>
              <a:sym typeface="Montserrat Medium"/>
            </a:endParaRPr>
          </a:p>
        </p:txBody>
      </p:sp>
      <p:sp>
        <p:nvSpPr>
          <p:cNvPr id="287" name="Google Shape;287;g3732b898f84_0_45"/>
          <p:cNvSpPr txBox="1"/>
          <p:nvPr/>
        </p:nvSpPr>
        <p:spPr>
          <a:xfrm>
            <a:off x="1028700" y="646425"/>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288" name="Google Shape;288;g3732b898f84_0_45"/>
          <p:cNvSpPr/>
          <p:nvPr/>
        </p:nvSpPr>
        <p:spPr>
          <a:xfrm rot="-1624665">
            <a:off x="14325142" y="-4810099"/>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g3732b898f84_0_45"/>
          <p:cNvSpPr/>
          <p:nvPr/>
        </p:nvSpPr>
        <p:spPr>
          <a:xfrm rot="9479154">
            <a:off x="-888734" y="792036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g3732b898f84_0_45"/>
          <p:cNvSpPr txBox="1"/>
          <p:nvPr/>
        </p:nvSpPr>
        <p:spPr>
          <a:xfrm>
            <a:off x="1028700" y="2129625"/>
            <a:ext cx="15493500" cy="6095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400">
                <a:latin typeface="Montserrat"/>
                <a:ea typeface="Montserrat"/>
                <a:cs typeface="Montserrat"/>
                <a:sym typeface="Montserrat"/>
              </a:rPr>
              <a:t>2. Hoàn thiện phương pháp</a:t>
            </a:r>
            <a:endParaRPr b="1"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b="1" i="1" lang="en-US" sz="2400">
                <a:latin typeface="Montserrat"/>
                <a:ea typeface="Montserrat"/>
                <a:cs typeface="Montserrat"/>
                <a:sym typeface="Montserrat"/>
              </a:rPr>
              <a:t>Mục tiêu: </a:t>
            </a:r>
            <a:r>
              <a:rPr lang="en-US" sz="2400">
                <a:latin typeface="Montserrat"/>
                <a:ea typeface="Montserrat"/>
                <a:cs typeface="Montserrat"/>
                <a:sym typeface="Montserrat"/>
              </a:rPr>
              <a:t>Hoàn thiện cả hai phương pháp tối ưu hó</a:t>
            </a:r>
            <a:r>
              <a:rPr lang="en-US" sz="2400">
                <a:latin typeface="Montserrat"/>
                <a:ea typeface="Montserrat"/>
                <a:cs typeface="Montserrat"/>
                <a:sym typeface="Montserrat"/>
              </a:rPr>
              <a:t>a và đánh giá</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i="1" lang="en-US" sz="2400">
                <a:latin typeface="Montserrat"/>
                <a:ea typeface="Montserrat"/>
                <a:cs typeface="Montserrat"/>
                <a:sym typeface="Montserrat"/>
              </a:rPr>
              <a:t>Hoàn thiện tối ưu hóa (dựa trên quá trình tinh chỉnh trên): </a:t>
            </a:r>
            <a:r>
              <a:rPr lang="en-US" sz="2400">
                <a:latin typeface="Montserrat"/>
                <a:ea typeface="Montserrat"/>
                <a:cs typeface="Montserrat"/>
                <a:sym typeface="Montserrat"/>
              </a:rPr>
              <a:t>Điều chỉnh mục tiêu, thời gian, tham số theo feedback</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i="1" lang="en-US" sz="2400">
                <a:latin typeface="Montserrat"/>
                <a:ea typeface="Montserrat"/>
                <a:cs typeface="Montserrat"/>
                <a:sym typeface="Montserrat"/>
                <a:extLst>
                  <a:ext uri="http://customooxmlschemas.google.com/">
                    <go:slidesCustomData xmlns:go="http://customooxmlschemas.google.com/" textRoundtripDataId="4"/>
                  </a:ext>
                </a:extLst>
              </a:rPr>
              <a:t>Hoàn thiện đánh giá (Dựa trên phản hồi của chuyên gia ngôn ngữ trị liệu, điều chỉnh)</a:t>
            </a:r>
            <a:endParaRPr i="1"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Số lượng câu hỏi tối thiểu</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Yếu tố xác định mức độ rối loạn</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Độ toàn diện của chỉ số đánh giá</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3732b898f84_0_53"/>
          <p:cNvSpPr txBox="1"/>
          <p:nvPr/>
        </p:nvSpPr>
        <p:spPr>
          <a:xfrm>
            <a:off x="1048150" y="1648475"/>
            <a:ext cx="208239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3000">
                <a:solidFill>
                  <a:schemeClr val="accent1"/>
                </a:solidFill>
                <a:latin typeface="Montserrat Medium"/>
                <a:ea typeface="Montserrat Medium"/>
                <a:cs typeface="Montserrat Medium"/>
                <a:sym typeface="Montserrat Medium"/>
              </a:rPr>
              <a:t>Giai đoạn 3: Phát triển phương pháp cá nhân hóa điều trị và ứng dụng (12 tháng)</a:t>
            </a:r>
            <a:endParaRPr sz="3000">
              <a:latin typeface="Montserrat Medium"/>
              <a:ea typeface="Montserrat Medium"/>
              <a:cs typeface="Montserrat Medium"/>
              <a:sym typeface="Montserrat Medium"/>
            </a:endParaRPr>
          </a:p>
        </p:txBody>
      </p:sp>
      <p:sp>
        <p:nvSpPr>
          <p:cNvPr id="296" name="Google Shape;296;g3732b898f84_0_53"/>
          <p:cNvSpPr txBox="1"/>
          <p:nvPr/>
        </p:nvSpPr>
        <p:spPr>
          <a:xfrm>
            <a:off x="1048150" y="626975"/>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297" name="Google Shape;297;g3732b898f84_0_53"/>
          <p:cNvSpPr/>
          <p:nvPr/>
        </p:nvSpPr>
        <p:spPr>
          <a:xfrm rot="-1624665">
            <a:off x="14577817" y="-4732349"/>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g3732b898f84_0_53"/>
          <p:cNvSpPr/>
          <p:nvPr/>
        </p:nvSpPr>
        <p:spPr>
          <a:xfrm rot="9479154">
            <a:off x="-888734" y="792036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3732b898f84_0_53"/>
          <p:cNvSpPr txBox="1"/>
          <p:nvPr/>
        </p:nvSpPr>
        <p:spPr>
          <a:xfrm>
            <a:off x="1048150" y="2110175"/>
            <a:ext cx="15493500" cy="2216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400">
                <a:latin typeface="Montserrat"/>
                <a:ea typeface="Montserrat"/>
                <a:cs typeface="Montserrat"/>
                <a:sym typeface="Montserrat"/>
              </a:rPr>
              <a:t>3. Phát triển ứng dụng cho trị liệu viên và gia đình trẻ em </a:t>
            </a:r>
            <a:endParaRPr b="1"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t/>
            </a:r>
            <a:endParaRPr sz="2400">
              <a:latin typeface="Montserrat"/>
              <a:ea typeface="Montserrat"/>
              <a:cs typeface="Montserrat"/>
              <a:sym typeface="Montserrat"/>
            </a:endParaRPr>
          </a:p>
        </p:txBody>
      </p:sp>
      <p:graphicFrame>
        <p:nvGraphicFramePr>
          <p:cNvPr id="300" name="Google Shape;300;g3732b898f84_0_53"/>
          <p:cNvGraphicFramePr/>
          <p:nvPr/>
        </p:nvGraphicFramePr>
        <p:xfrm>
          <a:off x="971950" y="3257925"/>
          <a:ext cx="3000000" cy="3000000"/>
        </p:xfrm>
        <a:graphic>
          <a:graphicData uri="http://schemas.openxmlformats.org/drawingml/2006/table">
            <a:tbl>
              <a:tblPr>
                <a:noFill/>
                <a:tableStyleId>{2574BBB1-0352-4FAC-8113-02A18F34E9BB}</a:tableStyleId>
              </a:tblPr>
              <a:tblGrid>
                <a:gridCol w="3006500"/>
                <a:gridCol w="6651600"/>
                <a:gridCol w="6724900"/>
              </a:tblGrid>
              <a:tr h="381000">
                <a:tc>
                  <a:txBody>
                    <a:bodyPr/>
                    <a:lstStyle/>
                    <a:p>
                      <a:pPr indent="0" lvl="0" marL="0" rtl="0" algn="l">
                        <a:spcBef>
                          <a:spcPts val="0"/>
                        </a:spcBef>
                        <a:spcAft>
                          <a:spcPts val="0"/>
                        </a:spcAft>
                        <a:buNone/>
                      </a:pPr>
                      <a:r>
                        <a:t/>
                      </a:r>
                      <a:endParaRPr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US" sz="2400">
                          <a:latin typeface="Montserrat"/>
                          <a:ea typeface="Montserrat"/>
                          <a:cs typeface="Montserrat"/>
                          <a:sym typeface="Montserrat"/>
                        </a:rPr>
                        <a:t>Ứng dụng cho trị liệu viên</a:t>
                      </a:r>
                      <a:endParaRPr b="1"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b="1" lang="en-US" sz="2400">
                          <a:latin typeface="Montserrat"/>
                          <a:ea typeface="Montserrat"/>
                          <a:cs typeface="Montserrat"/>
                          <a:sym typeface="Montserrat"/>
                        </a:rPr>
                        <a:t>Ứng dụng di động cho trẻ &amp; phụ huynh</a:t>
                      </a:r>
                      <a:endParaRPr b="1" sz="2400">
                        <a:latin typeface="Montserrat"/>
                        <a:ea typeface="Montserrat"/>
                        <a:cs typeface="Montserrat"/>
                        <a:sym typeface="Montserrat"/>
                      </a:endParaRPr>
                    </a:p>
                  </a:txBody>
                  <a:tcPr marT="91425" marB="91425" marR="91425" marL="91425">
                    <a:lnR cap="flat" cmpd="sng" w="9525">
                      <a:solidFill>
                        <a:srgbClr val="9E9E9E"/>
                      </a:solidFill>
                      <a:prstDash val="solid"/>
                      <a:round/>
                      <a:headEnd len="sm" w="sm" type="none"/>
                      <a:tailEnd len="sm" w="sm" type="none"/>
                    </a:lnR>
                  </a:tcPr>
                </a:tc>
              </a:tr>
              <a:tr h="381000">
                <a:tc>
                  <a:txBody>
                    <a:bodyPr/>
                    <a:lstStyle/>
                    <a:p>
                      <a:pPr indent="0" lvl="0" marL="0" rtl="0" algn="l">
                        <a:spcBef>
                          <a:spcPts val="0"/>
                        </a:spcBef>
                        <a:spcAft>
                          <a:spcPts val="0"/>
                        </a:spcAft>
                        <a:buNone/>
                      </a:pPr>
                      <a:r>
                        <a:rPr b="1" lang="en-US" sz="2400">
                          <a:latin typeface="Montserrat"/>
                          <a:ea typeface="Montserrat"/>
                          <a:cs typeface="Montserrat"/>
                          <a:sym typeface="Montserrat"/>
                        </a:rPr>
                        <a:t>Tính năng </a:t>
                      </a:r>
                      <a:endParaRPr b="1"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 Đánh giá adaptive &amp; cá nhân hoá</a:t>
                      </a:r>
                      <a:endParaRPr sz="2400">
                        <a:latin typeface="Montserrat"/>
                        <a:ea typeface="Montserrat"/>
                        <a:cs typeface="Montserrat"/>
                        <a:sym typeface="Montserrat"/>
                      </a:endParaRPr>
                    </a:p>
                    <a:p>
                      <a:pPr indent="0" lvl="0" marL="0" rtl="0" algn="l">
                        <a:spcBef>
                          <a:spcPts val="0"/>
                        </a:spcBef>
                        <a:spcAft>
                          <a:spcPts val="0"/>
                        </a:spcAft>
                        <a:buNone/>
                      </a:pPr>
                      <a:r>
                        <a:rPr lang="en-US" sz="2400">
                          <a:latin typeface="Montserrat"/>
                          <a:ea typeface="Montserrat"/>
                          <a:cs typeface="Montserrat"/>
                          <a:sym typeface="Montserrat"/>
                        </a:rPr>
                        <a:t>- Sinh kế hoạch điều trị tối ưu (IRT + MLLM)</a:t>
                      </a:r>
                      <a:endParaRPr sz="2400">
                        <a:latin typeface="Montserrat"/>
                        <a:ea typeface="Montserrat"/>
                        <a:cs typeface="Montserrat"/>
                        <a:sym typeface="Montserrat"/>
                      </a:endParaRPr>
                    </a:p>
                    <a:p>
                      <a:pPr indent="0" lvl="0" marL="0" rtl="0" algn="l">
                        <a:spcBef>
                          <a:spcPts val="0"/>
                        </a:spcBef>
                        <a:spcAft>
                          <a:spcPts val="0"/>
                        </a:spcAft>
                        <a:buNone/>
                      </a:pPr>
                      <a:r>
                        <a:rPr lang="en-US" sz="2400">
                          <a:latin typeface="Montserrat"/>
                          <a:ea typeface="Montserrat"/>
                          <a:cs typeface="Montserrat"/>
                          <a:sym typeface="Montserrat"/>
                        </a:rPr>
                        <a:t>- Cho phép review &amp; chỉnh sửa trước khi finalize</a:t>
                      </a:r>
                      <a:endParaRPr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 Tự động sinh bài tập cá nhân hoá tại nhà</a:t>
                      </a:r>
                      <a:endParaRPr sz="2400">
                        <a:latin typeface="Montserrat"/>
                        <a:ea typeface="Montserrat"/>
                        <a:cs typeface="Montserrat"/>
                        <a:sym typeface="Montserrat"/>
                      </a:endParaRPr>
                    </a:p>
                    <a:p>
                      <a:pPr indent="0" lvl="0" marL="0" rtl="0" algn="l">
                        <a:spcBef>
                          <a:spcPts val="0"/>
                        </a:spcBef>
                        <a:spcAft>
                          <a:spcPts val="0"/>
                        </a:spcAft>
                        <a:buNone/>
                      </a:pPr>
                      <a:r>
                        <a:rPr lang="en-US" sz="2400">
                          <a:latin typeface="Montserrat"/>
                          <a:ea typeface="Montserrat"/>
                          <a:cs typeface="Montserrat"/>
                          <a:sym typeface="Montserrat"/>
                        </a:rPr>
                        <a:t>- Theo dõi tiến trình &amp; nhắc nhở luyện tập</a:t>
                      </a:r>
                      <a:endParaRPr sz="2400">
                        <a:latin typeface="Montserrat"/>
                        <a:ea typeface="Montserrat"/>
                        <a:cs typeface="Montserrat"/>
                        <a:sym typeface="Montserrat"/>
                      </a:endParaRPr>
                    </a:p>
                    <a:p>
                      <a:pPr indent="0" lvl="0" marL="0" rtl="0" algn="l">
                        <a:spcBef>
                          <a:spcPts val="0"/>
                        </a:spcBef>
                        <a:spcAft>
                          <a:spcPts val="0"/>
                        </a:spcAft>
                        <a:buNone/>
                      </a:pPr>
                      <a:r>
                        <a:rPr lang="en-US" sz="2400">
                          <a:latin typeface="Montserrat"/>
                          <a:ea typeface="Montserrat"/>
                          <a:cs typeface="Montserrat"/>
                          <a:sym typeface="Montserrat"/>
                        </a:rPr>
                        <a:t>- Báo cáo tóm tắt gửi chuyên viên trị liệu.</a:t>
                      </a:r>
                      <a:endParaRPr sz="2400">
                        <a:latin typeface="Montserrat"/>
                        <a:ea typeface="Montserrat"/>
                        <a:cs typeface="Montserrat"/>
                        <a:sym typeface="Montserrat"/>
                      </a:endParaRPr>
                    </a:p>
                  </a:txBody>
                  <a:tcPr marT="91425" marB="91425" marR="91425" marL="91425">
                    <a:lnR cap="flat" cmpd="sng" w="9525">
                      <a:solidFill>
                        <a:srgbClr val="9E9E9E"/>
                      </a:solidFill>
                      <a:prstDash val="solid"/>
                      <a:round/>
                      <a:headEnd len="sm" w="sm" type="none"/>
                      <a:tailEnd len="sm" w="sm" type="none"/>
                    </a:lnR>
                  </a:tcPr>
                </a:tc>
              </a:tr>
              <a:tr h="381000">
                <a:tc>
                  <a:txBody>
                    <a:bodyPr/>
                    <a:lstStyle/>
                    <a:p>
                      <a:pPr indent="0" lvl="0" marL="0" rtl="0" algn="l">
                        <a:spcBef>
                          <a:spcPts val="0"/>
                        </a:spcBef>
                        <a:spcAft>
                          <a:spcPts val="0"/>
                        </a:spcAft>
                        <a:buNone/>
                      </a:pPr>
                      <a:r>
                        <a:rPr b="1" lang="en-US" sz="2400">
                          <a:latin typeface="Montserrat"/>
                          <a:ea typeface="Montserrat"/>
                          <a:cs typeface="Montserrat"/>
                          <a:sym typeface="Montserrat"/>
                        </a:rPr>
                        <a:t>Giao diện</a:t>
                      </a:r>
                      <a:endParaRPr b="1"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 Dashboard kết quả đánh giá</a:t>
                      </a:r>
                      <a:endParaRPr sz="2400">
                        <a:latin typeface="Montserrat"/>
                        <a:ea typeface="Montserrat"/>
                        <a:cs typeface="Montserrat"/>
                        <a:sym typeface="Montserrat"/>
                      </a:endParaRPr>
                    </a:p>
                    <a:p>
                      <a:pPr indent="0" lvl="0" marL="0" rtl="0" algn="l">
                        <a:spcBef>
                          <a:spcPts val="0"/>
                        </a:spcBef>
                        <a:spcAft>
                          <a:spcPts val="0"/>
                        </a:spcAft>
                        <a:buNone/>
                      </a:pPr>
                      <a:r>
                        <a:rPr lang="en-US" sz="2400">
                          <a:latin typeface="Montserrat"/>
                          <a:ea typeface="Montserrat"/>
                          <a:cs typeface="Montserrat"/>
                          <a:sym typeface="Montserrat"/>
                        </a:rPr>
                        <a:t>- Gợi ý bài tập &amp; lộ trình cá nhân hoá</a:t>
                      </a:r>
                      <a:endParaRPr sz="2400">
                        <a:latin typeface="Montserrat"/>
                        <a:ea typeface="Montserrat"/>
                        <a:cs typeface="Montserrat"/>
                        <a:sym typeface="Montserrat"/>
                      </a:endParaRPr>
                    </a:p>
                  </a:txBody>
                  <a:tcPr marT="91425" marB="91425" marR="91425" marL="91425"/>
                </a:tc>
                <a:tc>
                  <a:txBody>
                    <a:bodyPr/>
                    <a:lstStyle/>
                    <a:p>
                      <a:pPr indent="-381000" lvl="0" marL="457200" rtl="0" algn="l">
                        <a:spcBef>
                          <a:spcPts val="0"/>
                        </a:spcBef>
                        <a:spcAft>
                          <a:spcPts val="0"/>
                        </a:spcAft>
                        <a:buSzPts val="2400"/>
                        <a:buFont typeface="Montserrat"/>
                        <a:buChar char="-"/>
                      </a:pPr>
                      <a:r>
                        <a:rPr lang="en-US" sz="2400">
                          <a:latin typeface="Montserrat"/>
                          <a:ea typeface="Montserrat"/>
                          <a:cs typeface="Montserrat"/>
                          <a:sym typeface="Montserrat"/>
                        </a:rPr>
                        <a:t>Giao diện thân thiện và phù hợp cho trẻ </a:t>
                      </a:r>
                      <a:endParaRPr sz="2400">
                        <a:latin typeface="Montserrat"/>
                        <a:ea typeface="Montserrat"/>
                        <a:cs typeface="Montserrat"/>
                        <a:sym typeface="Montserrat"/>
                      </a:endParaRPr>
                    </a:p>
                    <a:p>
                      <a:pPr indent="-381000" lvl="0" marL="457200" rtl="0" algn="l">
                        <a:spcBef>
                          <a:spcPts val="0"/>
                        </a:spcBef>
                        <a:spcAft>
                          <a:spcPts val="0"/>
                        </a:spcAft>
                        <a:buSzPts val="2400"/>
                        <a:buFont typeface="Montserrat"/>
                        <a:buChar char="-"/>
                      </a:pPr>
                      <a:r>
                        <a:rPr lang="en-US" sz="2400">
                          <a:latin typeface="Montserrat"/>
                          <a:ea typeface="Montserrat"/>
                          <a:cs typeface="Montserrat"/>
                          <a:sym typeface="Montserrat"/>
                        </a:rPr>
                        <a:t>Nhận kế hoạch từ cloud</a:t>
                      </a:r>
                      <a:endParaRPr sz="2400">
                        <a:latin typeface="Montserrat"/>
                        <a:ea typeface="Montserrat"/>
                        <a:cs typeface="Montserrat"/>
                        <a:sym typeface="Montserrat"/>
                      </a:endParaRPr>
                    </a:p>
                  </a:txBody>
                  <a:tcPr marT="91425" marB="91425" marR="91425" marL="91425">
                    <a:lnR cap="flat" cmpd="sng" w="9525">
                      <a:solidFill>
                        <a:srgbClr val="9E9E9E"/>
                      </a:solidFill>
                      <a:prstDash val="solid"/>
                      <a:round/>
                      <a:headEnd len="sm" w="sm" type="none"/>
                      <a:tailEnd len="sm" w="sm" type="none"/>
                    </a:lnR>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732b898f84_0_62"/>
          <p:cNvSpPr txBox="1"/>
          <p:nvPr/>
        </p:nvSpPr>
        <p:spPr>
          <a:xfrm>
            <a:off x="989825" y="1629050"/>
            <a:ext cx="208239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3000">
                <a:solidFill>
                  <a:schemeClr val="accent1"/>
                </a:solidFill>
                <a:latin typeface="Montserrat Medium"/>
                <a:ea typeface="Montserrat Medium"/>
                <a:cs typeface="Montserrat Medium"/>
                <a:sym typeface="Montserrat Medium"/>
              </a:rPr>
              <a:t>Giai đoạn </a:t>
            </a:r>
            <a:r>
              <a:rPr lang="en-US" sz="3000">
                <a:solidFill>
                  <a:schemeClr val="accent1"/>
                </a:solidFill>
                <a:latin typeface="Montserrat Medium"/>
                <a:ea typeface="Montserrat Medium"/>
                <a:cs typeface="Montserrat Medium"/>
                <a:sym typeface="Montserrat Medium"/>
              </a:rPr>
              <a:t>4</a:t>
            </a:r>
            <a:r>
              <a:rPr lang="en-US" sz="3000">
                <a:solidFill>
                  <a:schemeClr val="accent1"/>
                </a:solidFill>
                <a:latin typeface="Montserrat Medium"/>
                <a:ea typeface="Montserrat Medium"/>
                <a:cs typeface="Montserrat Medium"/>
                <a:sym typeface="Montserrat Medium"/>
              </a:rPr>
              <a:t>: </a:t>
            </a:r>
            <a:r>
              <a:rPr lang="en-US" sz="3000">
                <a:solidFill>
                  <a:schemeClr val="accent1"/>
                </a:solidFill>
                <a:latin typeface="Montserrat Medium"/>
                <a:ea typeface="Montserrat Medium"/>
                <a:cs typeface="Montserrat Medium"/>
                <a:sym typeface="Montserrat Medium"/>
              </a:rPr>
              <a:t>Triển khai lâm sàng và đánh giá hiệu quả (9 tháng)</a:t>
            </a:r>
            <a:endParaRPr sz="3000">
              <a:latin typeface="Montserrat Medium"/>
              <a:ea typeface="Montserrat Medium"/>
              <a:cs typeface="Montserrat Medium"/>
              <a:sym typeface="Montserrat Medium"/>
            </a:endParaRPr>
          </a:p>
        </p:txBody>
      </p:sp>
      <p:sp>
        <p:nvSpPr>
          <p:cNvPr id="306" name="Google Shape;306;g3732b898f84_0_62"/>
          <p:cNvSpPr txBox="1"/>
          <p:nvPr/>
        </p:nvSpPr>
        <p:spPr>
          <a:xfrm>
            <a:off x="989825" y="607550"/>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III. Nội dung và phương pháp thực hiện</a:t>
            </a:r>
            <a:endParaRPr b="1" sz="5000">
              <a:solidFill>
                <a:srgbClr val="004AAD"/>
              </a:solidFill>
              <a:latin typeface="Montserrat"/>
              <a:ea typeface="Montserrat"/>
              <a:cs typeface="Montserrat"/>
              <a:sym typeface="Montserrat"/>
            </a:endParaRPr>
          </a:p>
        </p:txBody>
      </p:sp>
      <p:sp>
        <p:nvSpPr>
          <p:cNvPr id="307" name="Google Shape;307;g3732b898f84_0_62"/>
          <p:cNvSpPr/>
          <p:nvPr/>
        </p:nvSpPr>
        <p:spPr>
          <a:xfrm rot="-1624665">
            <a:off x="13605892" y="-477122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g3732b898f84_0_62"/>
          <p:cNvSpPr/>
          <p:nvPr/>
        </p:nvSpPr>
        <p:spPr>
          <a:xfrm rot="9479154">
            <a:off x="-888734" y="792036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g3732b898f84_0_62"/>
          <p:cNvSpPr txBox="1"/>
          <p:nvPr/>
        </p:nvSpPr>
        <p:spPr>
          <a:xfrm>
            <a:off x="989825" y="2090750"/>
            <a:ext cx="15493500" cy="77577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i="1" lang="en-US" sz="2400">
                <a:latin typeface="Montserrat"/>
                <a:ea typeface="Montserrat"/>
                <a:cs typeface="Montserrat"/>
                <a:sym typeface="Montserrat"/>
              </a:rPr>
              <a:t>Mục tiêu:</a:t>
            </a:r>
            <a:r>
              <a:rPr b="1" lang="en-US" sz="2400">
                <a:latin typeface="Montserrat"/>
                <a:ea typeface="Montserrat"/>
                <a:cs typeface="Montserrat"/>
                <a:sym typeface="Montserrat"/>
              </a:rPr>
              <a:t> </a:t>
            </a:r>
            <a:r>
              <a:rPr lang="en-US" sz="2400">
                <a:latin typeface="Montserrat"/>
                <a:ea typeface="Montserrat"/>
                <a:cs typeface="Montserrat"/>
                <a:sym typeface="Montserrat"/>
              </a:rPr>
              <a:t>Đánh giá hiệu quả hệ thống AI-driven trong môi trường lâm sàng so với phương pháp truyền thống</a:t>
            </a:r>
            <a:endParaRPr sz="2400">
              <a:latin typeface="Montserrat"/>
              <a:ea typeface="Montserrat"/>
              <a:cs typeface="Montserrat"/>
              <a:sym typeface="Montserrat"/>
            </a:endParaRPr>
          </a:p>
          <a:p>
            <a:pPr indent="0" lvl="0" marL="0" rtl="0" algn="just">
              <a:lnSpc>
                <a:spcPct val="150000"/>
              </a:lnSpc>
              <a:spcBef>
                <a:spcPts val="0"/>
              </a:spcBef>
              <a:spcAft>
                <a:spcPts val="0"/>
              </a:spcAft>
              <a:buNone/>
            </a:pPr>
            <a:r>
              <a:rPr b="1" i="1" lang="en-US" sz="2400">
                <a:latin typeface="Montserrat"/>
                <a:ea typeface="Montserrat"/>
                <a:cs typeface="Montserrat"/>
                <a:sym typeface="Montserrat"/>
              </a:rPr>
              <a:t>Quy trình:</a:t>
            </a:r>
            <a:endParaRPr b="1" i="1"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Tiến hành nghiên cứu so sánh giữa hai nhóm trẻ mắc rối loạn ngôn ngữ–âm lời nói phát triển được chẩn đoán bởi bác sĩ:</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Nhóm 1 sử dụng phương pháp trị liệu truyền thống</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Nhóm 2 sử dụng hệ thống cá nhân hóa do AI đề xuất</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Các chỉ số đánh giá: thời gian điều trị, tỷ lệ cải thiện và khối lượng công việc của chuyên gia trị liệu</a:t>
            </a:r>
            <a:endParaRPr sz="2400">
              <a:latin typeface="Montserrat"/>
              <a:ea typeface="Montserrat"/>
              <a:cs typeface="Montserrat"/>
              <a:sym typeface="Montserrat"/>
            </a:endParaRPr>
          </a:p>
          <a:p>
            <a:pPr indent="-381000" lvl="1" marL="9144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Phương pháp thống kê:  Kiểm định t, ANOVA </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Hoàn thiện các phương pháp đánh giá và cá nhân hóa dựa trên phản hồi cùng dữ liệu thực tế.</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Char char="●"/>
            </a:pPr>
            <a:r>
              <a:rPr lang="en-US" sz="2400">
                <a:latin typeface="Montserrat"/>
                <a:ea typeface="Montserrat"/>
                <a:cs typeface="Montserrat"/>
                <a:sym typeface="Montserrat"/>
              </a:rPr>
              <a:t>Phản hồi định tính từ chuyên gia trị liệu và phụ huynh sẽ được phân tích theo chủ đề để xác định các điểm mạnh và những khía cạnh cần cải thiện.</a:t>
            </a:r>
            <a:endParaRPr sz="2400">
              <a:latin typeface="Montserrat"/>
              <a:ea typeface="Montserrat"/>
              <a:cs typeface="Montserrat"/>
              <a:sym typeface="Montserrat"/>
            </a:endParaRPr>
          </a:p>
          <a:p>
            <a:pPr indent="0" lvl="0" marL="457200" rtl="0" algn="just">
              <a:lnSpc>
                <a:spcPct val="150000"/>
              </a:lnSpc>
              <a:spcBef>
                <a:spcPts val="0"/>
              </a:spcBef>
              <a:spcAft>
                <a:spcPts val="0"/>
              </a:spcAft>
              <a:buNone/>
            </a:pPr>
            <a:r>
              <a:t/>
            </a:r>
            <a:endParaRPr sz="2400">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7403fed8d6_0_36"/>
          <p:cNvSpPr txBox="1"/>
          <p:nvPr/>
        </p:nvSpPr>
        <p:spPr>
          <a:xfrm>
            <a:off x="1009275" y="665875"/>
            <a:ext cx="14290500" cy="153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I</a:t>
            </a:r>
            <a:r>
              <a:rPr b="1" lang="en-US" sz="5000">
                <a:solidFill>
                  <a:srgbClr val="004AAD"/>
                </a:solidFill>
                <a:latin typeface="Montserrat"/>
                <a:ea typeface="Montserrat"/>
                <a:cs typeface="Montserrat"/>
                <a:sym typeface="Montserrat"/>
              </a:rPr>
              <a:t>V. Tính mới, tính sáng tạo và ý nghĩa </a:t>
            </a:r>
            <a:endParaRPr b="1" sz="5000">
              <a:solidFill>
                <a:srgbClr val="004AAD"/>
              </a:solidFill>
              <a:latin typeface="Montserrat"/>
              <a:ea typeface="Montserrat"/>
              <a:cs typeface="Montserrat"/>
              <a:sym typeface="Montserrat"/>
            </a:endParaRPr>
          </a:p>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khoa học của nghiên cứu</a:t>
            </a:r>
            <a:endParaRPr b="1" sz="5000">
              <a:solidFill>
                <a:srgbClr val="004AAD"/>
              </a:solidFill>
              <a:latin typeface="Montserrat"/>
              <a:ea typeface="Montserrat"/>
              <a:cs typeface="Montserrat"/>
              <a:sym typeface="Montserrat"/>
            </a:endParaRPr>
          </a:p>
        </p:txBody>
      </p:sp>
      <p:sp>
        <p:nvSpPr>
          <p:cNvPr id="315" name="Google Shape;315;g37403fed8d6_0_36"/>
          <p:cNvSpPr/>
          <p:nvPr/>
        </p:nvSpPr>
        <p:spPr>
          <a:xfrm rot="-1624665">
            <a:off x="12663242" y="-4410599"/>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g37403fed8d6_0_36"/>
          <p:cNvSpPr/>
          <p:nvPr/>
        </p:nvSpPr>
        <p:spPr>
          <a:xfrm rot="9479154">
            <a:off x="-1282234" y="8438286"/>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g37403fed8d6_0_36"/>
          <p:cNvSpPr txBox="1"/>
          <p:nvPr/>
        </p:nvSpPr>
        <p:spPr>
          <a:xfrm>
            <a:off x="1009275" y="2333275"/>
            <a:ext cx="15493500" cy="6649500"/>
          </a:xfrm>
          <a:prstGeom prst="rect">
            <a:avLst/>
          </a:prstGeom>
          <a:noFill/>
          <a:ln>
            <a:noFill/>
          </a:ln>
        </p:spPr>
        <p:txBody>
          <a:bodyPr anchorCtr="0" anchor="t" bIns="91425" lIns="91425" spcFirstLastPara="1" rIns="91425" wrap="square" tIns="91425">
            <a:spAutoFit/>
          </a:bodyPr>
          <a:lstStyle/>
          <a:p>
            <a:pPr indent="-381000" lvl="0" marL="457200" rtl="0" algn="just">
              <a:lnSpc>
                <a:spcPct val="150000"/>
              </a:lnSpc>
              <a:spcBef>
                <a:spcPts val="0"/>
              </a:spcBef>
              <a:spcAft>
                <a:spcPts val="0"/>
              </a:spcAft>
              <a:buSzPts val="2400"/>
              <a:buFont typeface="Montserrat"/>
              <a:buAutoNum type="arabicPeriod"/>
            </a:pPr>
            <a:r>
              <a:rPr b="1" lang="en-US" sz="2400">
                <a:latin typeface="Montserrat"/>
                <a:ea typeface="Montserrat"/>
                <a:cs typeface="Montserrat"/>
                <a:sym typeface="Montserrat"/>
              </a:rPr>
              <a:t>Thiết bị AI proxy cho triển khai mô hình hiệu quả: </a:t>
            </a:r>
            <a:r>
              <a:rPr lang="en-US" sz="2400">
                <a:latin typeface="Montserrat"/>
                <a:ea typeface="Montserrat"/>
                <a:cs typeface="Montserrat"/>
                <a:sym typeface="Montserrat"/>
              </a:rPr>
              <a:t>Thiết bị này cho phép</a:t>
            </a:r>
            <a:r>
              <a:rPr b="1" lang="en-US" sz="2400">
                <a:latin typeface="Montserrat"/>
                <a:ea typeface="Montserrat"/>
                <a:cs typeface="Montserrat"/>
                <a:sym typeface="Montserrat"/>
              </a:rPr>
              <a:t> triển khai cục bộ các kỹ thuật AI</a:t>
            </a:r>
            <a:r>
              <a:rPr lang="en-US" sz="2400">
                <a:latin typeface="Montserrat"/>
                <a:ea typeface="Montserrat"/>
                <a:cs typeface="Montserrat"/>
                <a:sym typeface="Montserrat"/>
              </a:rPr>
              <a:t>, thúc đẩy khả năng triển khai quy mô lớn cho giải pháp của chúng ta.</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AutoNum type="arabicPeriod"/>
            </a:pPr>
            <a:r>
              <a:rPr b="1" lang="en-US" sz="2400">
                <a:latin typeface="Montserrat"/>
                <a:ea typeface="Montserrat"/>
                <a:cs typeface="Montserrat"/>
                <a:sym typeface="Montserrat"/>
              </a:rPr>
              <a:t>Mô hình ngôn ngữ đa phương thức:</a:t>
            </a:r>
            <a:r>
              <a:rPr lang="en-US" sz="2400">
                <a:latin typeface="Montserrat"/>
                <a:ea typeface="Montserrat"/>
                <a:cs typeface="Montserrat"/>
                <a:sym typeface="Montserrat"/>
              </a:rPr>
              <a:t> Mô hình kết hợp dữ liệu</a:t>
            </a:r>
            <a:r>
              <a:rPr b="1" lang="en-US" sz="2400">
                <a:latin typeface="Montserrat"/>
                <a:ea typeface="Montserrat"/>
                <a:cs typeface="Montserrat"/>
                <a:sym typeface="Montserrat"/>
              </a:rPr>
              <a:t> giọng nói và văn bản làm đầu vào</a:t>
            </a:r>
            <a:r>
              <a:rPr lang="en-US" sz="2400">
                <a:latin typeface="Montserrat"/>
                <a:ea typeface="Montserrat"/>
                <a:cs typeface="Montserrat"/>
                <a:sym typeface="Montserrat"/>
              </a:rPr>
              <a:t> </a:t>
            </a:r>
            <a:r>
              <a:rPr b="1" lang="en-US" sz="2400">
                <a:latin typeface="Montserrat"/>
                <a:ea typeface="Montserrat"/>
                <a:cs typeface="Montserrat"/>
                <a:sym typeface="Montserrat"/>
              </a:rPr>
              <a:t>– đầu ra </a:t>
            </a:r>
            <a:r>
              <a:rPr lang="en-US" sz="2400">
                <a:latin typeface="Montserrat"/>
                <a:ea typeface="Montserrat"/>
                <a:cs typeface="Montserrat"/>
                <a:sym typeface="Montserrat"/>
              </a:rPr>
              <a:t>để mô phỏng trẻ em trong quá trình trị liệu, từ đó </a:t>
            </a:r>
            <a:r>
              <a:rPr b="1" lang="en-US" sz="2400">
                <a:latin typeface="Montserrat"/>
                <a:ea typeface="Montserrat"/>
                <a:cs typeface="Montserrat"/>
                <a:sym typeface="Montserrat"/>
              </a:rPr>
              <a:t>lập kế hoạch điều trị cá nhân hóa chính xác</a:t>
            </a:r>
            <a:r>
              <a:rPr lang="en-US" sz="2400">
                <a:latin typeface="Montserrat"/>
                <a:ea typeface="Montserrat"/>
                <a:cs typeface="Montserrat"/>
                <a:sym typeface="Montserrat"/>
              </a:rPr>
              <a:t> hơn.</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AutoNum type="arabicPeriod"/>
            </a:pPr>
            <a:r>
              <a:rPr b="1" lang="en-US" sz="2400">
                <a:latin typeface="Montserrat"/>
                <a:ea typeface="Montserrat"/>
                <a:cs typeface="Montserrat"/>
                <a:sym typeface="Montserrat"/>
              </a:rPr>
              <a:t>Đánh giá thích ứng sử dụng IRT</a:t>
            </a:r>
            <a:r>
              <a:rPr lang="en-US" sz="2400">
                <a:latin typeface="Montserrat"/>
                <a:ea typeface="Montserrat"/>
                <a:cs typeface="Montserrat"/>
                <a:sym typeface="Montserrat"/>
              </a:rPr>
              <a:t>: Kỹ thuật này làm cho quy trình đánh giá hiệu quả hơn, </a:t>
            </a:r>
            <a:r>
              <a:rPr b="1" lang="en-US" sz="2400">
                <a:latin typeface="Montserrat"/>
                <a:ea typeface="Montserrat"/>
                <a:cs typeface="Montserrat"/>
                <a:sym typeface="Montserrat"/>
              </a:rPr>
              <a:t>giảm thời gian thực hiện và tải công việc cho chuyên gia trị liệu</a:t>
            </a:r>
            <a:r>
              <a:rPr lang="en-US" sz="2400">
                <a:latin typeface="Montserrat"/>
                <a:ea typeface="Montserrat"/>
                <a:cs typeface="Montserrat"/>
                <a:sym typeface="Montserrat"/>
              </a:rPr>
              <a:t>.</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AutoNum type="arabicPeriod"/>
            </a:pPr>
            <a:r>
              <a:rPr b="1" lang="en-US" sz="2400">
                <a:latin typeface="Montserrat"/>
                <a:ea typeface="Montserrat"/>
                <a:cs typeface="Montserrat"/>
                <a:sym typeface="Montserrat"/>
              </a:rPr>
              <a:t>Kế hoạch điều trị cá nhân hóa với kỹ thuật ra quyết định không tham vọng (nonmyopic)</a:t>
            </a:r>
            <a:r>
              <a:rPr lang="en-US" sz="2400">
                <a:latin typeface="Montserrat"/>
                <a:ea typeface="Montserrat"/>
                <a:cs typeface="Montserrat"/>
                <a:sym typeface="Montserrat"/>
              </a:rPr>
              <a:t>: Tối ưu hóa </a:t>
            </a:r>
            <a:r>
              <a:rPr b="1" lang="en-US" sz="2400">
                <a:latin typeface="Montserrat"/>
                <a:ea typeface="Montserrat"/>
                <a:cs typeface="Montserrat"/>
                <a:sym typeface="Montserrat"/>
              </a:rPr>
              <a:t>kết quả điều trị dài hạn</a:t>
            </a:r>
            <a:r>
              <a:rPr lang="en-US" sz="2400">
                <a:latin typeface="Montserrat"/>
                <a:ea typeface="Montserrat"/>
                <a:cs typeface="Montserrat"/>
                <a:sym typeface="Montserrat"/>
              </a:rPr>
              <a:t>, đảm bảo can thiệp hiệu quả và tiết kiệm thời gian.</a:t>
            </a:r>
            <a:endParaRPr sz="2400">
              <a:latin typeface="Montserrat"/>
              <a:ea typeface="Montserrat"/>
              <a:cs typeface="Montserrat"/>
              <a:sym typeface="Montserrat"/>
            </a:endParaRPr>
          </a:p>
          <a:p>
            <a:pPr indent="-381000" lvl="0" marL="457200" rtl="0" algn="just">
              <a:lnSpc>
                <a:spcPct val="150000"/>
              </a:lnSpc>
              <a:spcBef>
                <a:spcPts val="0"/>
              </a:spcBef>
              <a:spcAft>
                <a:spcPts val="0"/>
              </a:spcAft>
              <a:buSzPts val="2400"/>
              <a:buFont typeface="Montserrat"/>
              <a:buAutoNum type="arabicPeriod"/>
            </a:pPr>
            <a:r>
              <a:rPr b="1" lang="en-US" sz="2400">
                <a:latin typeface="Montserrat"/>
                <a:ea typeface="Montserrat"/>
                <a:cs typeface="Montserrat"/>
                <a:sym typeface="Montserrat"/>
              </a:rPr>
              <a:t>Bài tập cá nhân hóa tại nhà</a:t>
            </a:r>
            <a:r>
              <a:rPr lang="en-US" sz="2400">
                <a:latin typeface="Montserrat"/>
                <a:ea typeface="Montserrat"/>
                <a:cs typeface="Montserrat"/>
                <a:sym typeface="Montserrat"/>
              </a:rPr>
              <a:t>: Nhờ phương pháp này, </a:t>
            </a:r>
            <a:r>
              <a:rPr b="1" lang="en-US" sz="2400">
                <a:latin typeface="Montserrat"/>
                <a:ea typeface="Montserrat"/>
                <a:cs typeface="Montserrat"/>
                <a:sym typeface="Montserrat"/>
              </a:rPr>
              <a:t>tần suất thăm khám lâm sàng có thể giảm trong khi vẫn đảm bảo cải thiện liên tục ở trẻ</a:t>
            </a:r>
            <a:r>
              <a:rPr lang="en-US" sz="2400">
                <a:latin typeface="Montserrat"/>
                <a:ea typeface="Montserrat"/>
                <a:cs typeface="Montserrat"/>
                <a:sym typeface="Montserrat"/>
              </a:rPr>
              <a:t>. Điều này giúp tiết kiệm thời gian và chi phí cho mỗi lần thăm khám, đồng thời giảm tải cho chuyên gia.</a:t>
            </a:r>
            <a:endParaRPr sz="2400">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34518552875_0_37"/>
          <p:cNvSpPr txBox="1"/>
          <p:nvPr/>
        </p:nvSpPr>
        <p:spPr>
          <a:xfrm>
            <a:off x="952500" y="617575"/>
            <a:ext cx="14290500" cy="153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V. Năng lực của nhóm nghiên cứu và cơ sở vật chất của tổ chức chủ trì dự án</a:t>
            </a:r>
            <a:endParaRPr b="1" sz="5000">
              <a:solidFill>
                <a:srgbClr val="004AAD"/>
              </a:solidFill>
              <a:latin typeface="Montserrat"/>
              <a:ea typeface="Montserrat"/>
              <a:cs typeface="Montserrat"/>
              <a:sym typeface="Montserrat"/>
            </a:endParaRPr>
          </a:p>
        </p:txBody>
      </p:sp>
      <p:sp>
        <p:nvSpPr>
          <p:cNvPr id="323" name="Google Shape;323;g34518552875_0_37"/>
          <p:cNvSpPr/>
          <p:nvPr/>
        </p:nvSpPr>
        <p:spPr>
          <a:xfrm rot="-1624665">
            <a:off x="14930442" y="-4890299"/>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34518552875_0_37"/>
          <p:cNvSpPr/>
          <p:nvPr/>
        </p:nvSpPr>
        <p:spPr>
          <a:xfrm rot="9479154">
            <a:off x="-1148459" y="8492236"/>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325" name="Google Shape;325;g34518552875_0_37"/>
          <p:cNvGraphicFramePr/>
          <p:nvPr/>
        </p:nvGraphicFramePr>
        <p:xfrm>
          <a:off x="952500" y="2565075"/>
          <a:ext cx="3000000" cy="3000000"/>
        </p:xfrm>
        <a:graphic>
          <a:graphicData uri="http://schemas.openxmlformats.org/drawingml/2006/table">
            <a:tbl>
              <a:tblPr>
                <a:noFill/>
                <a:tableStyleId>{2574BBB1-0352-4FAC-8113-02A18F34E9BB}</a:tableStyleId>
              </a:tblPr>
              <a:tblGrid>
                <a:gridCol w="5224050"/>
                <a:gridCol w="8973325"/>
                <a:gridCol w="2185625"/>
              </a:tblGrid>
              <a:tr h="381000">
                <a:tc>
                  <a:txBody>
                    <a:bodyPr/>
                    <a:lstStyle/>
                    <a:p>
                      <a:pPr indent="0" lvl="0" marL="0" rtl="0" algn="ctr">
                        <a:spcBef>
                          <a:spcPts val="0"/>
                        </a:spcBef>
                        <a:spcAft>
                          <a:spcPts val="0"/>
                        </a:spcAft>
                        <a:buNone/>
                      </a:pPr>
                      <a:r>
                        <a:rPr b="1" lang="en-US" sz="2400">
                          <a:latin typeface="Montserrat"/>
                          <a:ea typeface="Montserrat"/>
                          <a:cs typeface="Montserrat"/>
                          <a:sym typeface="Montserrat"/>
                        </a:rPr>
                        <a:t>Thành viên</a:t>
                      </a:r>
                      <a:endParaRPr b="1" sz="24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US" sz="2400">
                          <a:latin typeface="Montserrat"/>
                          <a:ea typeface="Montserrat"/>
                          <a:cs typeface="Montserrat"/>
                          <a:sym typeface="Montserrat"/>
                        </a:rPr>
                        <a:t>Năng lực</a:t>
                      </a:r>
                      <a:endParaRPr b="1" sz="24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US" sz="2400">
                          <a:latin typeface="Montserrat"/>
                          <a:ea typeface="Montserrat"/>
                          <a:cs typeface="Montserrat"/>
                          <a:sym typeface="Montserrat"/>
                        </a:rPr>
                        <a:t>Giai đoạn</a:t>
                      </a:r>
                      <a:endParaRPr b="1" sz="24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b="1" lang="en-US" sz="2400">
                          <a:latin typeface="Montserrat"/>
                          <a:ea typeface="Montserrat"/>
                          <a:cs typeface="Montserrat"/>
                          <a:sym typeface="Montserrat"/>
                        </a:rPr>
                        <a:t>PGS. TS. Quản Thành Thơ (PI)</a:t>
                      </a:r>
                      <a:endParaRPr b="1"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Trưởng khoa Khoa học và Kỹ thuật Máy tính tại ĐH Bách Khoa HCM. Kinh nghiệm điều phối dự án VINIF, phát triển AI trong y khoa, tinh chỉnh mô hình LLM.</a:t>
                      </a:r>
                      <a:endParaRPr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1, 2, 3, 4</a:t>
                      </a:r>
                      <a:endParaRPr sz="24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b="1" lang="en-US" sz="2400">
                          <a:latin typeface="Montserrat"/>
                          <a:ea typeface="Montserrat"/>
                          <a:cs typeface="Montserrat"/>
                          <a:sym typeface="Montserrat"/>
                        </a:rPr>
                        <a:t>BSCKII. Trịnh Hữu Tùng </a:t>
                      </a:r>
                      <a:br>
                        <a:rPr b="1" lang="en-US" sz="2400">
                          <a:latin typeface="Montserrat"/>
                          <a:ea typeface="Montserrat"/>
                          <a:cs typeface="Montserrat"/>
                          <a:sym typeface="Montserrat"/>
                        </a:rPr>
                      </a:br>
                      <a:r>
                        <a:rPr b="1" lang="en-US" sz="2400">
                          <a:latin typeface="Montserrat"/>
                          <a:ea typeface="Montserrat"/>
                          <a:cs typeface="Montserrat"/>
                          <a:sym typeface="Montserrat"/>
                        </a:rPr>
                        <a:t>(thành viên chủ chốt 1)</a:t>
                      </a:r>
                      <a:endParaRPr b="1"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Giám đốc Bệnh viện Nhi đồng 2. Hơn 30 năm kinh nghiệm lâm sàng và nghiên cứu về bệnh học giúp cải thiện điều trị nhi khoa.</a:t>
                      </a:r>
                      <a:endParaRPr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1, 2.4, 3, 4</a:t>
                      </a:r>
                      <a:endParaRPr sz="24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b="1" lang="en-US" sz="2400">
                          <a:latin typeface="Montserrat"/>
                          <a:ea typeface="Montserrat"/>
                          <a:cs typeface="Montserrat"/>
                          <a:sym typeface="Montserrat"/>
                        </a:rPr>
                        <a:t>TS. Hà Thị Thanh Hương</a:t>
                      </a:r>
                      <a:br>
                        <a:rPr b="1" lang="en-US" sz="2400">
                          <a:latin typeface="Montserrat"/>
                          <a:ea typeface="Montserrat"/>
                          <a:cs typeface="Montserrat"/>
                          <a:sym typeface="Montserrat"/>
                        </a:rPr>
                      </a:br>
                      <a:r>
                        <a:rPr b="1" lang="en-US" sz="2400">
                          <a:latin typeface="Montserrat"/>
                          <a:ea typeface="Montserrat"/>
                          <a:cs typeface="Montserrat"/>
                          <a:sym typeface="Montserrat"/>
                        </a:rPr>
                        <a:t>(</a:t>
                      </a:r>
                      <a:r>
                        <a:rPr b="1" lang="en-US" sz="2400">
                          <a:latin typeface="Montserrat"/>
                          <a:ea typeface="Montserrat"/>
                          <a:cs typeface="Montserrat"/>
                          <a:sym typeface="Montserrat"/>
                        </a:rPr>
                        <a:t>thành viên chủ chốt 2)</a:t>
                      </a:r>
                      <a:endParaRPr b="1"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Trưởng Bộ môn Kỹ thuật Mô và Y học Tái tạo tại Trường Đại học Quốc tế </a:t>
                      </a:r>
                      <a:r>
                        <a:rPr lang="en-US" sz="2400">
                          <a:latin typeface="Montserrat"/>
                          <a:ea typeface="Montserrat"/>
                          <a:cs typeface="Montserrat"/>
                          <a:sym typeface="Montserrat"/>
                        </a:rPr>
                        <a:t>và thành lập Brain Health Lab. Kinh nghiệm ứng dụng machine learning, phân tích giọng nói hỗ trợ phát hiện Alzheimer.</a:t>
                      </a:r>
                      <a:endParaRPr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1, 2, 3, 4</a:t>
                      </a:r>
                      <a:endParaRPr sz="24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b="1" lang="en-US" sz="2400">
                          <a:latin typeface="Montserrat"/>
                          <a:ea typeface="Montserrat"/>
                          <a:cs typeface="Montserrat"/>
                          <a:sym typeface="Montserrat"/>
                        </a:rPr>
                        <a:t>TS. Huỳnh Kim Phát</a:t>
                      </a:r>
                      <a:br>
                        <a:rPr b="1" lang="en-US" sz="2400">
                          <a:latin typeface="Montserrat"/>
                          <a:ea typeface="Montserrat"/>
                          <a:cs typeface="Montserrat"/>
                          <a:sym typeface="Montserrat"/>
                        </a:rPr>
                      </a:br>
                      <a:r>
                        <a:rPr b="1" lang="en-US" sz="2400">
                          <a:latin typeface="Montserrat"/>
                          <a:ea typeface="Montserrat"/>
                          <a:cs typeface="Montserrat"/>
                          <a:sym typeface="Montserrat"/>
                        </a:rPr>
                        <a:t>(</a:t>
                      </a:r>
                      <a:r>
                        <a:rPr b="1" lang="en-US" sz="2400">
                          <a:latin typeface="Montserrat"/>
                          <a:ea typeface="Montserrat"/>
                          <a:cs typeface="Montserrat"/>
                          <a:sym typeface="Montserrat"/>
                        </a:rPr>
                        <a:t>thành viên chủ chốt 3)</a:t>
                      </a:r>
                      <a:endParaRPr b="1"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Trợ lý Giáo sư tại North Carolina A&amp;T State University. Kinh nghiệm phát triển mô hình AI dự báo nguy cơ nhiễm trùng tại bệnh viện.</a:t>
                      </a:r>
                      <a:endParaRPr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1, 2, 3, 4</a:t>
                      </a:r>
                      <a:endParaRPr sz="24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34518552875_0_25"/>
          <p:cNvSpPr txBox="1"/>
          <p:nvPr/>
        </p:nvSpPr>
        <p:spPr>
          <a:xfrm>
            <a:off x="952500" y="592650"/>
            <a:ext cx="14290500" cy="153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V. Năng lực của nhóm nghiên cứu và cơ sở vật chất của tổ chức chủ trì dự án</a:t>
            </a:r>
            <a:endParaRPr b="1" sz="5000">
              <a:solidFill>
                <a:srgbClr val="004AAD"/>
              </a:solidFill>
              <a:latin typeface="Montserrat"/>
              <a:ea typeface="Montserrat"/>
              <a:cs typeface="Montserrat"/>
              <a:sym typeface="Montserrat"/>
            </a:endParaRPr>
          </a:p>
        </p:txBody>
      </p:sp>
      <p:sp>
        <p:nvSpPr>
          <p:cNvPr id="331" name="Google Shape;331;g34518552875_0_25"/>
          <p:cNvSpPr/>
          <p:nvPr/>
        </p:nvSpPr>
        <p:spPr>
          <a:xfrm rot="-1624665">
            <a:off x="14335142" y="-4771249"/>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g34518552875_0_25"/>
          <p:cNvSpPr/>
          <p:nvPr/>
        </p:nvSpPr>
        <p:spPr>
          <a:xfrm rot="9479154">
            <a:off x="-1148459" y="8492236"/>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333" name="Google Shape;333;g34518552875_0_25"/>
          <p:cNvGraphicFramePr/>
          <p:nvPr/>
        </p:nvGraphicFramePr>
        <p:xfrm>
          <a:off x="952500" y="2520725"/>
          <a:ext cx="3000000" cy="3000000"/>
        </p:xfrm>
        <a:graphic>
          <a:graphicData uri="http://schemas.openxmlformats.org/drawingml/2006/table">
            <a:tbl>
              <a:tblPr>
                <a:noFill/>
                <a:tableStyleId>{2574BBB1-0352-4FAC-8113-02A18F34E9BB}</a:tableStyleId>
              </a:tblPr>
              <a:tblGrid>
                <a:gridCol w="5224050"/>
                <a:gridCol w="8973325"/>
                <a:gridCol w="2185625"/>
              </a:tblGrid>
              <a:tr h="381000">
                <a:tc>
                  <a:txBody>
                    <a:bodyPr/>
                    <a:lstStyle/>
                    <a:p>
                      <a:pPr indent="0" lvl="0" marL="0" rtl="0" algn="ctr">
                        <a:spcBef>
                          <a:spcPts val="0"/>
                        </a:spcBef>
                        <a:spcAft>
                          <a:spcPts val="0"/>
                        </a:spcAft>
                        <a:buNone/>
                      </a:pPr>
                      <a:r>
                        <a:rPr b="1" lang="en-US" sz="2400">
                          <a:latin typeface="Montserrat"/>
                          <a:ea typeface="Montserrat"/>
                          <a:cs typeface="Montserrat"/>
                          <a:sym typeface="Montserrat"/>
                        </a:rPr>
                        <a:t>Thành viên</a:t>
                      </a:r>
                      <a:endParaRPr b="1" sz="24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US" sz="2400">
                          <a:latin typeface="Montserrat"/>
                          <a:ea typeface="Montserrat"/>
                          <a:cs typeface="Montserrat"/>
                          <a:sym typeface="Montserrat"/>
                        </a:rPr>
                        <a:t>Năng lực</a:t>
                      </a:r>
                      <a:endParaRPr b="1" sz="24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US" sz="2400">
                          <a:solidFill>
                            <a:schemeClr val="dk1"/>
                          </a:solidFill>
                          <a:latin typeface="Montserrat"/>
                          <a:ea typeface="Montserrat"/>
                          <a:cs typeface="Montserrat"/>
                          <a:sym typeface="Montserrat"/>
                        </a:rPr>
                        <a:t>Giai đoạn</a:t>
                      </a:r>
                      <a:endParaRPr b="1" sz="24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b="1" lang="en-US" sz="2400">
                          <a:latin typeface="Montserrat"/>
                          <a:ea typeface="Montserrat"/>
                          <a:cs typeface="Montserrat"/>
                          <a:sym typeface="Montserrat"/>
                        </a:rPr>
                        <a:t>BSCKII. Nguyễn Thanh Sang</a:t>
                      </a:r>
                      <a:br>
                        <a:rPr b="1" lang="en-US" sz="2400">
                          <a:latin typeface="Montserrat"/>
                          <a:ea typeface="Montserrat"/>
                          <a:cs typeface="Montserrat"/>
                          <a:sym typeface="Montserrat"/>
                        </a:rPr>
                      </a:br>
                      <a:r>
                        <a:rPr b="1" lang="en-US" sz="2400">
                          <a:solidFill>
                            <a:schemeClr val="dk1"/>
                          </a:solidFill>
                          <a:latin typeface="Montserrat"/>
                          <a:ea typeface="Montserrat"/>
                          <a:cs typeface="Montserrat"/>
                          <a:sym typeface="Montserrat"/>
                        </a:rPr>
                        <a:t>(thành viên chủ chốt 4)</a:t>
                      </a:r>
                      <a:endParaRPr b="1"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Trưởng khoa Tâm lý Lâm sàng - Phục hồi Chức năng - Y học Cổ truyền tại Bệnh viện Nhi đồng 2. Kinh nghiệm đánh giá và tiên lượng bệnh nhi có vấn đề về thần kinh phát triển.</a:t>
                      </a:r>
                      <a:endParaRPr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1, 2.4, 3, 4</a:t>
                      </a:r>
                      <a:endParaRPr sz="24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b="1" lang="en-US" sz="2400">
                          <a:latin typeface="Montserrat"/>
                          <a:ea typeface="Montserrat"/>
                          <a:cs typeface="Montserrat"/>
                          <a:sym typeface="Montserrat"/>
                        </a:rPr>
                        <a:t>TS. Lê Trọng Nhân</a:t>
                      </a:r>
                      <a:br>
                        <a:rPr b="1" lang="en-US" sz="2400">
                          <a:latin typeface="Montserrat"/>
                          <a:ea typeface="Montserrat"/>
                          <a:cs typeface="Montserrat"/>
                          <a:sym typeface="Montserrat"/>
                        </a:rPr>
                      </a:br>
                      <a:r>
                        <a:rPr b="1" lang="en-US" sz="2400">
                          <a:solidFill>
                            <a:schemeClr val="dk1"/>
                          </a:solidFill>
                          <a:latin typeface="Montserrat"/>
                          <a:ea typeface="Montserrat"/>
                          <a:cs typeface="Montserrat"/>
                          <a:sym typeface="Montserrat"/>
                        </a:rPr>
                        <a:t>(thành viên chủ chốt 5)</a:t>
                      </a:r>
                      <a:endParaRPr b="1"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Giảng viên ĐH Bách Khoa HCM. Chuyên về hệ thống IoT + AI, thiết kế thu thập dữ liệu tự động (OCR, edge computing) và xử lý thời gian thực.</a:t>
                      </a:r>
                      <a:endParaRPr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2, 3, 4</a:t>
                      </a:r>
                      <a:endParaRPr sz="24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b="1" lang="en-US" sz="2400">
                          <a:latin typeface="Montserrat"/>
                          <a:ea typeface="Montserrat"/>
                          <a:cs typeface="Montserrat"/>
                          <a:sym typeface="Montserrat"/>
                        </a:rPr>
                        <a:t>TS. Phạm Hoàng Anh</a:t>
                      </a:r>
                      <a:br>
                        <a:rPr b="1" lang="en-US" sz="2400">
                          <a:latin typeface="Montserrat"/>
                          <a:ea typeface="Montserrat"/>
                          <a:cs typeface="Montserrat"/>
                          <a:sym typeface="Montserrat"/>
                        </a:rPr>
                      </a:br>
                      <a:r>
                        <a:rPr b="1" lang="en-US" sz="2400">
                          <a:solidFill>
                            <a:schemeClr val="dk1"/>
                          </a:solidFill>
                          <a:latin typeface="Montserrat"/>
                          <a:ea typeface="Montserrat"/>
                          <a:cs typeface="Montserrat"/>
                          <a:sym typeface="Montserrat"/>
                        </a:rPr>
                        <a:t>(thành viên chủ chốt 6)</a:t>
                      </a:r>
                      <a:endParaRPr b="1"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400">
                          <a:solidFill>
                            <a:schemeClr val="dk1"/>
                          </a:solidFill>
                          <a:latin typeface="Montserrat"/>
                          <a:ea typeface="Montserrat"/>
                          <a:cs typeface="Montserrat"/>
                          <a:sym typeface="Montserrat"/>
                        </a:rPr>
                        <a:t>Giảng viên ĐH Bách Khoa HCM. Kinh nghiệm về Chatbot AI hỗ trợ sức khỏe tâm thần, phát triển AI bảo vệ quyền riêng tư.</a:t>
                      </a:r>
                      <a:endParaRPr sz="2400">
                        <a:solidFill>
                          <a:schemeClr val="dk1"/>
                        </a:solidFill>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2, 3, 4</a:t>
                      </a:r>
                      <a:endParaRPr sz="24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b="1" lang="en-US" sz="2400">
                          <a:latin typeface="Montserrat"/>
                          <a:ea typeface="Montserrat"/>
                          <a:cs typeface="Montserrat"/>
                          <a:sym typeface="Montserrat"/>
                        </a:rPr>
                        <a:t>TS. Lê Thanh Vân</a:t>
                      </a:r>
                      <a:br>
                        <a:rPr b="1" lang="en-US" sz="2400">
                          <a:latin typeface="Montserrat"/>
                          <a:ea typeface="Montserrat"/>
                          <a:cs typeface="Montserrat"/>
                          <a:sym typeface="Montserrat"/>
                        </a:rPr>
                      </a:br>
                      <a:r>
                        <a:rPr b="1" lang="en-US" sz="2400">
                          <a:solidFill>
                            <a:schemeClr val="dk1"/>
                          </a:solidFill>
                          <a:latin typeface="Montserrat"/>
                          <a:ea typeface="Montserrat"/>
                          <a:cs typeface="Montserrat"/>
                          <a:sym typeface="Montserrat"/>
                        </a:rPr>
                        <a:t>(thành viên chủ chốt 7)</a:t>
                      </a:r>
                      <a:endParaRPr b="1"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solidFill>
                            <a:schemeClr val="dk1"/>
                          </a:solidFill>
                          <a:latin typeface="Montserrat"/>
                          <a:ea typeface="Montserrat"/>
                          <a:cs typeface="Montserrat"/>
                          <a:sym typeface="Montserrat"/>
                        </a:rPr>
                        <a:t>Giảng viên ĐH Bách Khoa HCM. Phát triển các kiến trúc AI có khả năng mở rộng.</a:t>
                      </a:r>
                      <a:endParaRPr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1, 2, 3, 4</a:t>
                      </a:r>
                      <a:endParaRPr sz="24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b="1" lang="en-US" sz="2400">
                          <a:latin typeface="Montserrat"/>
                          <a:ea typeface="Montserrat"/>
                          <a:cs typeface="Montserrat"/>
                          <a:sym typeface="Montserrat"/>
                        </a:rPr>
                        <a:t>TS. Ngô Thị Lụa</a:t>
                      </a:r>
                      <a:br>
                        <a:rPr b="1" lang="en-US" sz="2400">
                          <a:latin typeface="Montserrat"/>
                          <a:ea typeface="Montserrat"/>
                          <a:cs typeface="Montserrat"/>
                          <a:sym typeface="Montserrat"/>
                        </a:rPr>
                      </a:br>
                      <a:r>
                        <a:rPr b="1" lang="en-US" sz="2400">
                          <a:solidFill>
                            <a:schemeClr val="dk1"/>
                          </a:solidFill>
                          <a:latin typeface="Montserrat"/>
                          <a:ea typeface="Montserrat"/>
                          <a:cs typeface="Montserrat"/>
                          <a:sym typeface="Montserrat"/>
                        </a:rPr>
                        <a:t>(thành viên chủ chốt 8)</a:t>
                      </a:r>
                      <a:endParaRPr b="1"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400">
                          <a:solidFill>
                            <a:schemeClr val="dk1"/>
                          </a:solidFill>
                          <a:latin typeface="Montserrat"/>
                          <a:ea typeface="Montserrat"/>
                          <a:cs typeface="Montserrat"/>
                          <a:sym typeface="Montserrat"/>
                        </a:rPr>
                        <a:t>Giảng viên ĐH Quốc tế. Phát triển các mô hình học sâu phát hiện Alzheimer dựa vào MRI.</a:t>
                      </a:r>
                      <a:endParaRPr sz="2400">
                        <a:solidFill>
                          <a:schemeClr val="dk1"/>
                        </a:solidFill>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1, 2, 3, 4</a:t>
                      </a:r>
                      <a:endParaRPr sz="24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34518552875_0_44"/>
          <p:cNvSpPr txBox="1"/>
          <p:nvPr/>
        </p:nvSpPr>
        <p:spPr>
          <a:xfrm>
            <a:off x="952500" y="592650"/>
            <a:ext cx="14290500" cy="153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V. Năng lực của nhóm nghiên cứu và cơ sở vật chất của tổ chức chủ trì dự án</a:t>
            </a:r>
            <a:endParaRPr b="1" sz="5000">
              <a:solidFill>
                <a:srgbClr val="004AAD"/>
              </a:solidFill>
              <a:latin typeface="Montserrat"/>
              <a:ea typeface="Montserrat"/>
              <a:cs typeface="Montserrat"/>
              <a:sym typeface="Montserrat"/>
            </a:endParaRPr>
          </a:p>
        </p:txBody>
      </p:sp>
      <p:sp>
        <p:nvSpPr>
          <p:cNvPr id="339" name="Google Shape;339;g34518552875_0_44"/>
          <p:cNvSpPr/>
          <p:nvPr/>
        </p:nvSpPr>
        <p:spPr>
          <a:xfrm rot="-1624665">
            <a:off x="14335142" y="-4771249"/>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g34518552875_0_44"/>
          <p:cNvSpPr/>
          <p:nvPr/>
        </p:nvSpPr>
        <p:spPr>
          <a:xfrm rot="9479154">
            <a:off x="-1148459" y="8492236"/>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341" name="Google Shape;341;g34518552875_0_44"/>
          <p:cNvGraphicFramePr/>
          <p:nvPr/>
        </p:nvGraphicFramePr>
        <p:xfrm>
          <a:off x="952500" y="2400438"/>
          <a:ext cx="3000000" cy="3000000"/>
        </p:xfrm>
        <a:graphic>
          <a:graphicData uri="http://schemas.openxmlformats.org/drawingml/2006/table">
            <a:tbl>
              <a:tblPr>
                <a:noFill/>
                <a:tableStyleId>{2574BBB1-0352-4FAC-8113-02A18F34E9BB}</a:tableStyleId>
              </a:tblPr>
              <a:tblGrid>
                <a:gridCol w="5224050"/>
                <a:gridCol w="8973325"/>
                <a:gridCol w="2185625"/>
              </a:tblGrid>
              <a:tr h="381000">
                <a:tc>
                  <a:txBody>
                    <a:bodyPr/>
                    <a:lstStyle/>
                    <a:p>
                      <a:pPr indent="0" lvl="0" marL="0" rtl="0" algn="ctr">
                        <a:spcBef>
                          <a:spcPts val="0"/>
                        </a:spcBef>
                        <a:spcAft>
                          <a:spcPts val="0"/>
                        </a:spcAft>
                        <a:buNone/>
                      </a:pPr>
                      <a:r>
                        <a:rPr b="1" lang="en-US" sz="2400">
                          <a:latin typeface="Montserrat"/>
                          <a:ea typeface="Montserrat"/>
                          <a:cs typeface="Montserrat"/>
                          <a:sym typeface="Montserrat"/>
                        </a:rPr>
                        <a:t>T</a:t>
                      </a:r>
                      <a:r>
                        <a:rPr b="1" lang="en-US" sz="2400">
                          <a:latin typeface="Montserrat"/>
                          <a:ea typeface="Montserrat"/>
                          <a:cs typeface="Montserrat"/>
                          <a:sym typeface="Montserrat"/>
                        </a:rPr>
                        <a:t>hành viên</a:t>
                      </a:r>
                      <a:endParaRPr b="1" sz="24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US" sz="2400">
                          <a:latin typeface="Montserrat"/>
                          <a:ea typeface="Montserrat"/>
                          <a:cs typeface="Montserrat"/>
                          <a:sym typeface="Montserrat"/>
                        </a:rPr>
                        <a:t>Năng lực</a:t>
                      </a:r>
                      <a:endParaRPr b="1" sz="24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US" sz="2400">
                          <a:solidFill>
                            <a:schemeClr val="dk1"/>
                          </a:solidFill>
                          <a:latin typeface="Montserrat"/>
                          <a:ea typeface="Montserrat"/>
                          <a:cs typeface="Montserrat"/>
                          <a:sym typeface="Montserrat"/>
                        </a:rPr>
                        <a:t>Giai đoạn</a:t>
                      </a:r>
                      <a:endParaRPr b="1" sz="2400">
                        <a:latin typeface="Montserrat"/>
                        <a:ea typeface="Montserrat"/>
                        <a:cs typeface="Montserrat"/>
                        <a:sym typeface="Montserrat"/>
                      </a:endParaRPr>
                    </a:p>
                  </a:txBody>
                  <a:tcPr marT="91425" marB="91425" marR="91425" marL="91425"/>
                </a:tc>
              </a:tr>
              <a:tr h="748450">
                <a:tc>
                  <a:txBody>
                    <a:bodyPr/>
                    <a:lstStyle/>
                    <a:p>
                      <a:pPr indent="0" lvl="0" marL="0" rtl="0" algn="l">
                        <a:spcBef>
                          <a:spcPts val="0"/>
                        </a:spcBef>
                        <a:spcAft>
                          <a:spcPts val="0"/>
                        </a:spcAft>
                        <a:buNone/>
                      </a:pPr>
                      <a:r>
                        <a:rPr b="1" lang="en-US" sz="2400">
                          <a:latin typeface="Montserrat"/>
                          <a:ea typeface="Montserrat"/>
                          <a:cs typeface="Montserrat"/>
                          <a:sym typeface="Montserrat"/>
                        </a:rPr>
                        <a:t>ThS. Nguyễn Quang Đức</a:t>
                      </a:r>
                      <a:br>
                        <a:rPr b="1" lang="en-US" sz="2400">
                          <a:latin typeface="Montserrat"/>
                          <a:ea typeface="Montserrat"/>
                          <a:cs typeface="Montserrat"/>
                          <a:sym typeface="Montserrat"/>
                        </a:rPr>
                      </a:br>
                      <a:r>
                        <a:rPr b="1" lang="en-US" sz="2400">
                          <a:latin typeface="Montserrat"/>
                          <a:ea typeface="Montserrat"/>
                          <a:cs typeface="Montserrat"/>
                          <a:sym typeface="Montserrat"/>
                        </a:rPr>
                        <a:t>(</a:t>
                      </a:r>
                      <a:r>
                        <a:rPr b="1" lang="en-US" sz="2400">
                          <a:latin typeface="Montserrat"/>
                          <a:ea typeface="Montserrat"/>
                          <a:cs typeface="Montserrat"/>
                          <a:sym typeface="Montserrat"/>
                        </a:rPr>
                        <a:t>Thành viên 1)</a:t>
                      </a:r>
                      <a:endParaRPr b="1"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Tập trung phát triển hệ thống AI trong y khoa, giáo dục và ngôn ngữ Việt Nam.</a:t>
                      </a:r>
                      <a:endParaRPr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2, 3</a:t>
                      </a:r>
                      <a:endParaRPr sz="24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b="1" lang="en-US" sz="2400">
                          <a:latin typeface="Montserrat"/>
                          <a:ea typeface="Montserrat"/>
                          <a:cs typeface="Montserrat"/>
                          <a:sym typeface="Montserrat"/>
                        </a:rPr>
                        <a:t>ThS. Nguyễn Châu Tuyết Như</a:t>
                      </a:r>
                      <a:br>
                        <a:rPr b="1" lang="en-US" sz="2400">
                          <a:latin typeface="Montserrat"/>
                          <a:ea typeface="Montserrat"/>
                          <a:cs typeface="Montserrat"/>
                          <a:sym typeface="Montserrat"/>
                        </a:rPr>
                      </a:br>
                      <a:r>
                        <a:rPr b="1" lang="en-US" sz="2400">
                          <a:solidFill>
                            <a:schemeClr val="dk1"/>
                          </a:solidFill>
                          <a:latin typeface="Montserrat"/>
                          <a:ea typeface="Montserrat"/>
                          <a:cs typeface="Montserrat"/>
                          <a:sym typeface="Montserrat"/>
                        </a:rPr>
                        <a:t>(Thành viên 2)</a:t>
                      </a:r>
                      <a:endParaRPr b="1"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Giảng viên ĐH Y Dược Phạm Ngọc Thạch. Giám sát lâm sàng trị liệu lời nói, đặc biệt ở trẻ tự kỷ và rối loạn ngôn ngữ phát triển.</a:t>
                      </a:r>
                      <a:endParaRPr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1, 4</a:t>
                      </a:r>
                      <a:endParaRPr sz="24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b="1" lang="en-US" sz="2400">
                          <a:latin typeface="Montserrat"/>
                          <a:ea typeface="Montserrat"/>
                          <a:cs typeface="Montserrat"/>
                          <a:sym typeface="Montserrat"/>
                        </a:rPr>
                        <a:t>CN. Vũ Nguyễn Minh Đức</a:t>
                      </a:r>
                      <a:br>
                        <a:rPr b="1" lang="en-US" sz="2400">
                          <a:latin typeface="Montserrat"/>
                          <a:ea typeface="Montserrat"/>
                          <a:cs typeface="Montserrat"/>
                          <a:sym typeface="Montserrat"/>
                        </a:rPr>
                      </a:br>
                      <a:r>
                        <a:rPr b="1" lang="en-US" sz="2400">
                          <a:solidFill>
                            <a:schemeClr val="dk1"/>
                          </a:solidFill>
                          <a:latin typeface="Montserrat"/>
                          <a:ea typeface="Montserrat"/>
                          <a:cs typeface="Montserrat"/>
                          <a:sym typeface="Montserrat"/>
                        </a:rPr>
                        <a:t>(Thành viên 3)</a:t>
                      </a:r>
                      <a:endParaRPr b="1"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Kinh nghiệm lâm sàng trong điều trị nhi khoa, kết nối giữa can thiệp lâm sàng và hệ thống AI</a:t>
                      </a:r>
                      <a:endParaRPr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1, 2.4, 3.1, 3.2, 4</a:t>
                      </a:r>
                      <a:endParaRPr sz="24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b="1" lang="en-US" sz="2400">
                          <a:latin typeface="Montserrat"/>
                          <a:ea typeface="Montserrat"/>
                          <a:cs typeface="Montserrat"/>
                          <a:sym typeface="Montserrat"/>
                        </a:rPr>
                        <a:t>CN. Nguyễn Ngọc Tường Vy</a:t>
                      </a:r>
                      <a:br>
                        <a:rPr b="1" lang="en-US" sz="2400">
                          <a:latin typeface="Montserrat"/>
                          <a:ea typeface="Montserrat"/>
                          <a:cs typeface="Montserrat"/>
                          <a:sym typeface="Montserrat"/>
                        </a:rPr>
                      </a:br>
                      <a:r>
                        <a:rPr b="1" lang="en-US" sz="2400">
                          <a:solidFill>
                            <a:schemeClr val="dk1"/>
                          </a:solidFill>
                          <a:latin typeface="Montserrat"/>
                          <a:ea typeface="Montserrat"/>
                          <a:cs typeface="Montserrat"/>
                          <a:sym typeface="Montserrat"/>
                        </a:rPr>
                        <a:t>(Thành viên 4)</a:t>
                      </a:r>
                      <a:endParaRPr b="1"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Chuyên viên trị liệu lời nói, kinh nghiệm trực tiếp trong can thiệp và đánh giá trị liệu ở trẻ</a:t>
                      </a:r>
                      <a:endParaRPr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1, 2.4, 3.1, 3.2, 4</a:t>
                      </a:r>
                      <a:endParaRPr sz="2400">
                        <a:latin typeface="Montserrat"/>
                        <a:ea typeface="Montserrat"/>
                        <a:cs typeface="Montserrat"/>
                        <a:sym typeface="Montserrat"/>
                      </a:endParaRPr>
                    </a:p>
                  </a:txBody>
                  <a:tcPr marT="91425" marB="91425" marR="91425" marL="91425"/>
                </a:tc>
              </a:tr>
              <a:tr h="381000">
                <a:tc>
                  <a:txBody>
                    <a:bodyPr/>
                    <a:lstStyle/>
                    <a:p>
                      <a:pPr indent="0" lvl="0" marL="0" rtl="0" algn="l">
                        <a:spcBef>
                          <a:spcPts val="0"/>
                        </a:spcBef>
                        <a:spcAft>
                          <a:spcPts val="0"/>
                        </a:spcAft>
                        <a:buNone/>
                      </a:pPr>
                      <a:r>
                        <a:rPr b="1" lang="en-US" sz="2400">
                          <a:latin typeface="Montserrat"/>
                          <a:ea typeface="Montserrat"/>
                          <a:cs typeface="Montserrat"/>
                          <a:sym typeface="Montserrat"/>
                        </a:rPr>
                        <a:t>CN. </a:t>
                      </a:r>
                      <a:r>
                        <a:rPr b="1" lang="en-US" sz="2400">
                          <a:latin typeface="Montserrat"/>
                          <a:ea typeface="Montserrat"/>
                          <a:cs typeface="Montserrat"/>
                          <a:sym typeface="Montserrat"/>
                        </a:rPr>
                        <a:t>Nguyễn Thị Diệu Linh</a:t>
                      </a:r>
                      <a:br>
                        <a:rPr b="1" lang="en-US" sz="2400">
                          <a:latin typeface="Montserrat"/>
                          <a:ea typeface="Montserrat"/>
                          <a:cs typeface="Montserrat"/>
                          <a:sym typeface="Montserrat"/>
                        </a:rPr>
                      </a:br>
                      <a:r>
                        <a:rPr b="1" lang="en-US" sz="2400">
                          <a:solidFill>
                            <a:schemeClr val="dk1"/>
                          </a:solidFill>
                          <a:latin typeface="Montserrat"/>
                          <a:ea typeface="Montserrat"/>
                          <a:cs typeface="Montserrat"/>
                          <a:sym typeface="Montserrat"/>
                        </a:rPr>
                        <a:t>(Thành viên 5)</a:t>
                      </a:r>
                      <a:endParaRPr/>
                    </a:p>
                  </a:txBody>
                  <a:tcPr marT="91425" marB="91425" marR="91425" marL="91425"/>
                </a:tc>
                <a:tc>
                  <a:txBody>
                    <a:bodyPr/>
                    <a:lstStyle/>
                    <a:p>
                      <a:pPr indent="0" lvl="0" marL="0" rtl="0" algn="l">
                        <a:spcBef>
                          <a:spcPts val="0"/>
                        </a:spcBef>
                        <a:spcAft>
                          <a:spcPts val="0"/>
                        </a:spcAft>
                        <a:buNone/>
                      </a:pPr>
                      <a:r>
                        <a:rPr lang="en-US" sz="2400">
                          <a:latin typeface="Montserrat"/>
                          <a:ea typeface="Montserrat"/>
                          <a:cs typeface="Montserrat"/>
                          <a:sym typeface="Montserrat"/>
                        </a:rPr>
                        <a:t>Chuyên viên trị liệu lời nói, kinh nghiệm trực tiếp trong can thiệp và đánh giá trị liệu ở trẻ</a:t>
                      </a:r>
                      <a:endParaRPr sz="24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400">
                          <a:solidFill>
                            <a:schemeClr val="dk1"/>
                          </a:solidFill>
                          <a:latin typeface="Montserrat"/>
                          <a:ea typeface="Montserrat"/>
                          <a:cs typeface="Montserrat"/>
                          <a:sym typeface="Montserrat"/>
                        </a:rPr>
                        <a:t>1, 2.4, 3.1, 3.2, 4</a:t>
                      </a:r>
                      <a:endParaRPr sz="24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372c19eb17b_1_15"/>
          <p:cNvSpPr txBox="1"/>
          <p:nvPr/>
        </p:nvSpPr>
        <p:spPr>
          <a:xfrm>
            <a:off x="954100" y="588125"/>
            <a:ext cx="14290500" cy="153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V. Năng lực của nhóm nghiên cứu và cơ sở vật chất của tổ chức chủ trì dự án</a:t>
            </a:r>
            <a:endParaRPr b="1" sz="5000">
              <a:solidFill>
                <a:srgbClr val="004AAD"/>
              </a:solidFill>
              <a:latin typeface="Montserrat"/>
              <a:ea typeface="Montserrat"/>
              <a:cs typeface="Montserrat"/>
              <a:sym typeface="Montserrat"/>
            </a:endParaRPr>
          </a:p>
        </p:txBody>
      </p:sp>
      <p:sp>
        <p:nvSpPr>
          <p:cNvPr id="347" name="Google Shape;347;g372c19eb17b_1_15"/>
          <p:cNvSpPr/>
          <p:nvPr/>
        </p:nvSpPr>
        <p:spPr>
          <a:xfrm rot="-1624665">
            <a:off x="13605892" y="-477122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g372c19eb17b_1_15"/>
          <p:cNvSpPr/>
          <p:nvPr/>
        </p:nvSpPr>
        <p:spPr>
          <a:xfrm rot="9479154">
            <a:off x="-2205109" y="874526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g372c19eb17b_1_15"/>
          <p:cNvSpPr txBox="1"/>
          <p:nvPr/>
        </p:nvSpPr>
        <p:spPr>
          <a:xfrm>
            <a:off x="951400" y="2280075"/>
            <a:ext cx="16236000" cy="4926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3200">
                <a:solidFill>
                  <a:schemeClr val="accent1"/>
                </a:solidFill>
                <a:latin typeface="Montserrat Medium"/>
                <a:ea typeface="Montserrat Medium"/>
                <a:cs typeface="Montserrat Medium"/>
                <a:sym typeface="Montserrat Medium"/>
              </a:rPr>
              <a:t>Cơ sở vật chất</a:t>
            </a:r>
            <a:endParaRPr sz="3200">
              <a:solidFill>
                <a:schemeClr val="accent1"/>
              </a:solidFill>
              <a:latin typeface="Montserrat Medium"/>
              <a:ea typeface="Montserrat Medium"/>
              <a:cs typeface="Montserrat Medium"/>
              <a:sym typeface="Montserrat Medium"/>
            </a:endParaRPr>
          </a:p>
        </p:txBody>
      </p:sp>
      <p:pic>
        <p:nvPicPr>
          <p:cNvPr id="350" name="Google Shape;350;g372c19eb17b_1_15"/>
          <p:cNvPicPr preferRelativeResize="0"/>
          <p:nvPr/>
        </p:nvPicPr>
        <p:blipFill rotWithShape="1">
          <a:blip r:embed="rId4">
            <a:alphaModFix/>
          </a:blip>
          <a:srcRect b="0" l="10175" r="14449" t="0"/>
          <a:stretch/>
        </p:blipFill>
        <p:spPr>
          <a:xfrm>
            <a:off x="11680362" y="3189538"/>
            <a:ext cx="4868874" cy="3621050"/>
          </a:xfrm>
          <a:prstGeom prst="rect">
            <a:avLst/>
          </a:prstGeom>
          <a:noFill/>
          <a:ln>
            <a:noFill/>
          </a:ln>
        </p:spPr>
      </p:pic>
      <p:pic>
        <p:nvPicPr>
          <p:cNvPr id="351" name="Google Shape;351;g372c19eb17b_1_15" title="IMG_8948.png"/>
          <p:cNvPicPr preferRelativeResize="0"/>
          <p:nvPr/>
        </p:nvPicPr>
        <p:blipFill rotWithShape="1">
          <a:blip r:embed="rId5">
            <a:alphaModFix/>
          </a:blip>
          <a:srcRect b="0" l="0" r="0" t="0"/>
          <a:stretch/>
        </p:blipFill>
        <p:spPr>
          <a:xfrm>
            <a:off x="6635025" y="3133750"/>
            <a:ext cx="4868869" cy="3651663"/>
          </a:xfrm>
          <a:prstGeom prst="rect">
            <a:avLst/>
          </a:prstGeom>
          <a:noFill/>
          <a:ln>
            <a:noFill/>
          </a:ln>
        </p:spPr>
      </p:pic>
      <p:sp>
        <p:nvSpPr>
          <p:cNvPr id="352" name="Google Shape;352;g372c19eb17b_1_15"/>
          <p:cNvSpPr txBox="1"/>
          <p:nvPr/>
        </p:nvSpPr>
        <p:spPr>
          <a:xfrm>
            <a:off x="12467602" y="6810600"/>
            <a:ext cx="4869000" cy="6156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t/>
            </a:r>
            <a:endParaRPr i="1" sz="2800">
              <a:solidFill>
                <a:schemeClr val="dk1"/>
              </a:solidFill>
              <a:latin typeface="Montserrat Medium"/>
              <a:ea typeface="Montserrat Medium"/>
              <a:cs typeface="Montserrat Medium"/>
              <a:sym typeface="Montserrat Medium"/>
            </a:endParaRPr>
          </a:p>
        </p:txBody>
      </p:sp>
      <p:pic>
        <p:nvPicPr>
          <p:cNvPr id="353" name="Google Shape;353;g372c19eb17b_1_15" title="200c5118f0a879f620b9.jpg"/>
          <p:cNvPicPr preferRelativeResize="0"/>
          <p:nvPr/>
        </p:nvPicPr>
        <p:blipFill>
          <a:blip r:embed="rId6">
            <a:alphaModFix/>
          </a:blip>
          <a:stretch>
            <a:fillRect/>
          </a:stretch>
        </p:blipFill>
        <p:spPr>
          <a:xfrm>
            <a:off x="1447608" y="3027275"/>
            <a:ext cx="5010867" cy="3758150"/>
          </a:xfrm>
          <a:prstGeom prst="rect">
            <a:avLst/>
          </a:prstGeom>
          <a:noFill/>
          <a:ln>
            <a:noFill/>
          </a:ln>
        </p:spPr>
      </p:pic>
      <p:sp>
        <p:nvSpPr>
          <p:cNvPr id="354" name="Google Shape;354;g372c19eb17b_1_15"/>
          <p:cNvSpPr txBox="1"/>
          <p:nvPr/>
        </p:nvSpPr>
        <p:spPr>
          <a:xfrm>
            <a:off x="951400" y="6933600"/>
            <a:ext cx="16236000" cy="11544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i="1" lang="en-US" sz="3000">
                <a:solidFill>
                  <a:schemeClr val="dk1"/>
                </a:solidFill>
                <a:latin typeface="Montserrat Medium"/>
                <a:ea typeface="Montserrat Medium"/>
                <a:cs typeface="Montserrat Medium"/>
                <a:sym typeface="Montserrat Medium"/>
              </a:rPr>
              <a:t>Cơ sở vật chất </a:t>
            </a:r>
            <a:r>
              <a:rPr i="1" lang="en-US" sz="3000">
                <a:solidFill>
                  <a:schemeClr val="dk1"/>
                </a:solidFill>
                <a:latin typeface="Montserrat Medium"/>
                <a:ea typeface="Montserrat Medium"/>
                <a:cs typeface="Montserrat Medium"/>
                <a:sym typeface="Montserrat Medium"/>
              </a:rPr>
              <a:t>từ các phòng lab ở Đại học Bách Khoa TP.HCM và Đại học Quốc tế đến Bệnh viện Nhi đồng ở TP.HCM</a:t>
            </a:r>
            <a:endParaRPr i="1" sz="30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37403fed8d6_0_50"/>
          <p:cNvSpPr txBox="1"/>
          <p:nvPr/>
        </p:nvSpPr>
        <p:spPr>
          <a:xfrm>
            <a:off x="1028700" y="568650"/>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VI. </a:t>
            </a:r>
            <a:r>
              <a:rPr b="1" lang="en-US" sz="5000">
                <a:solidFill>
                  <a:srgbClr val="004AAD"/>
                </a:solidFill>
                <a:latin typeface="Montserrat"/>
                <a:ea typeface="Montserrat"/>
                <a:cs typeface="Montserrat"/>
                <a:sym typeface="Montserrat"/>
              </a:rPr>
              <a:t>Các kết quả của dự án</a:t>
            </a:r>
            <a:endParaRPr b="1" sz="5000">
              <a:solidFill>
                <a:srgbClr val="004AAD"/>
              </a:solidFill>
              <a:latin typeface="Montserrat"/>
              <a:ea typeface="Montserrat"/>
              <a:cs typeface="Montserrat"/>
              <a:sym typeface="Montserrat"/>
            </a:endParaRPr>
          </a:p>
        </p:txBody>
      </p:sp>
      <p:sp>
        <p:nvSpPr>
          <p:cNvPr id="360" name="Google Shape;360;g37403fed8d6_0_50"/>
          <p:cNvSpPr/>
          <p:nvPr/>
        </p:nvSpPr>
        <p:spPr>
          <a:xfrm rot="-1624665">
            <a:off x="14584867" y="-477122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g37403fed8d6_0_50"/>
          <p:cNvSpPr/>
          <p:nvPr/>
        </p:nvSpPr>
        <p:spPr>
          <a:xfrm rot="9479154">
            <a:off x="13797741" y="793511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2" name="Google Shape;362;g37403fed8d6_0_50"/>
          <p:cNvPicPr preferRelativeResize="0"/>
          <p:nvPr/>
        </p:nvPicPr>
        <p:blipFill>
          <a:blip r:embed="rId4">
            <a:alphaModFix/>
          </a:blip>
          <a:stretch>
            <a:fillRect/>
          </a:stretch>
        </p:blipFill>
        <p:spPr>
          <a:xfrm>
            <a:off x="19041150" y="4679981"/>
            <a:ext cx="4121050" cy="1948944"/>
          </a:xfrm>
          <a:prstGeom prst="rect">
            <a:avLst/>
          </a:prstGeom>
          <a:noFill/>
          <a:ln>
            <a:noFill/>
          </a:ln>
        </p:spPr>
      </p:pic>
      <p:sp>
        <p:nvSpPr>
          <p:cNvPr id="363" name="Google Shape;363;g37403fed8d6_0_50"/>
          <p:cNvSpPr txBox="1"/>
          <p:nvPr/>
        </p:nvSpPr>
        <p:spPr>
          <a:xfrm>
            <a:off x="9043650" y="12943825"/>
            <a:ext cx="17065800" cy="3532500"/>
          </a:xfrm>
          <a:prstGeom prst="rect">
            <a:avLst/>
          </a:prstGeom>
          <a:noFill/>
          <a:ln>
            <a:noFill/>
          </a:ln>
        </p:spPr>
        <p:txBody>
          <a:bodyPr anchorCtr="0" anchor="t" bIns="0" lIns="0" spcFirstLastPara="1" rIns="0" wrap="square" tIns="0">
            <a:spAutoFit/>
          </a:bodyPr>
          <a:lstStyle/>
          <a:p>
            <a:pPr indent="-400050" lvl="0" marL="457200" marR="0" rtl="0" algn="just">
              <a:lnSpc>
                <a:spcPct val="150000"/>
              </a:lnSpc>
              <a:spcBef>
                <a:spcPts val="0"/>
              </a:spcBef>
              <a:spcAft>
                <a:spcPts val="0"/>
              </a:spcAft>
              <a:buSzPts val="2700"/>
              <a:buFont typeface="Montserrat Medium"/>
              <a:buChar char="●"/>
            </a:pPr>
            <a:r>
              <a:rPr lang="en-US" sz="2700">
                <a:latin typeface="Montserrat Medium"/>
                <a:ea typeface="Montserrat Medium"/>
                <a:cs typeface="Montserrat Medium"/>
                <a:sym typeface="Montserrat Medium"/>
              </a:rPr>
              <a:t>4 bộ sản phẩm thiết bị AI cho việc thu thập, xử lý giọng nói và tối ưu hóa quá trình luyện tập.</a:t>
            </a:r>
            <a:endParaRPr sz="2700">
              <a:latin typeface="Montserrat Medium"/>
              <a:ea typeface="Montserrat Medium"/>
              <a:cs typeface="Montserrat Medium"/>
              <a:sym typeface="Montserrat Medium"/>
            </a:endParaRPr>
          </a:p>
          <a:p>
            <a:pPr indent="-400050" lvl="0" marL="457200" marR="0" rtl="0" algn="just">
              <a:lnSpc>
                <a:spcPct val="150000"/>
              </a:lnSpc>
              <a:spcBef>
                <a:spcPts val="0"/>
              </a:spcBef>
              <a:spcAft>
                <a:spcPts val="0"/>
              </a:spcAft>
              <a:buSzPts val="2700"/>
              <a:buFont typeface="Montserrat Medium"/>
              <a:buChar char="●"/>
            </a:pPr>
            <a:r>
              <a:rPr lang="en-US" sz="2700">
                <a:latin typeface="Montserrat Medium"/>
                <a:ea typeface="Montserrat Medium"/>
                <a:cs typeface="Montserrat Medium"/>
                <a:sym typeface="Montserrat Medium"/>
              </a:rPr>
              <a:t>Ứng dụng trên thiết bị di động</a:t>
            </a:r>
            <a:endParaRPr sz="2700">
              <a:latin typeface="Montserrat Medium"/>
              <a:ea typeface="Montserrat Medium"/>
              <a:cs typeface="Montserrat Medium"/>
              <a:sym typeface="Montserrat Medium"/>
            </a:endParaRPr>
          </a:p>
          <a:p>
            <a:pPr indent="-400050" lvl="0" marL="457200" marR="0" rtl="0" algn="just">
              <a:lnSpc>
                <a:spcPct val="150000"/>
              </a:lnSpc>
              <a:spcBef>
                <a:spcPts val="0"/>
              </a:spcBef>
              <a:spcAft>
                <a:spcPts val="0"/>
              </a:spcAft>
              <a:buSzPts val="2700"/>
              <a:buFont typeface="Montserrat Medium"/>
              <a:buChar char="●"/>
            </a:pPr>
            <a:r>
              <a:rPr lang="en-US" sz="2700">
                <a:latin typeface="Montserrat Medium"/>
                <a:ea typeface="Montserrat Medium"/>
                <a:cs typeface="Montserrat Medium"/>
                <a:sym typeface="Montserrat Medium"/>
              </a:rPr>
              <a:t>Ứng dụng trên máy tính cho các y bác sĩ và chuyên viên</a:t>
            </a:r>
            <a:endParaRPr sz="2700">
              <a:latin typeface="Montserrat Medium"/>
              <a:ea typeface="Montserrat Medium"/>
              <a:cs typeface="Montserrat Medium"/>
              <a:sym typeface="Montserrat Medium"/>
            </a:endParaRPr>
          </a:p>
          <a:p>
            <a:pPr indent="-400050" lvl="0" marL="457200" marR="0" rtl="0" algn="just">
              <a:lnSpc>
                <a:spcPct val="150000"/>
              </a:lnSpc>
              <a:spcBef>
                <a:spcPts val="0"/>
              </a:spcBef>
              <a:spcAft>
                <a:spcPts val="0"/>
              </a:spcAft>
              <a:buSzPts val="2700"/>
              <a:buFont typeface="Montserrat Medium"/>
              <a:buChar char="●"/>
            </a:pPr>
            <a:r>
              <a:rPr lang="en-US" sz="2700">
                <a:latin typeface="Montserrat Medium"/>
                <a:ea typeface="Montserrat Medium"/>
                <a:cs typeface="Montserrat Medium"/>
                <a:sym typeface="Montserrat Medium"/>
              </a:rPr>
              <a:t>1 bằng sáng chế</a:t>
            </a:r>
            <a:endParaRPr sz="2700">
              <a:latin typeface="Montserrat Medium"/>
              <a:ea typeface="Montserrat Medium"/>
              <a:cs typeface="Montserrat Medium"/>
              <a:sym typeface="Montserrat Medium"/>
            </a:endParaRPr>
          </a:p>
          <a:p>
            <a:pPr indent="-400050" lvl="0" marL="457200" marR="0" rtl="0" algn="just">
              <a:lnSpc>
                <a:spcPct val="150000"/>
              </a:lnSpc>
              <a:spcBef>
                <a:spcPts val="0"/>
              </a:spcBef>
              <a:spcAft>
                <a:spcPts val="0"/>
              </a:spcAft>
              <a:buSzPts val="2700"/>
              <a:buFont typeface="Montserrat Medium"/>
              <a:buChar char="●"/>
            </a:pPr>
            <a:r>
              <a:rPr lang="en-US" sz="2700">
                <a:latin typeface="Montserrat Medium"/>
                <a:ea typeface="Montserrat Medium"/>
                <a:cs typeface="Montserrat Medium"/>
                <a:sym typeface="Montserrat Medium"/>
              </a:rPr>
              <a:t>Đào tạo 1 tiến sĩ và 3 thạc sĩ</a:t>
            </a:r>
            <a:endParaRPr sz="2700">
              <a:latin typeface="Montserrat Medium"/>
              <a:ea typeface="Montserrat Medium"/>
              <a:cs typeface="Montserrat Medium"/>
              <a:sym typeface="Montserrat Medium"/>
            </a:endParaRPr>
          </a:p>
          <a:p>
            <a:pPr indent="-400050" lvl="0" marL="457200" marR="0" rtl="0" algn="just">
              <a:lnSpc>
                <a:spcPct val="150000"/>
              </a:lnSpc>
              <a:spcBef>
                <a:spcPts val="0"/>
              </a:spcBef>
              <a:spcAft>
                <a:spcPts val="0"/>
              </a:spcAft>
              <a:buSzPts val="2700"/>
              <a:buFont typeface="Montserrat Medium"/>
              <a:buChar char="●"/>
            </a:pPr>
            <a:r>
              <a:t/>
            </a:r>
            <a:endParaRPr sz="2700">
              <a:latin typeface="Montserrat Medium"/>
              <a:ea typeface="Montserrat Medium"/>
              <a:cs typeface="Montserrat Medium"/>
              <a:sym typeface="Montserrat Medium"/>
            </a:endParaRPr>
          </a:p>
        </p:txBody>
      </p:sp>
      <p:sp>
        <p:nvSpPr>
          <p:cNvPr id="364" name="Google Shape;364;g37403fed8d6_0_50"/>
          <p:cNvSpPr txBox="1"/>
          <p:nvPr/>
        </p:nvSpPr>
        <p:spPr>
          <a:xfrm>
            <a:off x="6146175" y="6200200"/>
            <a:ext cx="3000000" cy="3000000"/>
          </a:xfrm>
          <a:prstGeom prst="rect">
            <a:avLst/>
          </a:prstGeom>
          <a:noFill/>
          <a:ln>
            <a:noFill/>
          </a:ln>
        </p:spPr>
        <p:txBody>
          <a:bodyPr anchorCtr="0" anchor="ctr" bIns="91425" lIns="91425" spcFirstLastPara="1" rIns="91425" wrap="square" tIns="91425">
            <a:noAutofit/>
          </a:bodyPr>
          <a:lstStyle/>
          <a:p>
            <a:pPr indent="0" lvl="0" marL="0" rtl="0" algn="l">
              <a:lnSpc>
                <a:spcPct val="175000"/>
              </a:lnSpc>
              <a:spcBef>
                <a:spcPts val="0"/>
              </a:spcBef>
              <a:spcAft>
                <a:spcPts val="0"/>
              </a:spcAft>
              <a:buNone/>
            </a:pPr>
            <a:r>
              <a:t/>
            </a:r>
            <a:endParaRPr/>
          </a:p>
          <a:p>
            <a:pPr indent="0" lvl="0" marL="0" rtl="0" algn="l">
              <a:lnSpc>
                <a:spcPct val="155556"/>
              </a:lnSpc>
              <a:spcBef>
                <a:spcPts val="0"/>
              </a:spcBef>
              <a:spcAft>
                <a:spcPts val="0"/>
              </a:spcAft>
              <a:buNone/>
            </a:pPr>
            <a:r>
              <a:rPr lang="en-US" sz="1350">
                <a:solidFill>
                  <a:srgbClr val="FFFFFF"/>
                </a:solidFill>
              </a:rPr>
              <a:t>Ghi chú</a:t>
            </a:r>
            <a:endParaRPr sz="1350">
              <a:solidFill>
                <a:srgbClr val="FFFFFF"/>
              </a:solidFill>
            </a:endParaRPr>
          </a:p>
          <a:p>
            <a:pPr indent="-304800" lvl="0" marL="457200" rtl="0" algn="l">
              <a:lnSpc>
                <a:spcPct val="115000"/>
              </a:lnSpc>
              <a:spcBef>
                <a:spcPts val="600"/>
              </a:spcBef>
              <a:spcAft>
                <a:spcPts val="0"/>
              </a:spcAft>
              <a:buClr>
                <a:srgbClr val="FFFFFF"/>
              </a:buClr>
              <a:buSzPts val="1200"/>
              <a:buChar char="●"/>
            </a:pPr>
            <a:r>
              <a:rPr lang="en-US" sz="1200">
                <a:solidFill>
                  <a:srgbClr val="FFFFFF"/>
                </a:solidFill>
              </a:rPr>
              <a:t>Phase 2 (12 tháng): Tập trung phát triển phần cứng &amp; mô hình AI proxy (P2.1) và MLLM đa phương thức (P2.4).</a:t>
            </a:r>
            <a:endParaRPr sz="1200">
              <a:solidFill>
                <a:srgbClr val="FFFFFF"/>
              </a:solidFill>
            </a:endParaRPr>
          </a:p>
          <a:p>
            <a:pPr indent="-304800" lvl="0" marL="457200" rtl="0" algn="l">
              <a:lnSpc>
                <a:spcPct val="115000"/>
              </a:lnSpc>
              <a:spcBef>
                <a:spcPts val="0"/>
              </a:spcBef>
              <a:spcAft>
                <a:spcPts val="0"/>
              </a:spcAft>
              <a:buClr>
                <a:srgbClr val="FFFFFF"/>
              </a:buClr>
              <a:buSzPts val="1200"/>
              <a:buChar char="●"/>
            </a:pPr>
            <a:r>
              <a:rPr lang="en-US" sz="1200">
                <a:solidFill>
                  <a:srgbClr val="FFFFFF"/>
                </a:solidFill>
              </a:rPr>
              <a:t>Phase 3 (12 tháng): Triển khai ứng dụng cho chuyên viên (P3.4) và cho trẻ/phụ huynh (P3.5), đồng thời fine-tune cá nhân hoá (P3.1.x).</a:t>
            </a:r>
            <a:endParaRPr sz="1200">
              <a:solidFill>
                <a:srgbClr val="FFFFFF"/>
              </a:solidFill>
            </a:endParaRPr>
          </a:p>
          <a:p>
            <a:pPr indent="-304800" lvl="0" marL="457200" rtl="0" algn="l">
              <a:lnSpc>
                <a:spcPct val="115000"/>
              </a:lnSpc>
              <a:spcBef>
                <a:spcPts val="0"/>
              </a:spcBef>
              <a:spcAft>
                <a:spcPts val="0"/>
              </a:spcAft>
              <a:buClr>
                <a:srgbClr val="FFFFFF"/>
              </a:buClr>
              <a:buSzPts val="1200"/>
              <a:buChar char="●"/>
            </a:pPr>
            <a:r>
              <a:rPr lang="en-US" sz="1200">
                <a:solidFill>
                  <a:srgbClr val="FFFFFF"/>
                </a:solidFill>
              </a:rPr>
              <a:t>Sản phẩm AI “4 bộ”:</a:t>
            </a:r>
            <a:endParaRPr sz="1200">
              <a:solidFill>
                <a:srgbClr val="FFFFFF"/>
              </a:solidFill>
            </a:endParaRPr>
          </a:p>
          <a:p>
            <a:pPr indent="-304800" lvl="1" marL="914400" rtl="0" algn="l">
              <a:lnSpc>
                <a:spcPct val="115000"/>
              </a:lnSpc>
              <a:spcBef>
                <a:spcPts val="0"/>
              </a:spcBef>
              <a:spcAft>
                <a:spcPts val="0"/>
              </a:spcAft>
              <a:buClr>
                <a:srgbClr val="FFFFFF"/>
              </a:buClr>
              <a:buSzPts val="1200"/>
              <a:buAutoNum type="arabicPeriod"/>
            </a:pPr>
            <a:r>
              <a:rPr lang="en-US" sz="1200">
                <a:solidFill>
                  <a:srgbClr val="FFFFFF"/>
                </a:solidFill>
              </a:rPr>
              <a:t>Thiết bị AI proxy thu thập/ xử lý giọng nói</a:t>
            </a:r>
            <a:endParaRPr sz="1200">
              <a:solidFill>
                <a:srgbClr val="FFFFFF"/>
              </a:solidFill>
            </a:endParaRPr>
          </a:p>
          <a:p>
            <a:pPr indent="-304800" lvl="1" marL="914400" rtl="0" algn="l">
              <a:lnSpc>
                <a:spcPct val="115000"/>
              </a:lnSpc>
              <a:spcBef>
                <a:spcPts val="0"/>
              </a:spcBef>
              <a:spcAft>
                <a:spcPts val="0"/>
              </a:spcAft>
              <a:buClr>
                <a:srgbClr val="FFFFFF"/>
              </a:buClr>
              <a:buSzPts val="1200"/>
              <a:buAutoNum type="arabicPeriod"/>
            </a:pPr>
            <a:r>
              <a:rPr lang="en-US" sz="1200">
                <a:solidFill>
                  <a:srgbClr val="FFFFFF"/>
                </a:solidFill>
              </a:rPr>
              <a:t>Mô hình ngôn ngữ đa phương thức (MLLM)</a:t>
            </a:r>
            <a:endParaRPr sz="1200">
              <a:solidFill>
                <a:srgbClr val="FFFFFF"/>
              </a:solidFill>
            </a:endParaRPr>
          </a:p>
          <a:p>
            <a:pPr indent="-304800" lvl="1" marL="914400" rtl="0" algn="l">
              <a:lnSpc>
                <a:spcPct val="115000"/>
              </a:lnSpc>
              <a:spcBef>
                <a:spcPts val="0"/>
              </a:spcBef>
              <a:spcAft>
                <a:spcPts val="0"/>
              </a:spcAft>
              <a:buClr>
                <a:srgbClr val="FFFFFF"/>
              </a:buClr>
              <a:buSzPts val="1200"/>
              <a:buAutoNum type="arabicPeriod"/>
            </a:pPr>
            <a:r>
              <a:rPr lang="en-US" sz="1200">
                <a:solidFill>
                  <a:srgbClr val="FFFFFF"/>
                </a:solidFill>
              </a:rPr>
              <a:t>App desktop cho chuyên viên</a:t>
            </a:r>
            <a:endParaRPr sz="1200">
              <a:solidFill>
                <a:srgbClr val="FFFFFF"/>
              </a:solidFill>
            </a:endParaRPr>
          </a:p>
          <a:p>
            <a:pPr indent="-304800" lvl="1" marL="914400" rtl="0" algn="l">
              <a:lnSpc>
                <a:spcPct val="115000"/>
              </a:lnSpc>
              <a:spcBef>
                <a:spcPts val="0"/>
              </a:spcBef>
              <a:spcAft>
                <a:spcPts val="0"/>
              </a:spcAft>
              <a:buClr>
                <a:srgbClr val="FFFFFF"/>
              </a:buClr>
              <a:buSzPts val="1200"/>
              <a:buAutoNum type="arabicPeriod"/>
            </a:pPr>
            <a:r>
              <a:rPr lang="en-US" sz="1200">
                <a:solidFill>
                  <a:srgbClr val="FFFFFF"/>
                </a:solidFill>
              </a:rPr>
              <a:t>App mobile cho trẻ &amp; gia đình</a:t>
            </a:r>
            <a:endParaRPr sz="1200">
              <a:solidFill>
                <a:srgbClr val="FFFFFF"/>
              </a:solidFill>
            </a:endParaRPr>
          </a:p>
          <a:p>
            <a:pPr indent="-304800" lvl="0" marL="457200" rtl="0" algn="l">
              <a:lnSpc>
                <a:spcPct val="115000"/>
              </a:lnSpc>
              <a:spcBef>
                <a:spcPts val="0"/>
              </a:spcBef>
              <a:spcAft>
                <a:spcPts val="0"/>
              </a:spcAft>
              <a:buClr>
                <a:srgbClr val="FFFFFF"/>
              </a:buClr>
              <a:buSzPts val="1200"/>
              <a:buChar char="●"/>
            </a:pPr>
            <a:r>
              <a:rPr lang="en-US" sz="1200">
                <a:solidFill>
                  <a:srgbClr val="FFFFFF"/>
                </a:solidFill>
              </a:rPr>
              <a:t>Bằng sáng chế và đào tạo Tiến sĩ/Thạc sĩ là kết quả xuyên suốt, đảm bảo tính bền vững và nhân rộng giải pháp.</a:t>
            </a:r>
            <a:endParaRPr sz="1200">
              <a:solidFill>
                <a:srgbClr val="FFFFFF"/>
              </a:solidFill>
            </a:endParaRPr>
          </a:p>
          <a:p>
            <a:pPr indent="0" lvl="0" marL="0" rtl="0" algn="l">
              <a:lnSpc>
                <a:spcPct val="150000"/>
              </a:lnSpc>
              <a:spcBef>
                <a:spcPts val="0"/>
              </a:spcBef>
              <a:spcAft>
                <a:spcPts val="0"/>
              </a:spcAft>
              <a:buNone/>
            </a:pPr>
            <a:r>
              <a:t/>
            </a:r>
            <a:endParaRPr sz="1200">
              <a:highlight>
                <a:srgbClr val="303030"/>
              </a:highlight>
            </a:endParaRPr>
          </a:p>
        </p:txBody>
      </p:sp>
      <p:graphicFrame>
        <p:nvGraphicFramePr>
          <p:cNvPr id="365" name="Google Shape;365;g37403fed8d6_0_50"/>
          <p:cNvGraphicFramePr/>
          <p:nvPr/>
        </p:nvGraphicFramePr>
        <p:xfrm>
          <a:off x="1028700" y="1478925"/>
          <a:ext cx="3000000" cy="3000000"/>
        </p:xfrm>
        <a:graphic>
          <a:graphicData uri="http://schemas.openxmlformats.org/drawingml/2006/table">
            <a:tbl>
              <a:tblPr>
                <a:noFill/>
                <a:tableStyleId>{63879B4A-6A33-40A0-BAD0-4354AC2547D9}</a:tableStyleId>
              </a:tblPr>
              <a:tblGrid>
                <a:gridCol w="5506675"/>
                <a:gridCol w="3794525"/>
                <a:gridCol w="5506675"/>
              </a:tblGrid>
              <a:tr h="289400">
                <a:tc>
                  <a:txBody>
                    <a:bodyPr/>
                    <a:lstStyle/>
                    <a:p>
                      <a:pPr indent="0" lvl="0" marL="0" rtl="0" algn="ctr">
                        <a:lnSpc>
                          <a:spcPct val="126315"/>
                        </a:lnSpc>
                        <a:spcBef>
                          <a:spcPts val="0"/>
                        </a:spcBef>
                        <a:spcAft>
                          <a:spcPts val="0"/>
                        </a:spcAft>
                        <a:buNone/>
                      </a:pPr>
                      <a:r>
                        <a:rPr b="1" lang="en-US" sz="1850">
                          <a:solidFill>
                            <a:schemeClr val="dk1"/>
                          </a:solidFill>
                          <a:latin typeface="Montserrat"/>
                          <a:ea typeface="Montserrat"/>
                          <a:cs typeface="Montserrat"/>
                          <a:sym typeface="Montserrat"/>
                        </a:rPr>
                        <a:t>Sản phẩm / Kết quả</a:t>
                      </a:r>
                      <a:endParaRPr b="1" sz="1850">
                        <a:solidFill>
                          <a:schemeClr val="dk1"/>
                        </a:solidFill>
                        <a:latin typeface="Montserrat"/>
                        <a:ea typeface="Montserrat"/>
                        <a:cs typeface="Montserrat"/>
                        <a:sym typeface="Montserrat"/>
                      </a:endParaRPr>
                    </a:p>
                  </a:txBody>
                  <a:tcPr marT="91425" marB="68950" marR="68950" marL="91425" anchor="b">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26315"/>
                        </a:lnSpc>
                        <a:spcBef>
                          <a:spcPts val="0"/>
                        </a:spcBef>
                        <a:spcAft>
                          <a:spcPts val="0"/>
                        </a:spcAft>
                        <a:buNone/>
                      </a:pPr>
                      <a:r>
                        <a:rPr b="1" lang="en-US" sz="1850">
                          <a:solidFill>
                            <a:schemeClr val="dk1"/>
                          </a:solidFill>
                          <a:latin typeface="Montserrat"/>
                          <a:ea typeface="Montserrat"/>
                          <a:cs typeface="Montserrat"/>
                          <a:sym typeface="Montserrat"/>
                        </a:rPr>
                        <a:t>Giai đoạn</a:t>
                      </a:r>
                      <a:endParaRPr b="1" sz="1850">
                        <a:solidFill>
                          <a:schemeClr val="dk1"/>
                        </a:solidFill>
                        <a:latin typeface="Montserrat"/>
                        <a:ea typeface="Montserrat"/>
                        <a:cs typeface="Montserrat"/>
                        <a:sym typeface="Montserrat"/>
                      </a:endParaRPr>
                    </a:p>
                  </a:txBody>
                  <a:tcPr marT="91425" marB="68950" marR="68950" marL="68950" anchor="b">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26315"/>
                        </a:lnSpc>
                        <a:spcBef>
                          <a:spcPts val="0"/>
                        </a:spcBef>
                        <a:spcAft>
                          <a:spcPts val="0"/>
                        </a:spcAft>
                        <a:buNone/>
                      </a:pPr>
                      <a:r>
                        <a:rPr b="1" lang="en-US" sz="1850">
                          <a:solidFill>
                            <a:schemeClr val="dk1"/>
                          </a:solidFill>
                          <a:latin typeface="Montserrat"/>
                          <a:ea typeface="Montserrat"/>
                          <a:cs typeface="Montserrat"/>
                          <a:sym typeface="Montserrat"/>
                        </a:rPr>
                        <a:t>Nội dung</a:t>
                      </a:r>
                      <a:endParaRPr b="1" sz="1850">
                        <a:solidFill>
                          <a:schemeClr val="dk1"/>
                        </a:solidFill>
                        <a:latin typeface="Montserrat"/>
                        <a:ea typeface="Montserrat"/>
                        <a:cs typeface="Montserrat"/>
                        <a:sym typeface="Montserrat"/>
                      </a:endParaRPr>
                    </a:p>
                  </a:txBody>
                  <a:tcPr marT="91425" marB="68950" marR="91425" marL="68950" anchor="b">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7175">
                <a:tc>
                  <a:txBody>
                    <a:bodyPr/>
                    <a:lstStyle/>
                    <a:p>
                      <a:pPr indent="0" lvl="0" marL="0" rtl="0" algn="l">
                        <a:lnSpc>
                          <a:spcPct val="171429"/>
                        </a:lnSpc>
                        <a:spcBef>
                          <a:spcPts val="0"/>
                        </a:spcBef>
                        <a:spcAft>
                          <a:spcPts val="0"/>
                        </a:spcAft>
                        <a:buNone/>
                      </a:pPr>
                      <a:r>
                        <a:rPr b="1" lang="en-US" sz="1850">
                          <a:solidFill>
                            <a:schemeClr val="dk1"/>
                          </a:solidFill>
                          <a:latin typeface="Montserrat"/>
                          <a:ea typeface="Montserrat"/>
                          <a:cs typeface="Montserrat"/>
                          <a:sym typeface="Montserrat"/>
                        </a:rPr>
                        <a:t>Bộ thiết bị AI proxy– Bo mạch Jetson Orin + mic USB</a:t>
                      </a:r>
                      <a:endParaRPr b="1" sz="1850">
                        <a:solidFill>
                          <a:schemeClr val="dk1"/>
                        </a:solidFill>
                        <a:latin typeface="Montserrat"/>
                        <a:ea typeface="Montserrat"/>
                        <a:cs typeface="Montserrat"/>
                        <a:sym typeface="Montserrat"/>
                      </a:endParaRPr>
                    </a:p>
                  </a:txBody>
                  <a:tcPr marT="68950" marB="6895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71429"/>
                        </a:lnSpc>
                        <a:spcBef>
                          <a:spcPts val="0"/>
                        </a:spcBef>
                        <a:spcAft>
                          <a:spcPts val="0"/>
                        </a:spcAft>
                        <a:buNone/>
                      </a:pPr>
                      <a:r>
                        <a:rPr lang="en-US" sz="1850">
                          <a:solidFill>
                            <a:schemeClr val="dk1"/>
                          </a:solidFill>
                          <a:latin typeface="Montserrat"/>
                          <a:ea typeface="Montserrat"/>
                          <a:cs typeface="Montserrat"/>
                          <a:sym typeface="Montserrat"/>
                        </a:rPr>
                        <a:t>Giai đoạn </a:t>
                      </a:r>
                      <a:r>
                        <a:rPr lang="en-US" sz="1850">
                          <a:solidFill>
                            <a:schemeClr val="dk1"/>
                          </a:solidFill>
                          <a:latin typeface="Montserrat"/>
                          <a:ea typeface="Montserrat"/>
                          <a:cs typeface="Montserrat"/>
                          <a:sym typeface="Montserrat"/>
                        </a:rPr>
                        <a:t> 2</a:t>
                      </a:r>
                      <a:endParaRPr sz="185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0"/>
                        </a:spcBef>
                        <a:spcAft>
                          <a:spcPts val="0"/>
                        </a:spcAft>
                        <a:buNone/>
                      </a:pPr>
                      <a:r>
                        <a:rPr lang="en-US" sz="1850">
                          <a:solidFill>
                            <a:schemeClr val="dk1"/>
                          </a:solidFill>
                          <a:latin typeface="Montserrat"/>
                          <a:ea typeface="Montserrat"/>
                          <a:cs typeface="Montserrat"/>
                          <a:sym typeface="Montserrat"/>
                        </a:rPr>
                        <a:t>Thu thập &amp; xử lý speech cục bộ, triển khai mô hình AI quy mô lớn</a:t>
                      </a:r>
                      <a:endParaRPr sz="1850">
                        <a:solidFill>
                          <a:schemeClr val="dk1"/>
                        </a:solidFill>
                        <a:latin typeface="Montserrat"/>
                        <a:ea typeface="Montserrat"/>
                        <a:cs typeface="Montserrat"/>
                        <a:sym typeface="Montserrat"/>
                      </a:endParaRPr>
                    </a:p>
                  </a:txBody>
                  <a:tcPr marT="68950" marB="6895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7175">
                <a:tc>
                  <a:txBody>
                    <a:bodyPr/>
                    <a:lstStyle/>
                    <a:p>
                      <a:pPr indent="0" lvl="0" marL="0" rtl="0" algn="l">
                        <a:lnSpc>
                          <a:spcPct val="171429"/>
                        </a:lnSpc>
                        <a:spcBef>
                          <a:spcPts val="0"/>
                        </a:spcBef>
                        <a:spcAft>
                          <a:spcPts val="0"/>
                        </a:spcAft>
                        <a:buNone/>
                      </a:pPr>
                      <a:r>
                        <a:rPr b="1" lang="en-US" sz="1850">
                          <a:solidFill>
                            <a:schemeClr val="dk1"/>
                          </a:solidFill>
                          <a:latin typeface="Montserrat"/>
                          <a:ea typeface="Montserrat"/>
                          <a:cs typeface="Montserrat"/>
                          <a:sym typeface="Montserrat"/>
                        </a:rPr>
                        <a:t>Ứng dụng di động cho trẻ &amp; phụ huynh</a:t>
                      </a:r>
                      <a:endParaRPr b="1" sz="1850">
                        <a:solidFill>
                          <a:schemeClr val="dk1"/>
                        </a:solidFill>
                        <a:latin typeface="Montserrat"/>
                        <a:ea typeface="Montserrat"/>
                        <a:cs typeface="Montserrat"/>
                        <a:sym typeface="Montserrat"/>
                      </a:endParaRPr>
                    </a:p>
                  </a:txBody>
                  <a:tcPr marT="68950" marB="6895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71429"/>
                        </a:lnSpc>
                        <a:spcBef>
                          <a:spcPts val="0"/>
                        </a:spcBef>
                        <a:spcAft>
                          <a:spcPts val="0"/>
                        </a:spcAft>
                        <a:buNone/>
                      </a:pPr>
                      <a:r>
                        <a:rPr lang="en-US" sz="1850">
                          <a:solidFill>
                            <a:schemeClr val="dk1"/>
                          </a:solidFill>
                          <a:latin typeface="Montserrat"/>
                          <a:ea typeface="Montserrat"/>
                          <a:cs typeface="Montserrat"/>
                          <a:sym typeface="Montserrat"/>
                        </a:rPr>
                        <a:t>Giai đoạn </a:t>
                      </a:r>
                      <a:r>
                        <a:rPr lang="en-US" sz="1850">
                          <a:solidFill>
                            <a:schemeClr val="dk1"/>
                          </a:solidFill>
                          <a:latin typeface="Montserrat"/>
                          <a:ea typeface="Montserrat"/>
                          <a:cs typeface="Montserrat"/>
                          <a:sym typeface="Montserrat"/>
                        </a:rPr>
                        <a:t>3</a:t>
                      </a:r>
                      <a:endParaRPr sz="185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0"/>
                        </a:spcBef>
                        <a:spcAft>
                          <a:spcPts val="0"/>
                        </a:spcAft>
                        <a:buNone/>
                      </a:pPr>
                      <a:r>
                        <a:rPr lang="en-US" sz="1850">
                          <a:solidFill>
                            <a:schemeClr val="dk1"/>
                          </a:solidFill>
                          <a:latin typeface="Montserrat"/>
                          <a:ea typeface="Montserrat"/>
                          <a:cs typeface="Montserrat"/>
                          <a:sym typeface="Montserrat"/>
                        </a:rPr>
                        <a:t>Sinh bài tập cá nhân hóa tại nhà, theo dõi tiến trình &amp; ghi âm</a:t>
                      </a:r>
                      <a:endParaRPr sz="1850">
                        <a:solidFill>
                          <a:schemeClr val="dk1"/>
                        </a:solidFill>
                        <a:latin typeface="Montserrat"/>
                        <a:ea typeface="Montserrat"/>
                        <a:cs typeface="Montserrat"/>
                        <a:sym typeface="Montserrat"/>
                      </a:endParaRPr>
                    </a:p>
                  </a:txBody>
                  <a:tcPr marT="68950" marB="6895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7175">
                <a:tc>
                  <a:txBody>
                    <a:bodyPr/>
                    <a:lstStyle/>
                    <a:p>
                      <a:pPr indent="0" lvl="0" marL="0" rtl="0" algn="l">
                        <a:lnSpc>
                          <a:spcPct val="171429"/>
                        </a:lnSpc>
                        <a:spcBef>
                          <a:spcPts val="0"/>
                        </a:spcBef>
                        <a:spcAft>
                          <a:spcPts val="0"/>
                        </a:spcAft>
                        <a:buNone/>
                      </a:pPr>
                      <a:r>
                        <a:rPr b="1" lang="en-US" sz="1850">
                          <a:solidFill>
                            <a:schemeClr val="dk1"/>
                          </a:solidFill>
                          <a:latin typeface="Montserrat"/>
                          <a:ea typeface="Montserrat"/>
                          <a:cs typeface="Montserrat"/>
                          <a:sym typeface="Montserrat"/>
                        </a:rPr>
                        <a:t>Ứng dụng PC cho y bác sĩ &amp; chuyên viên</a:t>
                      </a:r>
                      <a:endParaRPr b="1" sz="1850">
                        <a:solidFill>
                          <a:schemeClr val="dk1"/>
                        </a:solidFill>
                        <a:latin typeface="Montserrat"/>
                        <a:ea typeface="Montserrat"/>
                        <a:cs typeface="Montserrat"/>
                        <a:sym typeface="Montserrat"/>
                      </a:endParaRPr>
                    </a:p>
                  </a:txBody>
                  <a:tcPr marT="68950" marB="6895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71429"/>
                        </a:lnSpc>
                        <a:spcBef>
                          <a:spcPts val="0"/>
                        </a:spcBef>
                        <a:spcAft>
                          <a:spcPts val="0"/>
                        </a:spcAft>
                        <a:buNone/>
                      </a:pPr>
                      <a:r>
                        <a:rPr lang="en-US" sz="1850">
                          <a:solidFill>
                            <a:schemeClr val="dk1"/>
                          </a:solidFill>
                          <a:latin typeface="Montserrat"/>
                          <a:ea typeface="Montserrat"/>
                          <a:cs typeface="Montserrat"/>
                          <a:sym typeface="Montserrat"/>
                        </a:rPr>
                        <a:t>Giai đoạn </a:t>
                      </a:r>
                      <a:r>
                        <a:rPr lang="en-US" sz="1850">
                          <a:solidFill>
                            <a:schemeClr val="dk1"/>
                          </a:solidFill>
                          <a:latin typeface="Montserrat"/>
                          <a:ea typeface="Montserrat"/>
                          <a:cs typeface="Montserrat"/>
                          <a:sym typeface="Montserrat"/>
                        </a:rPr>
                        <a:t>3</a:t>
                      </a:r>
                      <a:endParaRPr sz="185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0"/>
                        </a:spcBef>
                        <a:spcAft>
                          <a:spcPts val="0"/>
                        </a:spcAft>
                        <a:buNone/>
                      </a:pPr>
                      <a:r>
                        <a:rPr lang="en-US" sz="1850">
                          <a:solidFill>
                            <a:schemeClr val="dk1"/>
                          </a:solidFill>
                          <a:latin typeface="Montserrat"/>
                          <a:ea typeface="Montserrat"/>
                          <a:cs typeface="Montserrat"/>
                          <a:sym typeface="Montserrat"/>
                        </a:rPr>
                        <a:t>Đánh giá adaptive, sinh &amp; cho phép chỉnh sửa kế hoạch điều trị</a:t>
                      </a:r>
                      <a:endParaRPr sz="1850">
                        <a:solidFill>
                          <a:schemeClr val="dk1"/>
                        </a:solidFill>
                        <a:latin typeface="Montserrat"/>
                        <a:ea typeface="Montserrat"/>
                        <a:cs typeface="Montserrat"/>
                        <a:sym typeface="Montserrat"/>
                      </a:endParaRPr>
                    </a:p>
                  </a:txBody>
                  <a:tcPr marT="68950" marB="6895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50975">
                <a:tc>
                  <a:txBody>
                    <a:bodyPr/>
                    <a:lstStyle/>
                    <a:p>
                      <a:pPr indent="0" lvl="0" marL="0" rtl="0" algn="l">
                        <a:lnSpc>
                          <a:spcPct val="171429"/>
                        </a:lnSpc>
                        <a:spcBef>
                          <a:spcPts val="0"/>
                        </a:spcBef>
                        <a:spcAft>
                          <a:spcPts val="0"/>
                        </a:spcAft>
                        <a:buNone/>
                      </a:pPr>
                      <a:r>
                        <a:rPr b="1" lang="en-US" sz="1850">
                          <a:solidFill>
                            <a:schemeClr val="dk1"/>
                          </a:solidFill>
                          <a:latin typeface="Montserrat"/>
                          <a:ea typeface="Montserrat"/>
                          <a:cs typeface="Montserrat"/>
                          <a:sym typeface="Montserrat"/>
                        </a:rPr>
                        <a:t>Hệ 4 bộ sản phẩm AI</a:t>
                      </a:r>
                      <a:endParaRPr b="1" sz="1850">
                        <a:solidFill>
                          <a:schemeClr val="dk1"/>
                        </a:solidFill>
                        <a:latin typeface="Montserrat"/>
                        <a:ea typeface="Montserrat"/>
                        <a:cs typeface="Montserrat"/>
                        <a:sym typeface="Montserrat"/>
                      </a:endParaRPr>
                    </a:p>
                    <a:p>
                      <a:pPr indent="0" lvl="0" marL="0" rtl="0" algn="l">
                        <a:lnSpc>
                          <a:spcPct val="171429"/>
                        </a:lnSpc>
                        <a:spcBef>
                          <a:spcPts val="0"/>
                        </a:spcBef>
                        <a:spcAft>
                          <a:spcPts val="0"/>
                        </a:spcAft>
                        <a:buNone/>
                      </a:pPr>
                      <a:r>
                        <a:rPr b="1" lang="en-US" sz="1850">
                          <a:solidFill>
                            <a:schemeClr val="dk1"/>
                          </a:solidFill>
                          <a:latin typeface="Montserrat"/>
                          <a:ea typeface="Montserrat"/>
                          <a:cs typeface="Montserrat"/>
                          <a:sym typeface="Montserrat"/>
                        </a:rPr>
                        <a:t>(Proxy + Mobile App + PC App + MLLM)</a:t>
                      </a:r>
                      <a:endParaRPr b="1" sz="1850">
                        <a:solidFill>
                          <a:schemeClr val="dk1"/>
                        </a:solidFill>
                        <a:latin typeface="Montserrat"/>
                        <a:ea typeface="Montserrat"/>
                        <a:cs typeface="Montserrat"/>
                        <a:sym typeface="Montserrat"/>
                      </a:endParaRPr>
                    </a:p>
                  </a:txBody>
                  <a:tcPr marT="68950" marB="6895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71429"/>
                        </a:lnSpc>
                        <a:spcBef>
                          <a:spcPts val="0"/>
                        </a:spcBef>
                        <a:spcAft>
                          <a:spcPts val="0"/>
                        </a:spcAft>
                        <a:buNone/>
                      </a:pPr>
                      <a:r>
                        <a:rPr lang="en-US" sz="1850">
                          <a:solidFill>
                            <a:schemeClr val="dk1"/>
                          </a:solidFill>
                          <a:latin typeface="Montserrat"/>
                          <a:ea typeface="Montserrat"/>
                          <a:cs typeface="Montserrat"/>
                          <a:sym typeface="Montserrat"/>
                        </a:rPr>
                        <a:t>Giai đoạn</a:t>
                      </a:r>
                      <a:r>
                        <a:rPr lang="en-US" sz="1850">
                          <a:solidFill>
                            <a:schemeClr val="dk1"/>
                          </a:solidFill>
                          <a:latin typeface="Montserrat"/>
                          <a:ea typeface="Montserrat"/>
                          <a:cs typeface="Montserrat"/>
                          <a:sym typeface="Montserrat"/>
                        </a:rPr>
                        <a:t> 3</a:t>
                      </a:r>
                      <a:endParaRPr sz="185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0"/>
                        </a:spcBef>
                        <a:spcAft>
                          <a:spcPts val="0"/>
                        </a:spcAft>
                        <a:buNone/>
                      </a:pPr>
                      <a:r>
                        <a:rPr lang="en-US" sz="1850">
                          <a:solidFill>
                            <a:schemeClr val="dk1"/>
                          </a:solidFill>
                          <a:latin typeface="Montserrat"/>
                          <a:ea typeface="Montserrat"/>
                          <a:cs typeface="Montserrat"/>
                          <a:sym typeface="Montserrat"/>
                        </a:rPr>
                        <a:t>Thu thập, mô phỏng, đánh giá &amp; tối ưu hóa</a:t>
                      </a:r>
                      <a:endParaRPr sz="1850">
                        <a:solidFill>
                          <a:schemeClr val="dk1"/>
                        </a:solidFill>
                        <a:latin typeface="Montserrat"/>
                        <a:ea typeface="Montserrat"/>
                        <a:cs typeface="Montserrat"/>
                        <a:sym typeface="Montserrat"/>
                      </a:endParaRPr>
                    </a:p>
                  </a:txBody>
                  <a:tcPr marT="68950" marB="6895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7175">
                <a:tc>
                  <a:txBody>
                    <a:bodyPr/>
                    <a:lstStyle/>
                    <a:p>
                      <a:pPr indent="0" lvl="0" marL="0" rtl="0" algn="l">
                        <a:lnSpc>
                          <a:spcPct val="171429"/>
                        </a:lnSpc>
                        <a:spcBef>
                          <a:spcPts val="0"/>
                        </a:spcBef>
                        <a:spcAft>
                          <a:spcPts val="0"/>
                        </a:spcAft>
                        <a:buNone/>
                      </a:pPr>
                      <a:r>
                        <a:rPr b="1" lang="en-US" sz="1850">
                          <a:solidFill>
                            <a:schemeClr val="dk1"/>
                          </a:solidFill>
                          <a:latin typeface="Montserrat"/>
                          <a:ea typeface="Montserrat"/>
                          <a:cs typeface="Montserrat"/>
                          <a:sym typeface="Montserrat"/>
                        </a:rPr>
                        <a:t>01 Bằng sáng chế</a:t>
                      </a:r>
                      <a:endParaRPr b="1" sz="1850">
                        <a:solidFill>
                          <a:schemeClr val="dk1"/>
                        </a:solidFill>
                        <a:latin typeface="Montserrat"/>
                        <a:ea typeface="Montserrat"/>
                        <a:cs typeface="Montserrat"/>
                        <a:sym typeface="Montserrat"/>
                      </a:endParaRPr>
                    </a:p>
                  </a:txBody>
                  <a:tcPr marT="68950" marB="6895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71429"/>
                        </a:lnSpc>
                        <a:spcBef>
                          <a:spcPts val="0"/>
                        </a:spcBef>
                        <a:spcAft>
                          <a:spcPts val="0"/>
                        </a:spcAft>
                        <a:buNone/>
                      </a:pPr>
                      <a:r>
                        <a:rPr lang="en-US" sz="1850">
                          <a:solidFill>
                            <a:schemeClr val="dk1"/>
                          </a:solidFill>
                          <a:latin typeface="Montserrat"/>
                          <a:ea typeface="Montserrat"/>
                          <a:cs typeface="Montserrat"/>
                          <a:sym typeface="Montserrat"/>
                        </a:rPr>
                        <a:t>Giai đoạn </a:t>
                      </a:r>
                      <a:r>
                        <a:rPr lang="en-US" sz="1850">
                          <a:solidFill>
                            <a:schemeClr val="dk1"/>
                          </a:solidFill>
                          <a:latin typeface="Montserrat"/>
                          <a:ea typeface="Montserrat"/>
                          <a:cs typeface="Montserrat"/>
                          <a:sym typeface="Montserrat"/>
                        </a:rPr>
                        <a:t>3</a:t>
                      </a:r>
                      <a:endParaRPr sz="185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71429"/>
                        </a:lnSpc>
                        <a:spcBef>
                          <a:spcPts val="0"/>
                        </a:spcBef>
                        <a:spcAft>
                          <a:spcPts val="0"/>
                        </a:spcAft>
                        <a:buNone/>
                      </a:pPr>
                      <a:r>
                        <a:rPr lang="en-US" sz="1850">
                          <a:solidFill>
                            <a:schemeClr val="dk1"/>
                          </a:solidFill>
                          <a:latin typeface="Montserrat"/>
                          <a:ea typeface="Montserrat"/>
                          <a:cs typeface="Montserrat"/>
                          <a:sym typeface="Montserrat"/>
                        </a:rPr>
                        <a:t>Bảo hộ thiết bị AI proxy &amp; thuật toán adaptive assessment</a:t>
                      </a:r>
                      <a:endParaRPr sz="1850">
                        <a:solidFill>
                          <a:schemeClr val="dk1"/>
                        </a:solidFill>
                        <a:latin typeface="Montserrat"/>
                        <a:ea typeface="Montserrat"/>
                        <a:cs typeface="Montserrat"/>
                        <a:sym typeface="Montserrat"/>
                      </a:endParaRPr>
                    </a:p>
                  </a:txBody>
                  <a:tcPr marT="68950" marB="6895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42900">
                <a:tc>
                  <a:txBody>
                    <a:bodyPr/>
                    <a:lstStyle/>
                    <a:p>
                      <a:pPr indent="0" lvl="0" marL="0" rtl="0" algn="l">
                        <a:lnSpc>
                          <a:spcPct val="171429"/>
                        </a:lnSpc>
                        <a:spcBef>
                          <a:spcPts val="0"/>
                        </a:spcBef>
                        <a:spcAft>
                          <a:spcPts val="0"/>
                        </a:spcAft>
                        <a:buNone/>
                      </a:pPr>
                      <a:r>
                        <a:rPr b="1" lang="en-US" sz="1850">
                          <a:solidFill>
                            <a:schemeClr val="dk1"/>
                          </a:solidFill>
                          <a:latin typeface="Montserrat"/>
                          <a:ea typeface="Montserrat"/>
                          <a:cs typeface="Montserrat"/>
                          <a:sym typeface="Montserrat"/>
                        </a:rPr>
                        <a:t>Đào tạo nhân lực cao cấp</a:t>
                      </a:r>
                      <a:endParaRPr b="1" sz="1850">
                        <a:solidFill>
                          <a:schemeClr val="dk1"/>
                        </a:solidFill>
                        <a:latin typeface="Montserrat"/>
                        <a:ea typeface="Montserrat"/>
                        <a:cs typeface="Montserrat"/>
                        <a:sym typeface="Montserrat"/>
                      </a:endParaRPr>
                    </a:p>
                    <a:p>
                      <a:pPr indent="0" lvl="0" marL="0" rtl="0" algn="l">
                        <a:lnSpc>
                          <a:spcPct val="171429"/>
                        </a:lnSpc>
                        <a:spcBef>
                          <a:spcPts val="0"/>
                        </a:spcBef>
                        <a:spcAft>
                          <a:spcPts val="0"/>
                        </a:spcAft>
                        <a:buNone/>
                      </a:pPr>
                      <a:r>
                        <a:rPr b="1" lang="en-US" sz="1850">
                          <a:solidFill>
                            <a:schemeClr val="dk1"/>
                          </a:solidFill>
                          <a:latin typeface="Montserrat"/>
                          <a:ea typeface="Montserrat"/>
                          <a:cs typeface="Montserrat"/>
                          <a:sym typeface="Montserrat"/>
                        </a:rPr>
                        <a:t>– 1 Tiến sĩ, 3 Thạc sĩ</a:t>
                      </a:r>
                      <a:endParaRPr b="1" sz="1850">
                        <a:solidFill>
                          <a:schemeClr val="dk1"/>
                        </a:solidFill>
                        <a:latin typeface="Montserrat"/>
                        <a:ea typeface="Montserrat"/>
                        <a:cs typeface="Montserrat"/>
                        <a:sym typeface="Montserrat"/>
                      </a:endParaRPr>
                    </a:p>
                  </a:txBody>
                  <a:tcPr marT="68950" marB="22860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a:solidFill>
                        <a:schemeClr val="dk1"/>
                      </a:solidFill>
                      <a:prstDash val="solid"/>
                      <a:round/>
                      <a:headEnd len="sm" w="sm" type="none"/>
                      <a:tailEnd len="sm" w="sm" type="none"/>
                    </a:lnB>
                  </a:tcPr>
                </a:tc>
                <a:tc>
                  <a:txBody>
                    <a:bodyPr/>
                    <a:lstStyle/>
                    <a:p>
                      <a:pPr indent="0" lvl="0" marL="0" rtl="0" algn="ctr">
                        <a:lnSpc>
                          <a:spcPct val="171429"/>
                        </a:lnSpc>
                        <a:spcBef>
                          <a:spcPts val="0"/>
                        </a:spcBef>
                        <a:spcAft>
                          <a:spcPts val="0"/>
                        </a:spcAft>
                        <a:buNone/>
                      </a:pPr>
                      <a:r>
                        <a:rPr lang="en-US" sz="1850">
                          <a:solidFill>
                            <a:schemeClr val="dk1"/>
                          </a:solidFill>
                          <a:latin typeface="Montserrat"/>
                          <a:ea typeface="Montserrat"/>
                          <a:cs typeface="Montserrat"/>
                          <a:sym typeface="Montserrat"/>
                        </a:rPr>
                        <a:t>Tổng dự án</a:t>
                      </a:r>
                      <a:endParaRPr sz="1850">
                        <a:solidFill>
                          <a:schemeClr val="dk1"/>
                        </a:solidFill>
                        <a:latin typeface="Montserrat"/>
                        <a:ea typeface="Montserrat"/>
                        <a:cs typeface="Montserrat"/>
                        <a:sym typeface="Montserrat"/>
                      </a:endParaRPr>
                    </a:p>
                  </a:txBody>
                  <a:tcPr marT="68950" marB="22860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a:solidFill>
                        <a:schemeClr val="dk1"/>
                      </a:solidFill>
                      <a:prstDash val="solid"/>
                      <a:round/>
                      <a:headEnd len="sm" w="sm" type="none"/>
                      <a:tailEnd len="sm" w="sm" type="none"/>
                    </a:lnB>
                  </a:tcPr>
                </a:tc>
                <a:tc>
                  <a:txBody>
                    <a:bodyPr/>
                    <a:lstStyle/>
                    <a:p>
                      <a:pPr indent="0" lvl="0" marL="0" rtl="0" algn="l">
                        <a:lnSpc>
                          <a:spcPct val="171429"/>
                        </a:lnSpc>
                        <a:spcBef>
                          <a:spcPts val="0"/>
                        </a:spcBef>
                        <a:spcAft>
                          <a:spcPts val="0"/>
                        </a:spcAft>
                        <a:buNone/>
                      </a:pPr>
                      <a:r>
                        <a:rPr lang="en-US" sz="1850">
                          <a:solidFill>
                            <a:schemeClr val="dk1"/>
                          </a:solidFill>
                          <a:latin typeface="Montserrat"/>
                          <a:ea typeface="Montserrat"/>
                          <a:cs typeface="Montserrat"/>
                          <a:sym typeface="Montserrat"/>
                        </a:rPr>
                        <a:t>Đảm bảo chuyển giao công nghệ và nâng cao năng lực nghiên cứu nội bộ</a:t>
                      </a:r>
                      <a:endParaRPr sz="1850">
                        <a:solidFill>
                          <a:schemeClr val="dk1"/>
                        </a:solidFill>
                        <a:latin typeface="Montserrat"/>
                        <a:ea typeface="Montserrat"/>
                        <a:cs typeface="Montserrat"/>
                        <a:sym typeface="Montserrat"/>
                      </a:endParaRPr>
                    </a:p>
                  </a:txBody>
                  <a:tcPr marT="68950" marB="22860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a:solidFill>
                        <a:schemeClr val="dk1"/>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372c19eb17b_0_33"/>
          <p:cNvSpPr txBox="1"/>
          <p:nvPr/>
        </p:nvSpPr>
        <p:spPr>
          <a:xfrm>
            <a:off x="1194025" y="1505425"/>
            <a:ext cx="16844700" cy="7142100"/>
          </a:xfrm>
          <a:prstGeom prst="rect">
            <a:avLst/>
          </a:prstGeom>
          <a:noFill/>
          <a:ln>
            <a:noFill/>
          </a:ln>
        </p:spPr>
        <p:txBody>
          <a:bodyPr anchorCtr="0" anchor="t" bIns="0" lIns="0" spcFirstLastPara="1" rIns="0" wrap="square" tIns="0">
            <a:spAutoFit/>
          </a:bodyPr>
          <a:lstStyle/>
          <a:p>
            <a:pPr indent="-431800" lvl="0" marL="457200" marR="0" rtl="0" algn="just">
              <a:lnSpc>
                <a:spcPct val="150000"/>
              </a:lnSpc>
              <a:spcBef>
                <a:spcPts val="0"/>
              </a:spcBef>
              <a:spcAft>
                <a:spcPts val="0"/>
              </a:spcAft>
              <a:buSzPts val="3200"/>
              <a:buFont typeface="Montserrat Medium"/>
              <a:buChar char="●"/>
            </a:pPr>
            <a:r>
              <a:rPr lang="en-US" sz="3200">
                <a:latin typeface="Montserrat Medium"/>
                <a:ea typeface="Montserrat Medium"/>
                <a:cs typeface="Montserrat Medium"/>
                <a:sym typeface="Montserrat Medium"/>
              </a:rPr>
              <a:t>Đối với công bố học thuật </a:t>
            </a:r>
            <a:endParaRPr sz="3200">
              <a:latin typeface="Montserrat Medium"/>
              <a:ea typeface="Montserrat Medium"/>
              <a:cs typeface="Montserrat Medium"/>
              <a:sym typeface="Montserrat Medium"/>
            </a:endParaRPr>
          </a:p>
          <a:p>
            <a:pPr indent="-431800" lvl="1" marL="914400" marR="0" rtl="0" algn="just">
              <a:lnSpc>
                <a:spcPct val="150000"/>
              </a:lnSpc>
              <a:spcBef>
                <a:spcPts val="0"/>
              </a:spcBef>
              <a:spcAft>
                <a:spcPts val="0"/>
              </a:spcAft>
              <a:buSzPts val="3200"/>
              <a:buFont typeface="Montserrat Medium"/>
              <a:buChar char="○"/>
            </a:pPr>
            <a:r>
              <a:rPr lang="en-US" sz="3200">
                <a:latin typeface="Montserrat Medium"/>
                <a:ea typeface="Montserrat Medium"/>
                <a:cs typeface="Montserrat Medium"/>
                <a:sym typeface="Montserrat Medium"/>
              </a:rPr>
              <a:t>Hai bài </a:t>
            </a:r>
            <a:r>
              <a:rPr lang="en-US" sz="3200">
                <a:latin typeface="Montserrat Medium"/>
                <a:ea typeface="Montserrat Medium"/>
                <a:cs typeface="Montserrat Medium"/>
                <a:sym typeface="Montserrat Medium"/>
              </a:rPr>
              <a:t>tạp</a:t>
            </a:r>
            <a:r>
              <a:rPr lang="en-US" sz="3200">
                <a:latin typeface="Montserrat Medium"/>
                <a:ea typeface="Montserrat Medium"/>
                <a:cs typeface="Montserrat Medium"/>
                <a:sym typeface="Montserrat Medium"/>
              </a:rPr>
              <a:t> chí Q1 hoặc hai bài báo ở hội nghị A*/A</a:t>
            </a:r>
            <a:endParaRPr sz="3200">
              <a:latin typeface="Montserrat Medium"/>
              <a:ea typeface="Montserrat Medium"/>
              <a:cs typeface="Montserrat Medium"/>
              <a:sym typeface="Montserrat Medium"/>
            </a:endParaRPr>
          </a:p>
          <a:p>
            <a:pPr indent="-431800" lvl="2" marL="1371600" marR="0" rtl="0" algn="just">
              <a:lnSpc>
                <a:spcPct val="150000"/>
              </a:lnSpc>
              <a:spcBef>
                <a:spcPts val="0"/>
              </a:spcBef>
              <a:spcAft>
                <a:spcPts val="0"/>
              </a:spcAft>
              <a:buSzPts val="3200"/>
              <a:buFont typeface="Montserrat Medium"/>
              <a:buChar char="■"/>
            </a:pPr>
            <a:r>
              <a:rPr lang="en-US" sz="3200">
                <a:latin typeface="Montserrat Medium"/>
                <a:ea typeface="Montserrat Medium"/>
                <a:cs typeface="Montserrat Medium"/>
                <a:sym typeface="Montserrat Medium"/>
              </a:rPr>
              <a:t>Những tạp chí Q1: Nature, Nature Machine Intelligence, Nature Neuroscience, Nature Biotechnology</a:t>
            </a:r>
            <a:endParaRPr sz="3200">
              <a:latin typeface="Montserrat Medium"/>
              <a:ea typeface="Montserrat Medium"/>
              <a:cs typeface="Montserrat Medium"/>
              <a:sym typeface="Montserrat Medium"/>
            </a:endParaRPr>
          </a:p>
          <a:p>
            <a:pPr indent="-431800" lvl="2" marL="1371600" marR="0" rtl="0" algn="just">
              <a:lnSpc>
                <a:spcPct val="150000"/>
              </a:lnSpc>
              <a:spcBef>
                <a:spcPts val="0"/>
              </a:spcBef>
              <a:spcAft>
                <a:spcPts val="0"/>
              </a:spcAft>
              <a:buSzPts val="3200"/>
              <a:buFont typeface="Montserrat Medium"/>
              <a:buChar char="■"/>
            </a:pPr>
            <a:r>
              <a:rPr lang="en-US" sz="3200">
                <a:latin typeface="Montserrat Medium"/>
                <a:ea typeface="Montserrat Medium"/>
                <a:cs typeface="Montserrat Medium"/>
                <a:sym typeface="Montserrat Medium"/>
              </a:rPr>
              <a:t>Những hội nghị A*/A:  NeurIPS (Neural Information Processing Systems), ICLR (International Conference on Learning Representations), ICML (International Conference on Machine Learning), AAAI (Annual Conference on Artificial Intelligence), ACL (Association for Computational Linguistics), EMNLP (Empirical Methods in Natural Language Processing)</a:t>
            </a:r>
            <a:endParaRPr sz="3200">
              <a:latin typeface="Montserrat Medium"/>
              <a:ea typeface="Montserrat Medium"/>
              <a:cs typeface="Montserrat Medium"/>
              <a:sym typeface="Montserrat Medium"/>
            </a:endParaRPr>
          </a:p>
          <a:p>
            <a:pPr indent="-431800" lvl="1" marL="914400" marR="0" rtl="0" algn="just">
              <a:lnSpc>
                <a:spcPct val="150000"/>
              </a:lnSpc>
              <a:spcBef>
                <a:spcPts val="0"/>
              </a:spcBef>
              <a:spcAft>
                <a:spcPts val="0"/>
              </a:spcAft>
              <a:buSzPts val="3200"/>
              <a:buFont typeface="Montserrat Medium"/>
              <a:buChar char="○"/>
            </a:pPr>
            <a:r>
              <a:rPr lang="en-US" sz="3200">
                <a:latin typeface="Montserrat Medium"/>
                <a:ea typeface="Montserrat Medium"/>
                <a:cs typeface="Montserrat Medium"/>
                <a:sym typeface="Montserrat Medium"/>
              </a:rPr>
              <a:t>Năm bài ở những hội nghị và tạp chí uy tín khác  </a:t>
            </a:r>
            <a:endParaRPr sz="3200">
              <a:latin typeface="Montserrat Medium"/>
              <a:ea typeface="Montserrat Medium"/>
              <a:cs typeface="Montserrat Medium"/>
              <a:sym typeface="Montserrat Medium"/>
            </a:endParaRPr>
          </a:p>
        </p:txBody>
      </p:sp>
      <p:sp>
        <p:nvSpPr>
          <p:cNvPr id="371" name="Google Shape;371;g372c19eb17b_0_33"/>
          <p:cNvSpPr txBox="1"/>
          <p:nvPr/>
        </p:nvSpPr>
        <p:spPr>
          <a:xfrm>
            <a:off x="1009250" y="627000"/>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VI. Các kết quả của dự án</a:t>
            </a:r>
            <a:endParaRPr b="1" sz="5000">
              <a:solidFill>
                <a:srgbClr val="004AAD"/>
              </a:solidFill>
              <a:latin typeface="Montserrat"/>
              <a:ea typeface="Montserrat"/>
              <a:cs typeface="Montserrat"/>
              <a:sym typeface="Montserrat"/>
            </a:endParaRPr>
          </a:p>
        </p:txBody>
      </p:sp>
      <p:sp>
        <p:nvSpPr>
          <p:cNvPr id="372" name="Google Shape;372;g372c19eb17b_0_33"/>
          <p:cNvSpPr/>
          <p:nvPr/>
        </p:nvSpPr>
        <p:spPr>
          <a:xfrm rot="-1624665">
            <a:off x="13605892" y="-477122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g372c19eb17b_0_33"/>
          <p:cNvSpPr/>
          <p:nvPr/>
        </p:nvSpPr>
        <p:spPr>
          <a:xfrm rot="9479154">
            <a:off x="-999634" y="7108136"/>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75c223c26e_0_10"/>
          <p:cNvSpPr txBox="1"/>
          <p:nvPr/>
        </p:nvSpPr>
        <p:spPr>
          <a:xfrm>
            <a:off x="1067575" y="657675"/>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VII. Dự toán kinh phí</a:t>
            </a:r>
            <a:endParaRPr b="1" sz="5000">
              <a:solidFill>
                <a:srgbClr val="004AAD"/>
              </a:solidFill>
              <a:latin typeface="Montserrat"/>
              <a:ea typeface="Montserrat"/>
              <a:cs typeface="Montserrat"/>
              <a:sym typeface="Montserrat"/>
            </a:endParaRPr>
          </a:p>
        </p:txBody>
      </p:sp>
      <p:sp>
        <p:nvSpPr>
          <p:cNvPr id="379" name="Google Shape;379;g375c223c26e_0_10"/>
          <p:cNvSpPr/>
          <p:nvPr/>
        </p:nvSpPr>
        <p:spPr>
          <a:xfrm rot="-1624665">
            <a:off x="12147992" y="-521707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375c223c26e_0_10"/>
          <p:cNvSpPr/>
          <p:nvPr/>
        </p:nvSpPr>
        <p:spPr>
          <a:xfrm rot="9479154">
            <a:off x="-1876809" y="8722736"/>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381" name="Google Shape;381;g375c223c26e_0_10"/>
          <p:cNvGraphicFramePr/>
          <p:nvPr/>
        </p:nvGraphicFramePr>
        <p:xfrm>
          <a:off x="1067575" y="2321575"/>
          <a:ext cx="3000000" cy="3000000"/>
        </p:xfrm>
        <a:graphic>
          <a:graphicData uri="http://schemas.openxmlformats.org/drawingml/2006/table">
            <a:tbl>
              <a:tblPr>
                <a:noFill/>
                <a:tableStyleId>{63879B4A-6A33-40A0-BAD0-4354AC2547D9}</a:tableStyleId>
              </a:tblPr>
              <a:tblGrid>
                <a:gridCol w="2731950"/>
                <a:gridCol w="3161975"/>
                <a:gridCol w="2200750"/>
              </a:tblGrid>
              <a:tr h="557675">
                <a:tc>
                  <a:txBody>
                    <a:bodyPr/>
                    <a:lstStyle/>
                    <a:p>
                      <a:pPr indent="0" lvl="0" marL="0" rtl="0" algn="ctr">
                        <a:lnSpc>
                          <a:spcPct val="126315"/>
                        </a:lnSpc>
                        <a:spcBef>
                          <a:spcPts val="0"/>
                        </a:spcBef>
                        <a:spcAft>
                          <a:spcPts val="0"/>
                        </a:spcAft>
                        <a:buNone/>
                      </a:pPr>
                      <a:r>
                        <a:rPr b="1" lang="en-US" sz="2300">
                          <a:solidFill>
                            <a:schemeClr val="dk1"/>
                          </a:solidFill>
                          <a:latin typeface="Montserrat"/>
                          <a:ea typeface="Montserrat"/>
                          <a:cs typeface="Montserrat"/>
                          <a:sym typeface="Montserrat"/>
                        </a:rPr>
                        <a:t>Hạng mục</a:t>
                      </a:r>
                      <a:endParaRPr b="1" sz="2300">
                        <a:solidFill>
                          <a:schemeClr val="dk1"/>
                        </a:solidFill>
                        <a:latin typeface="Montserrat"/>
                        <a:ea typeface="Montserrat"/>
                        <a:cs typeface="Montserrat"/>
                        <a:sym typeface="Montserrat"/>
                      </a:endParaRPr>
                    </a:p>
                  </a:txBody>
                  <a:tcPr marT="91425" marB="68950" marR="68950" marL="91425" anchor="b">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26315"/>
                        </a:lnSpc>
                        <a:spcBef>
                          <a:spcPts val="0"/>
                        </a:spcBef>
                        <a:spcAft>
                          <a:spcPts val="0"/>
                        </a:spcAft>
                        <a:buNone/>
                      </a:pPr>
                      <a:r>
                        <a:rPr b="1" lang="en-US" sz="2300">
                          <a:solidFill>
                            <a:schemeClr val="dk1"/>
                          </a:solidFill>
                          <a:latin typeface="Montserrat"/>
                          <a:ea typeface="Montserrat"/>
                          <a:cs typeface="Montserrat"/>
                          <a:sym typeface="Montserrat"/>
                        </a:rPr>
                        <a:t>Chi phí (triệu VND)</a:t>
                      </a:r>
                      <a:endParaRPr b="1" sz="2300">
                        <a:solidFill>
                          <a:schemeClr val="dk1"/>
                        </a:solidFill>
                        <a:latin typeface="Montserrat"/>
                        <a:ea typeface="Montserrat"/>
                        <a:cs typeface="Montserrat"/>
                        <a:sym typeface="Montserrat"/>
                      </a:endParaRPr>
                    </a:p>
                  </a:txBody>
                  <a:tcPr marT="91425" marB="68950" marR="68950" marL="68950" anchor="b">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26315"/>
                        </a:lnSpc>
                        <a:spcBef>
                          <a:spcPts val="0"/>
                        </a:spcBef>
                        <a:spcAft>
                          <a:spcPts val="0"/>
                        </a:spcAft>
                        <a:buNone/>
                      </a:pPr>
                      <a:r>
                        <a:rPr b="1" lang="en-US" sz="2300">
                          <a:solidFill>
                            <a:schemeClr val="dk1"/>
                          </a:solidFill>
                          <a:latin typeface="Montserrat"/>
                          <a:ea typeface="Montserrat"/>
                          <a:cs typeface="Montserrat"/>
                          <a:sym typeface="Montserrat"/>
                        </a:rPr>
                        <a:t>Tỷ lệ (%)</a:t>
                      </a:r>
                      <a:endParaRPr b="1" sz="2300">
                        <a:solidFill>
                          <a:schemeClr val="dk1"/>
                        </a:solidFill>
                        <a:latin typeface="Montserrat"/>
                        <a:ea typeface="Montserrat"/>
                        <a:cs typeface="Montserrat"/>
                        <a:sym typeface="Montserrat"/>
                      </a:endParaRPr>
                    </a:p>
                  </a:txBody>
                  <a:tcPr marT="91425" marB="68950" marR="91425" marL="68950" anchor="b">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00250">
                <a:tc>
                  <a:txBody>
                    <a:bodyPr/>
                    <a:lstStyle/>
                    <a:p>
                      <a:pPr indent="0" lvl="0" marL="0" rtl="0" algn="l">
                        <a:lnSpc>
                          <a:spcPct val="171429"/>
                        </a:lnSpc>
                        <a:spcBef>
                          <a:spcPts val="0"/>
                        </a:spcBef>
                        <a:spcAft>
                          <a:spcPts val="0"/>
                        </a:spcAft>
                        <a:buNone/>
                      </a:pPr>
                      <a:r>
                        <a:rPr b="1" lang="en-US" sz="2300">
                          <a:solidFill>
                            <a:schemeClr val="dk1"/>
                          </a:solidFill>
                          <a:latin typeface="Montserrat"/>
                          <a:ea typeface="Montserrat"/>
                          <a:cs typeface="Montserrat"/>
                          <a:sym typeface="Montserrat"/>
                        </a:rPr>
                        <a:t>A. Nhân lực</a:t>
                      </a:r>
                      <a:endParaRPr b="1" sz="2300">
                        <a:solidFill>
                          <a:schemeClr val="dk1"/>
                        </a:solidFill>
                        <a:latin typeface="Montserrat"/>
                        <a:ea typeface="Montserrat"/>
                        <a:cs typeface="Montserrat"/>
                        <a:sym typeface="Montserrat"/>
                      </a:endParaRPr>
                    </a:p>
                  </a:txBody>
                  <a:tcPr marT="68950" marB="6895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3 124,80</a:t>
                      </a:r>
                      <a:endParaRPr sz="230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67,6%</a:t>
                      </a:r>
                      <a:endParaRPr sz="2300">
                        <a:solidFill>
                          <a:schemeClr val="dk1"/>
                        </a:solidFill>
                        <a:latin typeface="Montserrat"/>
                        <a:ea typeface="Montserrat"/>
                        <a:cs typeface="Montserrat"/>
                        <a:sym typeface="Montserrat"/>
                      </a:endParaRPr>
                    </a:p>
                  </a:txBody>
                  <a:tcPr marT="68950" marB="6895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00250">
                <a:tc>
                  <a:txBody>
                    <a:bodyPr/>
                    <a:lstStyle/>
                    <a:p>
                      <a:pPr indent="0" lvl="0" marL="0" rtl="0" algn="l">
                        <a:lnSpc>
                          <a:spcPct val="171429"/>
                        </a:lnSpc>
                        <a:spcBef>
                          <a:spcPts val="0"/>
                        </a:spcBef>
                        <a:spcAft>
                          <a:spcPts val="0"/>
                        </a:spcAft>
                        <a:buNone/>
                      </a:pPr>
                      <a:r>
                        <a:rPr b="1" lang="en-US" sz="2300">
                          <a:solidFill>
                            <a:schemeClr val="dk1"/>
                          </a:solidFill>
                          <a:latin typeface="Montserrat"/>
                          <a:ea typeface="Montserrat"/>
                          <a:cs typeface="Montserrat"/>
                          <a:sym typeface="Montserrat"/>
                        </a:rPr>
                        <a:t>B. Trang thiết bị</a:t>
                      </a:r>
                      <a:endParaRPr b="1" sz="2300">
                        <a:solidFill>
                          <a:schemeClr val="dk1"/>
                        </a:solidFill>
                        <a:latin typeface="Montserrat"/>
                        <a:ea typeface="Montserrat"/>
                        <a:cs typeface="Montserrat"/>
                        <a:sym typeface="Montserrat"/>
                      </a:endParaRPr>
                    </a:p>
                  </a:txBody>
                  <a:tcPr marT="68950" marB="6895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409,62</a:t>
                      </a:r>
                      <a:endParaRPr sz="230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8,9%</a:t>
                      </a:r>
                      <a:endParaRPr sz="2300">
                        <a:solidFill>
                          <a:schemeClr val="dk1"/>
                        </a:solidFill>
                        <a:latin typeface="Montserrat"/>
                        <a:ea typeface="Montserrat"/>
                        <a:cs typeface="Montserrat"/>
                        <a:sym typeface="Montserrat"/>
                      </a:endParaRPr>
                    </a:p>
                  </a:txBody>
                  <a:tcPr marT="68950" marB="6895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00250">
                <a:tc>
                  <a:txBody>
                    <a:bodyPr/>
                    <a:lstStyle/>
                    <a:p>
                      <a:pPr indent="0" lvl="0" marL="0" rtl="0" algn="l">
                        <a:lnSpc>
                          <a:spcPct val="171429"/>
                        </a:lnSpc>
                        <a:spcBef>
                          <a:spcPts val="0"/>
                        </a:spcBef>
                        <a:spcAft>
                          <a:spcPts val="0"/>
                        </a:spcAft>
                        <a:buNone/>
                      </a:pPr>
                      <a:r>
                        <a:rPr b="1" lang="en-US" sz="2300">
                          <a:solidFill>
                            <a:schemeClr val="dk1"/>
                          </a:solidFill>
                          <a:latin typeface="Montserrat"/>
                          <a:ea typeface="Montserrat"/>
                          <a:cs typeface="Montserrat"/>
                          <a:sym typeface="Montserrat"/>
                        </a:rPr>
                        <a:t>C. Đi lại</a:t>
                      </a:r>
                      <a:endParaRPr b="1" sz="2300">
                        <a:solidFill>
                          <a:schemeClr val="dk1"/>
                        </a:solidFill>
                        <a:latin typeface="Montserrat"/>
                        <a:ea typeface="Montserrat"/>
                        <a:cs typeface="Montserrat"/>
                        <a:sym typeface="Montserrat"/>
                      </a:endParaRPr>
                    </a:p>
                  </a:txBody>
                  <a:tcPr marT="68950" marB="6895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0,00</a:t>
                      </a:r>
                      <a:endParaRPr sz="230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0,0%</a:t>
                      </a:r>
                      <a:endParaRPr sz="2300">
                        <a:solidFill>
                          <a:schemeClr val="dk1"/>
                        </a:solidFill>
                        <a:latin typeface="Montserrat"/>
                        <a:ea typeface="Montserrat"/>
                        <a:cs typeface="Montserrat"/>
                        <a:sym typeface="Montserrat"/>
                      </a:endParaRPr>
                    </a:p>
                  </a:txBody>
                  <a:tcPr marT="68950" marB="6895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00250">
                <a:tc>
                  <a:txBody>
                    <a:bodyPr/>
                    <a:lstStyle/>
                    <a:p>
                      <a:pPr indent="0" lvl="0" marL="0" rtl="0" algn="l">
                        <a:lnSpc>
                          <a:spcPct val="171429"/>
                        </a:lnSpc>
                        <a:spcBef>
                          <a:spcPts val="0"/>
                        </a:spcBef>
                        <a:spcAft>
                          <a:spcPts val="0"/>
                        </a:spcAft>
                        <a:buNone/>
                      </a:pPr>
                      <a:r>
                        <a:rPr b="1" lang="en-US" sz="2300">
                          <a:solidFill>
                            <a:schemeClr val="dk1"/>
                          </a:solidFill>
                          <a:latin typeface="Montserrat"/>
                          <a:ea typeface="Montserrat"/>
                          <a:cs typeface="Montserrat"/>
                          <a:sym typeface="Montserrat"/>
                        </a:rPr>
                        <a:t>D. Vật tư &amp; khác</a:t>
                      </a:r>
                      <a:endParaRPr b="1" sz="2300">
                        <a:solidFill>
                          <a:schemeClr val="dk1"/>
                        </a:solidFill>
                        <a:latin typeface="Montserrat"/>
                        <a:ea typeface="Montserrat"/>
                        <a:cs typeface="Montserrat"/>
                        <a:sym typeface="Montserrat"/>
                      </a:endParaRPr>
                    </a:p>
                  </a:txBody>
                  <a:tcPr marT="68950" marB="6895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867,03</a:t>
                      </a:r>
                      <a:endParaRPr sz="230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18,8%</a:t>
                      </a:r>
                      <a:endParaRPr sz="2300">
                        <a:solidFill>
                          <a:schemeClr val="dk1"/>
                        </a:solidFill>
                        <a:latin typeface="Montserrat"/>
                        <a:ea typeface="Montserrat"/>
                        <a:cs typeface="Montserrat"/>
                        <a:sym typeface="Montserrat"/>
                      </a:endParaRPr>
                    </a:p>
                  </a:txBody>
                  <a:tcPr marT="68950" marB="6895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00250">
                <a:tc>
                  <a:txBody>
                    <a:bodyPr/>
                    <a:lstStyle/>
                    <a:p>
                      <a:pPr indent="0" lvl="0" marL="0" rtl="0" algn="l">
                        <a:lnSpc>
                          <a:spcPct val="171429"/>
                        </a:lnSpc>
                        <a:spcBef>
                          <a:spcPts val="0"/>
                        </a:spcBef>
                        <a:spcAft>
                          <a:spcPts val="0"/>
                        </a:spcAft>
                        <a:buNone/>
                      </a:pPr>
                      <a:r>
                        <a:rPr b="1" lang="en-US" sz="2300">
                          <a:solidFill>
                            <a:schemeClr val="dk1"/>
                          </a:solidFill>
                          <a:latin typeface="Montserrat"/>
                          <a:ea typeface="Montserrat"/>
                          <a:cs typeface="Montserrat"/>
                          <a:sym typeface="Montserrat"/>
                        </a:rPr>
                        <a:t>E. Tổng trực tiếp</a:t>
                      </a:r>
                      <a:endParaRPr b="1" sz="2300">
                        <a:solidFill>
                          <a:schemeClr val="dk1"/>
                        </a:solidFill>
                        <a:latin typeface="Montserrat"/>
                        <a:ea typeface="Montserrat"/>
                        <a:cs typeface="Montserrat"/>
                        <a:sym typeface="Montserrat"/>
                      </a:endParaRPr>
                    </a:p>
                  </a:txBody>
                  <a:tcPr marT="68950" marB="6895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4 401,45</a:t>
                      </a:r>
                      <a:endParaRPr sz="230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95,3%</a:t>
                      </a:r>
                      <a:endParaRPr sz="2300">
                        <a:solidFill>
                          <a:schemeClr val="dk1"/>
                        </a:solidFill>
                        <a:latin typeface="Montserrat"/>
                        <a:ea typeface="Montserrat"/>
                        <a:cs typeface="Montserrat"/>
                        <a:sym typeface="Montserrat"/>
                      </a:endParaRPr>
                    </a:p>
                  </a:txBody>
                  <a:tcPr marT="68950" marB="6895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00250">
                <a:tc>
                  <a:txBody>
                    <a:bodyPr/>
                    <a:lstStyle/>
                    <a:p>
                      <a:pPr indent="0" lvl="0" marL="0" rtl="0" algn="l">
                        <a:lnSpc>
                          <a:spcPct val="171429"/>
                        </a:lnSpc>
                        <a:spcBef>
                          <a:spcPts val="0"/>
                        </a:spcBef>
                        <a:spcAft>
                          <a:spcPts val="0"/>
                        </a:spcAft>
                        <a:buNone/>
                      </a:pPr>
                      <a:r>
                        <a:rPr b="1" lang="en-US" sz="2300">
                          <a:solidFill>
                            <a:schemeClr val="dk1"/>
                          </a:solidFill>
                          <a:latin typeface="Montserrat"/>
                          <a:ea typeface="Montserrat"/>
                          <a:cs typeface="Montserrat"/>
                          <a:sym typeface="Montserrat"/>
                        </a:rPr>
                        <a:t>F. Chi phí quản lý</a:t>
                      </a:r>
                      <a:endParaRPr b="1" sz="2300">
                        <a:solidFill>
                          <a:schemeClr val="dk1"/>
                        </a:solidFill>
                        <a:latin typeface="Montserrat"/>
                        <a:ea typeface="Montserrat"/>
                        <a:cs typeface="Montserrat"/>
                        <a:sym typeface="Montserrat"/>
                      </a:endParaRPr>
                    </a:p>
                  </a:txBody>
                  <a:tcPr marT="68950" marB="6895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220,01</a:t>
                      </a:r>
                      <a:endParaRPr sz="230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4,7%</a:t>
                      </a:r>
                      <a:endParaRPr sz="2300">
                        <a:solidFill>
                          <a:schemeClr val="dk1"/>
                        </a:solidFill>
                        <a:latin typeface="Montserrat"/>
                        <a:ea typeface="Montserrat"/>
                        <a:cs typeface="Montserrat"/>
                        <a:sym typeface="Montserrat"/>
                      </a:endParaRPr>
                    </a:p>
                  </a:txBody>
                  <a:tcPr marT="68950" marB="6895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90675">
                <a:tc>
                  <a:txBody>
                    <a:bodyPr/>
                    <a:lstStyle/>
                    <a:p>
                      <a:pPr indent="0" lvl="0" marL="0" rtl="0" algn="l">
                        <a:lnSpc>
                          <a:spcPct val="171429"/>
                        </a:lnSpc>
                        <a:spcBef>
                          <a:spcPts val="0"/>
                        </a:spcBef>
                        <a:spcAft>
                          <a:spcPts val="0"/>
                        </a:spcAft>
                        <a:buNone/>
                      </a:pPr>
                      <a:r>
                        <a:rPr b="1" lang="en-US" sz="2300">
                          <a:solidFill>
                            <a:schemeClr val="dk1"/>
                          </a:solidFill>
                          <a:latin typeface="Montserrat"/>
                          <a:ea typeface="Montserrat"/>
                          <a:cs typeface="Montserrat"/>
                          <a:sym typeface="Montserrat"/>
                        </a:rPr>
                        <a:t>G. Tổng dự án</a:t>
                      </a:r>
                      <a:endParaRPr b="1" sz="2300">
                        <a:solidFill>
                          <a:schemeClr val="dk1"/>
                        </a:solidFill>
                        <a:latin typeface="Montserrat"/>
                        <a:ea typeface="Montserrat"/>
                        <a:cs typeface="Montserrat"/>
                        <a:sym typeface="Montserrat"/>
                      </a:endParaRPr>
                    </a:p>
                  </a:txBody>
                  <a:tcPr marT="68950" marB="22860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4 621,46</a:t>
                      </a:r>
                      <a:endParaRPr sz="2300">
                        <a:solidFill>
                          <a:schemeClr val="dk1"/>
                        </a:solidFill>
                        <a:latin typeface="Montserrat"/>
                        <a:ea typeface="Montserrat"/>
                        <a:cs typeface="Montserrat"/>
                        <a:sym typeface="Montserrat"/>
                      </a:endParaRPr>
                    </a:p>
                  </a:txBody>
                  <a:tcPr marT="68950" marB="22860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100,0%</a:t>
                      </a:r>
                      <a:endParaRPr sz="2300">
                        <a:solidFill>
                          <a:schemeClr val="dk1"/>
                        </a:solidFill>
                        <a:latin typeface="Montserrat"/>
                        <a:ea typeface="Montserrat"/>
                        <a:cs typeface="Montserrat"/>
                        <a:sym typeface="Montserrat"/>
                      </a:endParaRPr>
                    </a:p>
                  </a:txBody>
                  <a:tcPr marT="68950" marB="22860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a:solidFill>
                        <a:schemeClr val="dk1"/>
                      </a:solidFill>
                      <a:prstDash val="solid"/>
                      <a:round/>
                      <a:headEnd len="sm" w="sm" type="none"/>
                      <a:tailEnd len="sm" w="sm" type="none"/>
                    </a:lnB>
                  </a:tcPr>
                </a:tc>
              </a:tr>
            </a:tbl>
          </a:graphicData>
        </a:graphic>
      </p:graphicFrame>
      <p:sp>
        <p:nvSpPr>
          <p:cNvPr id="382" name="Google Shape;382;g375c223c26e_0_10"/>
          <p:cNvSpPr txBox="1"/>
          <p:nvPr/>
        </p:nvSpPr>
        <p:spPr>
          <a:xfrm>
            <a:off x="1067575" y="1427175"/>
            <a:ext cx="6096000" cy="6771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US" sz="3200">
                <a:solidFill>
                  <a:schemeClr val="accent1"/>
                </a:solidFill>
                <a:latin typeface="Montserrat Medium"/>
                <a:ea typeface="Montserrat Medium"/>
                <a:cs typeface="Montserrat Medium"/>
                <a:sym typeface="Montserrat Medium"/>
              </a:rPr>
              <a:t>Tổng quan Dự toán Kinh phí</a:t>
            </a:r>
            <a:endParaRPr/>
          </a:p>
        </p:txBody>
      </p:sp>
      <p:graphicFrame>
        <p:nvGraphicFramePr>
          <p:cNvPr id="383" name="Google Shape;383;g375c223c26e_0_10"/>
          <p:cNvGraphicFramePr/>
          <p:nvPr/>
        </p:nvGraphicFramePr>
        <p:xfrm>
          <a:off x="9785825" y="1421238"/>
          <a:ext cx="3000000" cy="3000000"/>
        </p:xfrm>
        <a:graphic>
          <a:graphicData uri="http://schemas.openxmlformats.org/drawingml/2006/table">
            <a:tbl>
              <a:tblPr>
                <a:noFill/>
                <a:tableStyleId>{63879B4A-6A33-40A0-BAD0-4354AC2547D9}</a:tableStyleId>
              </a:tblPr>
              <a:tblGrid>
                <a:gridCol w="2377800"/>
                <a:gridCol w="1593650"/>
                <a:gridCol w="2377800"/>
                <a:gridCol w="1745425"/>
              </a:tblGrid>
              <a:tr h="466725">
                <a:tc>
                  <a:txBody>
                    <a:bodyPr/>
                    <a:lstStyle/>
                    <a:p>
                      <a:pPr indent="0" lvl="0" marL="0" rtl="0" algn="ctr">
                        <a:lnSpc>
                          <a:spcPct val="126315"/>
                        </a:lnSpc>
                        <a:spcBef>
                          <a:spcPts val="0"/>
                        </a:spcBef>
                        <a:spcAft>
                          <a:spcPts val="0"/>
                        </a:spcAft>
                        <a:buNone/>
                      </a:pPr>
                      <a:r>
                        <a:rPr b="1" lang="en-US" sz="2300">
                          <a:solidFill>
                            <a:schemeClr val="dk1"/>
                          </a:solidFill>
                          <a:latin typeface="Montserrat"/>
                          <a:ea typeface="Montserrat"/>
                          <a:cs typeface="Montserrat"/>
                          <a:sym typeface="Montserrat"/>
                        </a:rPr>
                        <a:t>Vị trí</a:t>
                      </a:r>
                      <a:endParaRPr b="1" sz="2300">
                        <a:solidFill>
                          <a:schemeClr val="dk1"/>
                        </a:solidFill>
                        <a:latin typeface="Montserrat"/>
                        <a:ea typeface="Montserrat"/>
                        <a:cs typeface="Montserrat"/>
                        <a:sym typeface="Montserrat"/>
                      </a:endParaRPr>
                    </a:p>
                  </a:txBody>
                  <a:tcPr marT="91425" marB="68950" marR="68950" marL="91425" anchor="b">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26315"/>
                        </a:lnSpc>
                        <a:spcBef>
                          <a:spcPts val="0"/>
                        </a:spcBef>
                        <a:spcAft>
                          <a:spcPts val="0"/>
                        </a:spcAft>
                        <a:buNone/>
                      </a:pPr>
                      <a:r>
                        <a:rPr b="1" lang="en-US" sz="2300">
                          <a:solidFill>
                            <a:schemeClr val="dk1"/>
                          </a:solidFill>
                          <a:latin typeface="Montserrat"/>
                          <a:ea typeface="Montserrat"/>
                          <a:cs typeface="Montserrat"/>
                          <a:sym typeface="Montserrat"/>
                        </a:rPr>
                        <a:t>Số tháng</a:t>
                      </a:r>
                      <a:endParaRPr b="1" sz="2300">
                        <a:solidFill>
                          <a:schemeClr val="dk1"/>
                        </a:solidFill>
                        <a:latin typeface="Montserrat"/>
                        <a:ea typeface="Montserrat"/>
                        <a:cs typeface="Montserrat"/>
                        <a:sym typeface="Montserrat"/>
                      </a:endParaRPr>
                    </a:p>
                  </a:txBody>
                  <a:tcPr marT="91425" marB="68950" marR="68950" marL="68950" anchor="b">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26315"/>
                        </a:lnSpc>
                        <a:spcBef>
                          <a:spcPts val="0"/>
                        </a:spcBef>
                        <a:spcAft>
                          <a:spcPts val="0"/>
                        </a:spcAft>
                        <a:buNone/>
                      </a:pPr>
                      <a:r>
                        <a:rPr b="1" lang="en-US" sz="2300">
                          <a:solidFill>
                            <a:schemeClr val="dk1"/>
                          </a:solidFill>
                          <a:latin typeface="Montserrat"/>
                          <a:ea typeface="Montserrat"/>
                          <a:cs typeface="Montserrat"/>
                          <a:sym typeface="Montserrat"/>
                        </a:rPr>
                        <a:t>Lương/tháng (triệu VND)</a:t>
                      </a:r>
                      <a:endParaRPr b="1" sz="2300">
                        <a:solidFill>
                          <a:schemeClr val="dk1"/>
                        </a:solidFill>
                        <a:latin typeface="Montserrat"/>
                        <a:ea typeface="Montserrat"/>
                        <a:cs typeface="Montserrat"/>
                        <a:sym typeface="Montserrat"/>
                      </a:endParaRPr>
                    </a:p>
                  </a:txBody>
                  <a:tcPr marT="91425" marB="68950" marR="68950" marL="68950" anchor="b">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26315"/>
                        </a:lnSpc>
                        <a:spcBef>
                          <a:spcPts val="0"/>
                        </a:spcBef>
                        <a:spcAft>
                          <a:spcPts val="0"/>
                        </a:spcAft>
                        <a:buNone/>
                      </a:pPr>
                      <a:r>
                        <a:rPr b="1" lang="en-US" sz="2300">
                          <a:solidFill>
                            <a:schemeClr val="dk1"/>
                          </a:solidFill>
                          <a:latin typeface="Montserrat"/>
                          <a:ea typeface="Montserrat"/>
                          <a:cs typeface="Montserrat"/>
                          <a:sym typeface="Montserrat"/>
                        </a:rPr>
                        <a:t>Tổng (triệu VND)</a:t>
                      </a:r>
                      <a:endParaRPr b="1" sz="2300">
                        <a:solidFill>
                          <a:schemeClr val="dk1"/>
                        </a:solidFill>
                        <a:latin typeface="Montserrat"/>
                        <a:ea typeface="Montserrat"/>
                        <a:cs typeface="Montserrat"/>
                        <a:sym typeface="Montserrat"/>
                      </a:endParaRPr>
                    </a:p>
                  </a:txBody>
                  <a:tcPr marT="91425" marB="68950" marR="91425" marL="68950" anchor="b">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28625">
                <a:tc>
                  <a:txBody>
                    <a:bodyPr/>
                    <a:lstStyle/>
                    <a:p>
                      <a:pPr indent="0" lvl="0" marL="0" rtl="0" algn="l">
                        <a:lnSpc>
                          <a:spcPct val="171429"/>
                        </a:lnSpc>
                        <a:spcBef>
                          <a:spcPts val="0"/>
                        </a:spcBef>
                        <a:spcAft>
                          <a:spcPts val="0"/>
                        </a:spcAft>
                        <a:buNone/>
                      </a:pPr>
                      <a:r>
                        <a:rPr b="1" lang="en-US" sz="2300">
                          <a:solidFill>
                            <a:schemeClr val="dk1"/>
                          </a:solidFill>
                          <a:latin typeface="Montserrat"/>
                          <a:ea typeface="Montserrat"/>
                          <a:cs typeface="Montserrat"/>
                          <a:sym typeface="Montserrat"/>
                        </a:rPr>
                        <a:t>Senior Personnel</a:t>
                      </a:r>
                      <a:endParaRPr b="1" sz="2300">
                        <a:solidFill>
                          <a:schemeClr val="dk1"/>
                        </a:solidFill>
                        <a:latin typeface="Montserrat"/>
                        <a:ea typeface="Montserrat"/>
                        <a:cs typeface="Montserrat"/>
                        <a:sym typeface="Montserrat"/>
                      </a:endParaRPr>
                    </a:p>
                  </a:txBody>
                  <a:tcPr marT="68950" marB="6895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230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230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2 548,80</a:t>
                      </a:r>
                      <a:endParaRPr sz="2300">
                        <a:solidFill>
                          <a:schemeClr val="dk1"/>
                        </a:solidFill>
                        <a:latin typeface="Montserrat"/>
                        <a:ea typeface="Montserrat"/>
                        <a:cs typeface="Montserrat"/>
                        <a:sym typeface="Montserrat"/>
                      </a:endParaRPr>
                    </a:p>
                  </a:txBody>
                  <a:tcPr marT="68950" marB="6895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28625">
                <a:tc>
                  <a:txBody>
                    <a:bodyPr/>
                    <a:lstStyle/>
                    <a:p>
                      <a:pPr indent="0" lvl="0" marL="0" rtl="0" algn="l">
                        <a:lnSpc>
                          <a:spcPct val="171429"/>
                        </a:lnSpc>
                        <a:spcBef>
                          <a:spcPts val="0"/>
                        </a:spcBef>
                        <a:spcAft>
                          <a:spcPts val="0"/>
                        </a:spcAft>
                        <a:buNone/>
                      </a:pPr>
                      <a:r>
                        <a:rPr b="1" lang="en-US" sz="2300">
                          <a:solidFill>
                            <a:schemeClr val="dk1"/>
                          </a:solidFill>
                          <a:latin typeface="Montserrat"/>
                          <a:ea typeface="Montserrat"/>
                          <a:cs typeface="Montserrat"/>
                          <a:sym typeface="Montserrat"/>
                        </a:rPr>
                        <a:t>– Nghiên cứu viên chính</a:t>
                      </a:r>
                      <a:endParaRPr b="1" sz="2300">
                        <a:solidFill>
                          <a:schemeClr val="dk1"/>
                        </a:solidFill>
                        <a:latin typeface="Montserrat"/>
                        <a:ea typeface="Montserrat"/>
                        <a:cs typeface="Montserrat"/>
                        <a:sym typeface="Montserrat"/>
                      </a:endParaRPr>
                    </a:p>
                  </a:txBody>
                  <a:tcPr marT="68950" marB="6895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30</a:t>
                      </a:r>
                      <a:endParaRPr sz="230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360,00</a:t>
                      </a:r>
                      <a:endParaRPr sz="230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360,00</a:t>
                      </a:r>
                      <a:endParaRPr sz="2300">
                        <a:solidFill>
                          <a:schemeClr val="dk1"/>
                        </a:solidFill>
                        <a:latin typeface="Montserrat"/>
                        <a:ea typeface="Montserrat"/>
                        <a:cs typeface="Montserrat"/>
                        <a:sym typeface="Montserrat"/>
                      </a:endParaRPr>
                    </a:p>
                  </a:txBody>
                  <a:tcPr marT="68950" marB="6895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28625">
                <a:tc>
                  <a:txBody>
                    <a:bodyPr/>
                    <a:lstStyle/>
                    <a:p>
                      <a:pPr indent="0" lvl="0" marL="0" rtl="0" algn="l">
                        <a:lnSpc>
                          <a:spcPct val="171429"/>
                        </a:lnSpc>
                        <a:spcBef>
                          <a:spcPts val="0"/>
                        </a:spcBef>
                        <a:spcAft>
                          <a:spcPts val="0"/>
                        </a:spcAft>
                        <a:buNone/>
                      </a:pPr>
                      <a:r>
                        <a:rPr b="1" lang="en-US" sz="2300">
                          <a:solidFill>
                            <a:schemeClr val="dk1"/>
                          </a:solidFill>
                          <a:latin typeface="Montserrat"/>
                          <a:ea typeface="Montserrat"/>
                          <a:cs typeface="Montserrat"/>
                          <a:sym typeface="Montserrat"/>
                        </a:rPr>
                        <a:t>– Thành viên Chủ chốt x8</a:t>
                      </a:r>
                      <a:endParaRPr b="1" sz="2300">
                        <a:solidFill>
                          <a:schemeClr val="dk1"/>
                        </a:solidFill>
                        <a:latin typeface="Montserrat"/>
                        <a:ea typeface="Montserrat"/>
                        <a:cs typeface="Montserrat"/>
                        <a:sym typeface="Montserrat"/>
                      </a:endParaRPr>
                    </a:p>
                  </a:txBody>
                  <a:tcPr marT="68950" marB="6895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27–30</a:t>
                      </a:r>
                      <a:endParaRPr sz="230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259–288</a:t>
                      </a:r>
                      <a:endParaRPr sz="230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2 288,00*</a:t>
                      </a:r>
                      <a:endParaRPr sz="2300">
                        <a:solidFill>
                          <a:schemeClr val="dk1"/>
                        </a:solidFill>
                        <a:latin typeface="Montserrat"/>
                        <a:ea typeface="Montserrat"/>
                        <a:cs typeface="Montserrat"/>
                        <a:sym typeface="Montserrat"/>
                      </a:endParaRPr>
                    </a:p>
                  </a:txBody>
                  <a:tcPr marT="68950" marB="6895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28625">
                <a:tc>
                  <a:txBody>
                    <a:bodyPr/>
                    <a:lstStyle/>
                    <a:p>
                      <a:pPr indent="0" lvl="0" marL="0" rtl="0" algn="l">
                        <a:lnSpc>
                          <a:spcPct val="171429"/>
                        </a:lnSpc>
                        <a:spcBef>
                          <a:spcPts val="0"/>
                        </a:spcBef>
                        <a:spcAft>
                          <a:spcPts val="0"/>
                        </a:spcAft>
                        <a:buNone/>
                      </a:pPr>
                      <a:r>
                        <a:rPr b="1" lang="en-US" sz="2300">
                          <a:solidFill>
                            <a:schemeClr val="dk1"/>
                          </a:solidFill>
                          <a:latin typeface="Montserrat"/>
                          <a:ea typeface="Montserrat"/>
                          <a:cs typeface="Montserrat"/>
                          <a:sym typeface="Montserrat"/>
                        </a:rPr>
                        <a:t>Nhân lực khác (x5)</a:t>
                      </a:r>
                      <a:endParaRPr b="1" sz="2300">
                        <a:solidFill>
                          <a:schemeClr val="dk1"/>
                        </a:solidFill>
                        <a:latin typeface="Montserrat"/>
                        <a:ea typeface="Montserrat"/>
                        <a:cs typeface="Montserrat"/>
                        <a:sym typeface="Montserrat"/>
                      </a:endParaRPr>
                    </a:p>
                  </a:txBody>
                  <a:tcPr marT="68950" marB="6895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24</a:t>
                      </a:r>
                      <a:endParaRPr sz="230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115,20</a:t>
                      </a:r>
                      <a:endParaRPr sz="2300">
                        <a:solidFill>
                          <a:schemeClr val="dk1"/>
                        </a:solidFill>
                        <a:latin typeface="Montserrat"/>
                        <a:ea typeface="Montserrat"/>
                        <a:cs typeface="Montserrat"/>
                        <a:sym typeface="Montserrat"/>
                      </a:endParaRPr>
                    </a:p>
                  </a:txBody>
                  <a:tcPr marT="68950" marB="6895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576,00</a:t>
                      </a:r>
                      <a:endParaRPr sz="2300">
                        <a:solidFill>
                          <a:schemeClr val="dk1"/>
                        </a:solidFill>
                        <a:latin typeface="Montserrat"/>
                        <a:ea typeface="Montserrat"/>
                        <a:cs typeface="Montserrat"/>
                        <a:sym typeface="Montserrat"/>
                      </a:endParaRPr>
                    </a:p>
                  </a:txBody>
                  <a:tcPr marT="68950" marB="6895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19100">
                <a:tc>
                  <a:txBody>
                    <a:bodyPr/>
                    <a:lstStyle/>
                    <a:p>
                      <a:pPr indent="0" lvl="0" marL="0" rtl="0" algn="l">
                        <a:lnSpc>
                          <a:spcPct val="171429"/>
                        </a:lnSpc>
                        <a:spcBef>
                          <a:spcPts val="0"/>
                        </a:spcBef>
                        <a:spcAft>
                          <a:spcPts val="0"/>
                        </a:spcAft>
                        <a:buNone/>
                      </a:pPr>
                      <a:r>
                        <a:rPr b="1" lang="en-US" sz="2300">
                          <a:solidFill>
                            <a:schemeClr val="dk1"/>
                          </a:solidFill>
                          <a:latin typeface="Montserrat"/>
                          <a:ea typeface="Montserrat"/>
                          <a:cs typeface="Montserrat"/>
                          <a:sym typeface="Montserrat"/>
                        </a:rPr>
                        <a:t>Tổng nhân lực (A)</a:t>
                      </a:r>
                      <a:endParaRPr b="1" sz="2300">
                        <a:solidFill>
                          <a:schemeClr val="dk1"/>
                        </a:solidFill>
                        <a:latin typeface="Montserrat"/>
                        <a:ea typeface="Montserrat"/>
                        <a:cs typeface="Montserrat"/>
                        <a:sym typeface="Montserrat"/>
                      </a:endParaRPr>
                    </a:p>
                  </a:txBody>
                  <a:tcPr marT="68950" marB="228600" marR="68950" marL="91425"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2300">
                        <a:solidFill>
                          <a:schemeClr val="dk1"/>
                        </a:solidFill>
                        <a:latin typeface="Montserrat"/>
                        <a:ea typeface="Montserrat"/>
                        <a:cs typeface="Montserrat"/>
                        <a:sym typeface="Montserrat"/>
                      </a:endParaRPr>
                    </a:p>
                  </a:txBody>
                  <a:tcPr marT="68950" marB="22860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2300">
                        <a:solidFill>
                          <a:schemeClr val="dk1"/>
                        </a:solidFill>
                        <a:latin typeface="Montserrat"/>
                        <a:ea typeface="Montserrat"/>
                        <a:cs typeface="Montserrat"/>
                        <a:sym typeface="Montserrat"/>
                      </a:endParaRPr>
                    </a:p>
                  </a:txBody>
                  <a:tcPr marT="68950" marB="228600" marR="68950"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a:solidFill>
                        <a:schemeClr val="dk1"/>
                      </a:solidFill>
                      <a:prstDash val="solid"/>
                      <a:round/>
                      <a:headEnd len="sm" w="sm" type="none"/>
                      <a:tailEnd len="sm" w="sm" type="none"/>
                    </a:lnB>
                  </a:tcPr>
                </a:tc>
                <a:tc>
                  <a:txBody>
                    <a:bodyPr/>
                    <a:lstStyle/>
                    <a:p>
                      <a:pPr indent="0" lvl="0" marL="0" rtl="0" algn="r">
                        <a:lnSpc>
                          <a:spcPct val="171429"/>
                        </a:lnSpc>
                        <a:spcBef>
                          <a:spcPts val="0"/>
                        </a:spcBef>
                        <a:spcAft>
                          <a:spcPts val="0"/>
                        </a:spcAft>
                        <a:buNone/>
                      </a:pPr>
                      <a:r>
                        <a:rPr lang="en-US" sz="2300">
                          <a:solidFill>
                            <a:schemeClr val="dk1"/>
                          </a:solidFill>
                          <a:latin typeface="Montserrat"/>
                          <a:ea typeface="Montserrat"/>
                          <a:cs typeface="Montserrat"/>
                          <a:sym typeface="Montserrat"/>
                        </a:rPr>
                        <a:t>3 124,80</a:t>
                      </a:r>
                      <a:endParaRPr sz="2300">
                        <a:solidFill>
                          <a:schemeClr val="dk1"/>
                        </a:solidFill>
                        <a:latin typeface="Montserrat"/>
                        <a:ea typeface="Montserrat"/>
                        <a:cs typeface="Montserrat"/>
                        <a:sym typeface="Montserrat"/>
                      </a:endParaRPr>
                    </a:p>
                  </a:txBody>
                  <a:tcPr marT="68950" marB="228600" marR="91425" marL="68950" anchor="ctr">
                    <a:lnL cap="flat" cmpd="sng">
                      <a:solidFill>
                        <a:schemeClr val="dk1"/>
                      </a:solidFill>
                      <a:prstDash val="solid"/>
                      <a:round/>
                      <a:headEnd len="sm" w="sm" type="none"/>
                      <a:tailEnd len="sm" w="sm" type="none"/>
                    </a:lnL>
                    <a:lnR cap="flat" cmpd="sng">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a:solidFill>
                        <a:schemeClr val="dk1"/>
                      </a:solidFill>
                      <a:prstDash val="solid"/>
                      <a:round/>
                      <a:headEnd len="sm" w="sm" type="none"/>
                      <a:tailEnd len="sm" w="sm" type="none"/>
                    </a:lnB>
                  </a:tcPr>
                </a:tc>
              </a:tr>
            </a:tbl>
          </a:graphicData>
        </a:graphic>
      </p:graphicFrame>
      <p:sp>
        <p:nvSpPr>
          <p:cNvPr id="384" name="Google Shape;384;g375c223c26e_0_10"/>
          <p:cNvSpPr txBox="1"/>
          <p:nvPr/>
        </p:nvSpPr>
        <p:spPr>
          <a:xfrm>
            <a:off x="9785825" y="1427175"/>
            <a:ext cx="6096000" cy="6771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US" sz="3200">
                <a:solidFill>
                  <a:schemeClr val="accent1"/>
                </a:solidFill>
                <a:latin typeface="Montserrat Medium"/>
                <a:ea typeface="Montserrat Medium"/>
                <a:cs typeface="Montserrat Medium"/>
                <a:sym typeface="Montserrat Medium"/>
              </a:rPr>
              <a:t>Chi tiết Nhân lực (A)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g34518552875_3_12"/>
          <p:cNvSpPr txBox="1"/>
          <p:nvPr/>
        </p:nvSpPr>
        <p:spPr>
          <a:xfrm>
            <a:off x="950950" y="432600"/>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VIII. Đánh giá tác động của nghiên cứu</a:t>
            </a:r>
            <a:endParaRPr b="1" sz="5000">
              <a:solidFill>
                <a:srgbClr val="004AAD"/>
              </a:solidFill>
              <a:latin typeface="Montserrat"/>
              <a:ea typeface="Montserrat"/>
              <a:cs typeface="Montserrat"/>
              <a:sym typeface="Montserrat"/>
            </a:endParaRPr>
          </a:p>
        </p:txBody>
      </p:sp>
      <p:sp>
        <p:nvSpPr>
          <p:cNvPr id="390" name="Google Shape;390;g34518552875_3_12"/>
          <p:cNvSpPr/>
          <p:nvPr/>
        </p:nvSpPr>
        <p:spPr>
          <a:xfrm rot="-1624665">
            <a:off x="13061592" y="-564597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g34518552875_3_12"/>
          <p:cNvSpPr/>
          <p:nvPr/>
        </p:nvSpPr>
        <p:spPr>
          <a:xfrm rot="9479154">
            <a:off x="-1299959" y="804621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g34518552875_3_12"/>
          <p:cNvSpPr/>
          <p:nvPr/>
        </p:nvSpPr>
        <p:spPr>
          <a:xfrm>
            <a:off x="1346931" y="1760228"/>
            <a:ext cx="2475034" cy="2475034"/>
          </a:xfrm>
          <a:custGeom>
            <a:rect b="b" l="l" r="r" t="t"/>
            <a:pathLst>
              <a:path extrusionOk="0" h="2741" w="2741">
                <a:moveTo>
                  <a:pt x="1331" y="10"/>
                </a:moveTo>
                <a:lnTo>
                  <a:pt x="1331" y="10"/>
                </a:lnTo>
                <a:cubicBezTo>
                  <a:pt x="1356" y="0"/>
                  <a:pt x="1384" y="0"/>
                  <a:pt x="1409" y="10"/>
                </a:cubicBezTo>
                <a:lnTo>
                  <a:pt x="2304" y="381"/>
                </a:lnTo>
                <a:lnTo>
                  <a:pt x="2304" y="381"/>
                </a:lnTo>
                <a:cubicBezTo>
                  <a:pt x="2329" y="391"/>
                  <a:pt x="2349" y="411"/>
                  <a:pt x="2359" y="436"/>
                </a:cubicBezTo>
                <a:lnTo>
                  <a:pt x="2730" y="1331"/>
                </a:lnTo>
                <a:lnTo>
                  <a:pt x="2730" y="1331"/>
                </a:lnTo>
                <a:cubicBezTo>
                  <a:pt x="2740" y="1356"/>
                  <a:pt x="2740" y="1384"/>
                  <a:pt x="2730" y="1409"/>
                </a:cubicBezTo>
                <a:lnTo>
                  <a:pt x="2359" y="2304"/>
                </a:lnTo>
                <a:lnTo>
                  <a:pt x="2359" y="2304"/>
                </a:lnTo>
                <a:cubicBezTo>
                  <a:pt x="2349" y="2329"/>
                  <a:pt x="2329" y="2349"/>
                  <a:pt x="2304" y="2359"/>
                </a:cubicBezTo>
                <a:lnTo>
                  <a:pt x="1409" y="2730"/>
                </a:lnTo>
                <a:lnTo>
                  <a:pt x="1409" y="2730"/>
                </a:lnTo>
                <a:cubicBezTo>
                  <a:pt x="1384" y="2740"/>
                  <a:pt x="1356" y="2740"/>
                  <a:pt x="1331" y="2730"/>
                </a:cubicBezTo>
                <a:lnTo>
                  <a:pt x="436" y="2359"/>
                </a:lnTo>
                <a:lnTo>
                  <a:pt x="436" y="2359"/>
                </a:lnTo>
                <a:cubicBezTo>
                  <a:pt x="411" y="2349"/>
                  <a:pt x="391" y="2329"/>
                  <a:pt x="381" y="2304"/>
                </a:cubicBezTo>
                <a:lnTo>
                  <a:pt x="10" y="1409"/>
                </a:lnTo>
                <a:lnTo>
                  <a:pt x="10" y="1409"/>
                </a:lnTo>
                <a:cubicBezTo>
                  <a:pt x="0" y="1384"/>
                  <a:pt x="0" y="1356"/>
                  <a:pt x="10" y="1331"/>
                </a:cubicBezTo>
                <a:lnTo>
                  <a:pt x="381" y="436"/>
                </a:lnTo>
                <a:lnTo>
                  <a:pt x="381" y="436"/>
                </a:lnTo>
                <a:cubicBezTo>
                  <a:pt x="391" y="411"/>
                  <a:pt x="411" y="391"/>
                  <a:pt x="436" y="381"/>
                </a:cubicBezTo>
                <a:lnTo>
                  <a:pt x="1331" y="10"/>
                </a:lnTo>
              </a:path>
            </a:pathLst>
          </a:custGeom>
          <a:solidFill>
            <a:srgbClr val="5DCEDB"/>
          </a:solidFill>
          <a:ln>
            <a:noFill/>
          </a:ln>
        </p:spPr>
        <p:txBody>
          <a:bodyPr anchorCtr="0" anchor="ctr" bIns="33100" lIns="66225" spcFirstLastPara="1" rIns="66225" wrap="square" tIns="33100">
            <a:noAutofit/>
          </a:bodyPr>
          <a:lstStyle/>
          <a:p>
            <a:pPr indent="0" lvl="0" marL="0" marR="0" rtl="0" algn="l">
              <a:spcBef>
                <a:spcPts val="0"/>
              </a:spcBef>
              <a:spcAft>
                <a:spcPts val="0"/>
              </a:spcAft>
              <a:buNone/>
            </a:pPr>
            <a:r>
              <a:t/>
            </a:r>
            <a:endParaRPr sz="4729">
              <a:solidFill>
                <a:srgbClr val="737572"/>
              </a:solidFill>
              <a:latin typeface="Lato Light"/>
              <a:ea typeface="Lato Light"/>
              <a:cs typeface="Lato Light"/>
              <a:sym typeface="Lato Light"/>
            </a:endParaRPr>
          </a:p>
        </p:txBody>
      </p:sp>
      <p:sp>
        <p:nvSpPr>
          <p:cNvPr id="393" name="Google Shape;393;g34518552875_3_12"/>
          <p:cNvSpPr/>
          <p:nvPr/>
        </p:nvSpPr>
        <p:spPr>
          <a:xfrm>
            <a:off x="784931" y="1202101"/>
            <a:ext cx="3576673" cy="3067989"/>
          </a:xfrm>
          <a:custGeom>
            <a:rect b="b" l="l" r="r" t="t"/>
            <a:pathLst>
              <a:path extrusionOk="0" h="4231709" w="4933342">
                <a:moveTo>
                  <a:pt x="2485286" y="0"/>
                </a:moveTo>
                <a:cubicBezTo>
                  <a:pt x="2506156" y="0"/>
                  <a:pt x="2527026" y="4050"/>
                  <a:pt x="2546339" y="12150"/>
                </a:cubicBezTo>
                <a:lnTo>
                  <a:pt x="4182322" y="695056"/>
                </a:lnTo>
                <a:cubicBezTo>
                  <a:pt x="4220948" y="711256"/>
                  <a:pt x="4253344" y="742411"/>
                  <a:pt x="4268296" y="782288"/>
                </a:cubicBezTo>
                <a:lnTo>
                  <a:pt x="4921194" y="2413535"/>
                </a:lnTo>
                <a:cubicBezTo>
                  <a:pt x="4937392" y="2452167"/>
                  <a:pt x="4937392" y="2493291"/>
                  <a:pt x="4921194" y="2530676"/>
                </a:cubicBezTo>
                <a:lnTo>
                  <a:pt x="4248360" y="4230463"/>
                </a:lnTo>
                <a:lnTo>
                  <a:pt x="4189798" y="4206785"/>
                </a:lnTo>
                <a:lnTo>
                  <a:pt x="4862632" y="2506999"/>
                </a:lnTo>
                <a:cubicBezTo>
                  <a:pt x="4872600" y="2485814"/>
                  <a:pt x="4872600" y="2459644"/>
                  <a:pt x="4862632" y="2437213"/>
                </a:cubicBezTo>
                <a:lnTo>
                  <a:pt x="4209734" y="805966"/>
                </a:lnTo>
                <a:cubicBezTo>
                  <a:pt x="4199766" y="782288"/>
                  <a:pt x="4181076" y="763596"/>
                  <a:pt x="4157403" y="753626"/>
                </a:cubicBezTo>
                <a:lnTo>
                  <a:pt x="2522665" y="70721"/>
                </a:lnTo>
                <a:cubicBezTo>
                  <a:pt x="2498992" y="60751"/>
                  <a:pt x="2471580" y="60751"/>
                  <a:pt x="2449152" y="69475"/>
                </a:cubicBezTo>
                <a:lnTo>
                  <a:pt x="806939" y="753626"/>
                </a:lnTo>
                <a:cubicBezTo>
                  <a:pt x="782019" y="763596"/>
                  <a:pt x="764575" y="782288"/>
                  <a:pt x="754607" y="805966"/>
                </a:cubicBezTo>
                <a:lnTo>
                  <a:pt x="71805" y="2435966"/>
                </a:lnTo>
                <a:cubicBezTo>
                  <a:pt x="61837" y="2459644"/>
                  <a:pt x="61837" y="2485814"/>
                  <a:pt x="70559" y="2508245"/>
                </a:cubicBezTo>
                <a:lnTo>
                  <a:pt x="774543" y="4206785"/>
                </a:lnTo>
                <a:lnTo>
                  <a:pt x="715982" y="4231709"/>
                </a:lnTo>
                <a:lnTo>
                  <a:pt x="11998" y="2533168"/>
                </a:lnTo>
                <a:cubicBezTo>
                  <a:pt x="-4200" y="2494537"/>
                  <a:pt x="-4200" y="2449674"/>
                  <a:pt x="13244" y="2411043"/>
                </a:cubicBezTo>
                <a:lnTo>
                  <a:pt x="696046" y="779796"/>
                </a:lnTo>
                <a:cubicBezTo>
                  <a:pt x="712244" y="741165"/>
                  <a:pt x="743393" y="711256"/>
                  <a:pt x="782019" y="696302"/>
                </a:cubicBezTo>
                <a:lnTo>
                  <a:pt x="2424232" y="12150"/>
                </a:lnTo>
                <a:cubicBezTo>
                  <a:pt x="2443545" y="4050"/>
                  <a:pt x="2464415" y="0"/>
                  <a:pt x="2485286" y="0"/>
                </a:cubicBezTo>
                <a:close/>
              </a:path>
            </a:pathLst>
          </a:custGeom>
          <a:solidFill>
            <a:srgbClr val="D8D8D8"/>
          </a:solidFill>
          <a:ln>
            <a:noFill/>
          </a:ln>
        </p:spPr>
        <p:txBody>
          <a:bodyPr anchorCtr="0" anchor="ctr" bIns="33100" lIns="66225" spcFirstLastPara="1" rIns="66225" wrap="square" tIns="33100">
            <a:noAutofit/>
          </a:bodyPr>
          <a:lstStyle/>
          <a:p>
            <a:pPr indent="0" lvl="0" marL="0" marR="0" rtl="0" algn="l">
              <a:spcBef>
                <a:spcPts val="0"/>
              </a:spcBef>
              <a:spcAft>
                <a:spcPts val="0"/>
              </a:spcAft>
              <a:buNone/>
            </a:pPr>
            <a:r>
              <a:t/>
            </a:r>
            <a:endParaRPr sz="4729">
              <a:solidFill>
                <a:srgbClr val="737572"/>
              </a:solidFill>
              <a:latin typeface="Lato Light"/>
              <a:ea typeface="Lato Light"/>
              <a:cs typeface="Lato Light"/>
              <a:sym typeface="Lato Light"/>
            </a:endParaRPr>
          </a:p>
        </p:txBody>
      </p:sp>
      <p:sp>
        <p:nvSpPr>
          <p:cNvPr id="394" name="Google Shape;394;g34518552875_3_12"/>
          <p:cNvSpPr/>
          <p:nvPr/>
        </p:nvSpPr>
        <p:spPr>
          <a:xfrm>
            <a:off x="311700" y="5429925"/>
            <a:ext cx="4763700" cy="4313400"/>
          </a:xfrm>
          <a:prstGeom prst="roundRect">
            <a:avLst>
              <a:gd fmla="val 6125" name="adj"/>
            </a:avLst>
          </a:prstGeom>
          <a:solidFill>
            <a:srgbClr val="5DCEDB"/>
          </a:solidFill>
          <a:ln>
            <a:noFill/>
          </a:ln>
        </p:spPr>
        <p:txBody>
          <a:bodyPr anchorCtr="0" anchor="ctr" bIns="33100" lIns="66225" spcFirstLastPara="1" rIns="66225" wrap="square" tIns="33100">
            <a:noAutofit/>
          </a:bodyPr>
          <a:lstStyle/>
          <a:p>
            <a:pPr indent="0" lvl="0" marL="0" marR="0" rtl="0" algn="ctr">
              <a:spcBef>
                <a:spcPts val="0"/>
              </a:spcBef>
              <a:spcAft>
                <a:spcPts val="0"/>
              </a:spcAft>
              <a:buNone/>
            </a:pPr>
            <a:r>
              <a:t/>
            </a:r>
            <a:endParaRPr sz="2607">
              <a:solidFill>
                <a:srgbClr val="FFFFFF"/>
              </a:solidFill>
              <a:latin typeface="Lato Light"/>
              <a:ea typeface="Lato Light"/>
              <a:cs typeface="Lato Light"/>
              <a:sym typeface="Lato Light"/>
            </a:endParaRPr>
          </a:p>
        </p:txBody>
      </p:sp>
      <p:sp>
        <p:nvSpPr>
          <p:cNvPr id="395" name="Google Shape;395;g34518552875_3_12"/>
          <p:cNvSpPr txBox="1"/>
          <p:nvPr/>
        </p:nvSpPr>
        <p:spPr>
          <a:xfrm>
            <a:off x="466525" y="5583350"/>
            <a:ext cx="4400400" cy="3987300"/>
          </a:xfrm>
          <a:prstGeom prst="rect">
            <a:avLst/>
          </a:prstGeom>
          <a:noFill/>
          <a:ln>
            <a:noFill/>
          </a:ln>
        </p:spPr>
        <p:txBody>
          <a:bodyPr anchorCtr="0" anchor="t" bIns="33100" lIns="66225" spcFirstLastPara="1" rIns="66225" wrap="square" tIns="33100">
            <a:spAutoFit/>
          </a:bodyPr>
          <a:lstStyle/>
          <a:p>
            <a:pPr indent="0" lvl="0" marL="0" marR="0" rtl="0" algn="l">
              <a:lnSpc>
                <a:spcPct val="145833"/>
              </a:lnSpc>
              <a:spcBef>
                <a:spcPts val="0"/>
              </a:spcBef>
              <a:spcAft>
                <a:spcPts val="0"/>
              </a:spcAft>
              <a:buClr>
                <a:srgbClr val="FFFFFF"/>
              </a:buClr>
              <a:buSzPts val="1738"/>
              <a:buFont typeface="Arial"/>
              <a:buNone/>
            </a:pPr>
            <a:r>
              <a:rPr b="1" lang="en-US" sz="2010"/>
              <a:t>Học  thuật:</a:t>
            </a:r>
            <a:endParaRPr b="1" sz="2010"/>
          </a:p>
          <a:p>
            <a:pPr indent="-293266" lvl="0" marL="331160" marR="0" rtl="0" algn="l">
              <a:lnSpc>
                <a:spcPct val="145833"/>
              </a:lnSpc>
              <a:spcBef>
                <a:spcPts val="0"/>
              </a:spcBef>
              <a:spcAft>
                <a:spcPts val="0"/>
              </a:spcAft>
              <a:buSzPts val="2011"/>
              <a:buChar char="-"/>
            </a:pPr>
            <a:r>
              <a:rPr b="1" lang="en-US" sz="2010"/>
              <a:t>Chia sẻ bộ dự liệu.</a:t>
            </a:r>
            <a:endParaRPr b="1" sz="2010"/>
          </a:p>
          <a:p>
            <a:pPr indent="-293266" lvl="0" marL="331160" marR="0" rtl="0" algn="l">
              <a:lnSpc>
                <a:spcPct val="145833"/>
              </a:lnSpc>
              <a:spcBef>
                <a:spcPts val="0"/>
              </a:spcBef>
              <a:spcAft>
                <a:spcPts val="0"/>
              </a:spcAft>
              <a:buSzPts val="2011"/>
              <a:buChar char="-"/>
            </a:pPr>
            <a:r>
              <a:rPr b="1" lang="en-US" sz="2010"/>
              <a:t>Xác thực các phương pháp mới: multimodal LLMs, adaptive testing, liệu pháp cá nhân hóa.</a:t>
            </a:r>
            <a:endParaRPr b="1" sz="2010"/>
          </a:p>
          <a:p>
            <a:pPr indent="0" lvl="0" marL="0" marR="0" rtl="0" algn="l">
              <a:lnSpc>
                <a:spcPct val="145833"/>
              </a:lnSpc>
              <a:spcBef>
                <a:spcPts val="0"/>
              </a:spcBef>
              <a:spcAft>
                <a:spcPts val="0"/>
              </a:spcAft>
              <a:buNone/>
            </a:pPr>
            <a:r>
              <a:rPr b="1" lang="en-US" sz="2010"/>
              <a:t>Thực tế:</a:t>
            </a:r>
            <a:endParaRPr b="1" sz="2010"/>
          </a:p>
          <a:p>
            <a:pPr indent="-293266" lvl="0" marL="331160" marR="0" rtl="0" algn="l">
              <a:lnSpc>
                <a:spcPct val="145833"/>
              </a:lnSpc>
              <a:spcBef>
                <a:spcPts val="0"/>
              </a:spcBef>
              <a:spcAft>
                <a:spcPts val="0"/>
              </a:spcAft>
              <a:buSzPts val="2011"/>
              <a:buChar char="-"/>
            </a:pPr>
            <a:r>
              <a:rPr b="1" lang="en-US" sz="2010"/>
              <a:t>Giảm khối lượng công việc cho chuyên viên y tế.</a:t>
            </a:r>
            <a:endParaRPr b="1" sz="2010"/>
          </a:p>
          <a:p>
            <a:pPr indent="-293266" lvl="0" marL="331160" marR="0" rtl="0" algn="l">
              <a:lnSpc>
                <a:spcPct val="145833"/>
              </a:lnSpc>
              <a:spcBef>
                <a:spcPts val="0"/>
              </a:spcBef>
              <a:spcAft>
                <a:spcPts val="0"/>
              </a:spcAft>
              <a:buSzPts val="2011"/>
              <a:buChar char="-"/>
            </a:pPr>
            <a:r>
              <a:rPr b="1" lang="en-US" sz="2010"/>
              <a:t>Cải thiện kết quả trị liệu.</a:t>
            </a:r>
            <a:endParaRPr b="1" sz="2010"/>
          </a:p>
        </p:txBody>
      </p:sp>
      <p:sp>
        <p:nvSpPr>
          <p:cNvPr id="396" name="Google Shape;396;g34518552875_3_12"/>
          <p:cNvSpPr/>
          <p:nvPr/>
        </p:nvSpPr>
        <p:spPr>
          <a:xfrm rot="5400000">
            <a:off x="2237776" y="4766857"/>
            <a:ext cx="693300" cy="163500"/>
          </a:xfrm>
          <a:prstGeom prst="rightArrow">
            <a:avLst>
              <a:gd fmla="val 27239" name="adj1"/>
              <a:gd fmla="val 50000" name="adj2"/>
            </a:avLst>
          </a:prstGeom>
          <a:solidFill>
            <a:srgbClr val="D8D8D8"/>
          </a:solidFill>
          <a:ln>
            <a:noFill/>
          </a:ln>
        </p:spPr>
        <p:txBody>
          <a:bodyPr anchorCtr="0" anchor="ctr" bIns="33100" lIns="66225" spcFirstLastPara="1" rIns="66225" wrap="square" tIns="33100">
            <a:noAutofit/>
          </a:bodyPr>
          <a:lstStyle/>
          <a:p>
            <a:pPr indent="0" lvl="0" marL="0" marR="0" rtl="0" algn="ctr">
              <a:spcBef>
                <a:spcPts val="0"/>
              </a:spcBef>
              <a:spcAft>
                <a:spcPts val="0"/>
              </a:spcAft>
              <a:buNone/>
            </a:pPr>
            <a:r>
              <a:t/>
            </a:r>
            <a:endParaRPr sz="2607">
              <a:solidFill>
                <a:srgbClr val="FFFFFF"/>
              </a:solidFill>
              <a:latin typeface="Lato Light"/>
              <a:ea typeface="Lato Light"/>
              <a:cs typeface="Lato Light"/>
              <a:sym typeface="Lato Light"/>
            </a:endParaRPr>
          </a:p>
        </p:txBody>
      </p:sp>
      <p:sp>
        <p:nvSpPr>
          <p:cNvPr id="397" name="Google Shape;397;g34518552875_3_12"/>
          <p:cNvSpPr txBox="1"/>
          <p:nvPr/>
        </p:nvSpPr>
        <p:spPr>
          <a:xfrm>
            <a:off x="2004288" y="2696788"/>
            <a:ext cx="1134600" cy="847200"/>
          </a:xfrm>
          <a:prstGeom prst="rect">
            <a:avLst/>
          </a:prstGeom>
          <a:noFill/>
          <a:ln>
            <a:noFill/>
          </a:ln>
        </p:spPr>
        <p:txBody>
          <a:bodyPr anchorCtr="0" anchor="ctr" bIns="33100" lIns="66225" spcFirstLastPara="1" rIns="66225" wrap="square" tIns="33100">
            <a:spAutoFit/>
          </a:bodyPr>
          <a:lstStyle/>
          <a:p>
            <a:pPr indent="0" lvl="0" marL="0" marR="0" rtl="0" algn="ctr">
              <a:spcBef>
                <a:spcPts val="0"/>
              </a:spcBef>
              <a:spcAft>
                <a:spcPts val="0"/>
              </a:spcAft>
              <a:buNone/>
            </a:pPr>
            <a:r>
              <a:rPr b="1" lang="en-US" sz="2535">
                <a:solidFill>
                  <a:srgbClr val="FFFFFF"/>
                </a:solidFill>
              </a:rPr>
              <a:t>Ngắn hạn</a:t>
            </a:r>
            <a:endParaRPr sz="2535"/>
          </a:p>
        </p:txBody>
      </p:sp>
      <p:sp>
        <p:nvSpPr>
          <p:cNvPr id="398" name="Google Shape;398;g34518552875_3_12"/>
          <p:cNvSpPr/>
          <p:nvPr/>
        </p:nvSpPr>
        <p:spPr>
          <a:xfrm>
            <a:off x="8127491" y="1760225"/>
            <a:ext cx="2475034" cy="2475034"/>
          </a:xfrm>
          <a:custGeom>
            <a:rect b="b" l="l" r="r" t="t"/>
            <a:pathLst>
              <a:path extrusionOk="0" h="2741" w="2741">
                <a:moveTo>
                  <a:pt x="1331" y="10"/>
                </a:moveTo>
                <a:lnTo>
                  <a:pt x="1331" y="10"/>
                </a:lnTo>
                <a:cubicBezTo>
                  <a:pt x="1356" y="0"/>
                  <a:pt x="1384" y="0"/>
                  <a:pt x="1409" y="10"/>
                </a:cubicBezTo>
                <a:lnTo>
                  <a:pt x="2304" y="381"/>
                </a:lnTo>
                <a:lnTo>
                  <a:pt x="2304" y="381"/>
                </a:lnTo>
                <a:cubicBezTo>
                  <a:pt x="2329" y="391"/>
                  <a:pt x="2349" y="411"/>
                  <a:pt x="2359" y="436"/>
                </a:cubicBezTo>
                <a:lnTo>
                  <a:pt x="2730" y="1331"/>
                </a:lnTo>
                <a:lnTo>
                  <a:pt x="2730" y="1331"/>
                </a:lnTo>
                <a:cubicBezTo>
                  <a:pt x="2740" y="1356"/>
                  <a:pt x="2740" y="1384"/>
                  <a:pt x="2730" y="1409"/>
                </a:cubicBezTo>
                <a:lnTo>
                  <a:pt x="2359" y="2304"/>
                </a:lnTo>
                <a:lnTo>
                  <a:pt x="2359" y="2304"/>
                </a:lnTo>
                <a:cubicBezTo>
                  <a:pt x="2349" y="2329"/>
                  <a:pt x="2329" y="2349"/>
                  <a:pt x="2304" y="2359"/>
                </a:cubicBezTo>
                <a:lnTo>
                  <a:pt x="1409" y="2730"/>
                </a:lnTo>
                <a:lnTo>
                  <a:pt x="1409" y="2730"/>
                </a:lnTo>
                <a:cubicBezTo>
                  <a:pt x="1384" y="2740"/>
                  <a:pt x="1356" y="2740"/>
                  <a:pt x="1331" y="2730"/>
                </a:cubicBezTo>
                <a:lnTo>
                  <a:pt x="436" y="2359"/>
                </a:lnTo>
                <a:lnTo>
                  <a:pt x="436" y="2359"/>
                </a:lnTo>
                <a:cubicBezTo>
                  <a:pt x="411" y="2349"/>
                  <a:pt x="391" y="2329"/>
                  <a:pt x="381" y="2304"/>
                </a:cubicBezTo>
                <a:lnTo>
                  <a:pt x="10" y="1409"/>
                </a:lnTo>
                <a:lnTo>
                  <a:pt x="10" y="1409"/>
                </a:lnTo>
                <a:cubicBezTo>
                  <a:pt x="0" y="1384"/>
                  <a:pt x="0" y="1356"/>
                  <a:pt x="10" y="1331"/>
                </a:cubicBezTo>
                <a:lnTo>
                  <a:pt x="381" y="436"/>
                </a:lnTo>
                <a:lnTo>
                  <a:pt x="381" y="436"/>
                </a:lnTo>
                <a:cubicBezTo>
                  <a:pt x="391" y="411"/>
                  <a:pt x="411" y="391"/>
                  <a:pt x="436" y="381"/>
                </a:cubicBezTo>
                <a:lnTo>
                  <a:pt x="1331" y="10"/>
                </a:lnTo>
              </a:path>
            </a:pathLst>
          </a:custGeom>
          <a:solidFill>
            <a:srgbClr val="5ECB95"/>
          </a:solidFill>
          <a:ln>
            <a:noFill/>
          </a:ln>
        </p:spPr>
        <p:txBody>
          <a:bodyPr anchorCtr="0" anchor="ctr" bIns="33100" lIns="66225" spcFirstLastPara="1" rIns="66225" wrap="square" tIns="33100">
            <a:noAutofit/>
          </a:bodyPr>
          <a:lstStyle/>
          <a:p>
            <a:pPr indent="0" lvl="0" marL="0" marR="0" rtl="0" algn="l">
              <a:spcBef>
                <a:spcPts val="0"/>
              </a:spcBef>
              <a:spcAft>
                <a:spcPts val="0"/>
              </a:spcAft>
              <a:buNone/>
            </a:pPr>
            <a:r>
              <a:t/>
            </a:r>
            <a:endParaRPr sz="4729">
              <a:solidFill>
                <a:srgbClr val="737572"/>
              </a:solidFill>
              <a:latin typeface="Lato Light"/>
              <a:ea typeface="Lato Light"/>
              <a:cs typeface="Lato Light"/>
              <a:sym typeface="Lato Light"/>
            </a:endParaRPr>
          </a:p>
        </p:txBody>
      </p:sp>
      <p:sp>
        <p:nvSpPr>
          <p:cNvPr id="399" name="Google Shape;399;g34518552875_3_12"/>
          <p:cNvSpPr/>
          <p:nvPr/>
        </p:nvSpPr>
        <p:spPr>
          <a:xfrm>
            <a:off x="7565491" y="1202097"/>
            <a:ext cx="3576673" cy="3067989"/>
          </a:xfrm>
          <a:custGeom>
            <a:rect b="b" l="l" r="r" t="t"/>
            <a:pathLst>
              <a:path extrusionOk="0" h="4231709" w="4933342">
                <a:moveTo>
                  <a:pt x="2485286" y="0"/>
                </a:moveTo>
                <a:cubicBezTo>
                  <a:pt x="2506156" y="0"/>
                  <a:pt x="2527026" y="4050"/>
                  <a:pt x="2546339" y="12150"/>
                </a:cubicBezTo>
                <a:lnTo>
                  <a:pt x="4182322" y="695056"/>
                </a:lnTo>
                <a:cubicBezTo>
                  <a:pt x="4220948" y="711256"/>
                  <a:pt x="4253344" y="742411"/>
                  <a:pt x="4268296" y="782288"/>
                </a:cubicBezTo>
                <a:lnTo>
                  <a:pt x="4921194" y="2413535"/>
                </a:lnTo>
                <a:cubicBezTo>
                  <a:pt x="4937392" y="2452167"/>
                  <a:pt x="4937392" y="2493291"/>
                  <a:pt x="4921194" y="2530676"/>
                </a:cubicBezTo>
                <a:lnTo>
                  <a:pt x="4248360" y="4230463"/>
                </a:lnTo>
                <a:lnTo>
                  <a:pt x="4189798" y="4206785"/>
                </a:lnTo>
                <a:lnTo>
                  <a:pt x="4862632" y="2506999"/>
                </a:lnTo>
                <a:cubicBezTo>
                  <a:pt x="4872600" y="2485814"/>
                  <a:pt x="4872600" y="2459644"/>
                  <a:pt x="4862632" y="2437213"/>
                </a:cubicBezTo>
                <a:lnTo>
                  <a:pt x="4209734" y="805966"/>
                </a:lnTo>
                <a:cubicBezTo>
                  <a:pt x="4199766" y="782288"/>
                  <a:pt x="4181076" y="763596"/>
                  <a:pt x="4157403" y="753626"/>
                </a:cubicBezTo>
                <a:lnTo>
                  <a:pt x="2522665" y="70721"/>
                </a:lnTo>
                <a:cubicBezTo>
                  <a:pt x="2498992" y="60751"/>
                  <a:pt x="2471580" y="60751"/>
                  <a:pt x="2449152" y="69475"/>
                </a:cubicBezTo>
                <a:lnTo>
                  <a:pt x="806939" y="753626"/>
                </a:lnTo>
                <a:cubicBezTo>
                  <a:pt x="782019" y="763596"/>
                  <a:pt x="764575" y="782288"/>
                  <a:pt x="754607" y="805966"/>
                </a:cubicBezTo>
                <a:lnTo>
                  <a:pt x="71805" y="2435966"/>
                </a:lnTo>
                <a:cubicBezTo>
                  <a:pt x="61837" y="2459644"/>
                  <a:pt x="61837" y="2485814"/>
                  <a:pt x="70559" y="2508245"/>
                </a:cubicBezTo>
                <a:lnTo>
                  <a:pt x="774543" y="4206785"/>
                </a:lnTo>
                <a:lnTo>
                  <a:pt x="715982" y="4231709"/>
                </a:lnTo>
                <a:lnTo>
                  <a:pt x="11998" y="2533168"/>
                </a:lnTo>
                <a:cubicBezTo>
                  <a:pt x="-4200" y="2494537"/>
                  <a:pt x="-4200" y="2449674"/>
                  <a:pt x="13244" y="2411043"/>
                </a:cubicBezTo>
                <a:lnTo>
                  <a:pt x="696046" y="779796"/>
                </a:lnTo>
                <a:cubicBezTo>
                  <a:pt x="712244" y="741165"/>
                  <a:pt x="743393" y="711256"/>
                  <a:pt x="782019" y="696302"/>
                </a:cubicBezTo>
                <a:lnTo>
                  <a:pt x="2424232" y="12150"/>
                </a:lnTo>
                <a:cubicBezTo>
                  <a:pt x="2443545" y="4050"/>
                  <a:pt x="2464415" y="0"/>
                  <a:pt x="2485286" y="0"/>
                </a:cubicBezTo>
                <a:close/>
              </a:path>
            </a:pathLst>
          </a:custGeom>
          <a:solidFill>
            <a:srgbClr val="D8D8D8"/>
          </a:solidFill>
          <a:ln>
            <a:noFill/>
          </a:ln>
        </p:spPr>
        <p:txBody>
          <a:bodyPr anchorCtr="0" anchor="ctr" bIns="33100" lIns="66225" spcFirstLastPara="1" rIns="66225" wrap="square" tIns="33100">
            <a:noAutofit/>
          </a:bodyPr>
          <a:lstStyle/>
          <a:p>
            <a:pPr indent="0" lvl="0" marL="0" marR="0" rtl="0" algn="l">
              <a:spcBef>
                <a:spcPts val="0"/>
              </a:spcBef>
              <a:spcAft>
                <a:spcPts val="0"/>
              </a:spcAft>
              <a:buNone/>
            </a:pPr>
            <a:r>
              <a:t/>
            </a:r>
            <a:endParaRPr sz="4729">
              <a:solidFill>
                <a:srgbClr val="737572"/>
              </a:solidFill>
              <a:latin typeface="Lato Light"/>
              <a:ea typeface="Lato Light"/>
              <a:cs typeface="Lato Light"/>
              <a:sym typeface="Lato Light"/>
            </a:endParaRPr>
          </a:p>
        </p:txBody>
      </p:sp>
      <p:sp>
        <p:nvSpPr>
          <p:cNvPr id="400" name="Google Shape;400;g34518552875_3_12"/>
          <p:cNvSpPr/>
          <p:nvPr/>
        </p:nvSpPr>
        <p:spPr>
          <a:xfrm>
            <a:off x="6845150" y="5427125"/>
            <a:ext cx="4831500" cy="4143600"/>
          </a:xfrm>
          <a:prstGeom prst="roundRect">
            <a:avLst>
              <a:gd fmla="val 6125" name="adj"/>
            </a:avLst>
          </a:prstGeom>
          <a:solidFill>
            <a:srgbClr val="5ECB95"/>
          </a:solidFill>
          <a:ln>
            <a:noFill/>
          </a:ln>
        </p:spPr>
        <p:txBody>
          <a:bodyPr anchorCtr="0" anchor="ctr" bIns="33100" lIns="66225" spcFirstLastPara="1" rIns="66225" wrap="square" tIns="33100">
            <a:noAutofit/>
          </a:bodyPr>
          <a:lstStyle/>
          <a:p>
            <a:pPr indent="0" lvl="0" marL="0" marR="0" rtl="0" algn="ctr">
              <a:spcBef>
                <a:spcPts val="0"/>
              </a:spcBef>
              <a:spcAft>
                <a:spcPts val="0"/>
              </a:spcAft>
              <a:buNone/>
            </a:pPr>
            <a:r>
              <a:t/>
            </a:r>
            <a:endParaRPr sz="2607">
              <a:solidFill>
                <a:srgbClr val="FFFFFF"/>
              </a:solidFill>
              <a:latin typeface="Lato Light"/>
              <a:ea typeface="Lato Light"/>
              <a:cs typeface="Lato Light"/>
              <a:sym typeface="Lato Light"/>
            </a:endParaRPr>
          </a:p>
        </p:txBody>
      </p:sp>
      <p:sp>
        <p:nvSpPr>
          <p:cNvPr id="401" name="Google Shape;401;g34518552875_3_12"/>
          <p:cNvSpPr txBox="1"/>
          <p:nvPr/>
        </p:nvSpPr>
        <p:spPr>
          <a:xfrm>
            <a:off x="7019750" y="5548550"/>
            <a:ext cx="4482300" cy="3536100"/>
          </a:xfrm>
          <a:prstGeom prst="rect">
            <a:avLst/>
          </a:prstGeom>
          <a:noFill/>
          <a:ln>
            <a:noFill/>
          </a:ln>
        </p:spPr>
        <p:txBody>
          <a:bodyPr anchorCtr="0" anchor="t" bIns="33100" lIns="66225" spcFirstLastPara="1" rIns="66225" wrap="square" tIns="33100">
            <a:spAutoFit/>
          </a:bodyPr>
          <a:lstStyle/>
          <a:p>
            <a:pPr indent="0" lvl="0" marL="0" marR="0" rtl="0" algn="l">
              <a:lnSpc>
                <a:spcPct val="145833"/>
              </a:lnSpc>
              <a:spcBef>
                <a:spcPts val="0"/>
              </a:spcBef>
              <a:spcAft>
                <a:spcPts val="0"/>
              </a:spcAft>
              <a:buClr>
                <a:srgbClr val="FFFFFF"/>
              </a:buClr>
              <a:buSzPts val="1738"/>
              <a:buFont typeface="Arial"/>
              <a:buNone/>
            </a:pPr>
            <a:r>
              <a:rPr b="1" lang="en-US" sz="2010"/>
              <a:t>Học thuật:</a:t>
            </a:r>
            <a:endParaRPr b="1" sz="2010"/>
          </a:p>
          <a:p>
            <a:pPr indent="-293266" lvl="0" marL="331160" marR="0" rtl="0" algn="l">
              <a:lnSpc>
                <a:spcPct val="145833"/>
              </a:lnSpc>
              <a:spcBef>
                <a:spcPts val="0"/>
              </a:spcBef>
              <a:spcAft>
                <a:spcPts val="0"/>
              </a:spcAft>
              <a:buSzPts val="2011"/>
              <a:buChar char="-"/>
            </a:pPr>
            <a:r>
              <a:rPr b="1" lang="en-US" sz="2010"/>
              <a:t>Mở rộng phạm vi nghiên cứu AI trong y tế và giáo dục.</a:t>
            </a:r>
            <a:endParaRPr b="1" sz="2010"/>
          </a:p>
          <a:p>
            <a:pPr indent="-293266" lvl="0" marL="331160" marR="0" rtl="0" algn="l">
              <a:lnSpc>
                <a:spcPct val="145833"/>
              </a:lnSpc>
              <a:spcBef>
                <a:spcPts val="0"/>
              </a:spcBef>
              <a:spcAft>
                <a:spcPts val="0"/>
              </a:spcAft>
              <a:buSzPts val="2011"/>
              <a:buChar char="-"/>
            </a:pPr>
            <a:r>
              <a:rPr b="1" lang="en-US" sz="2010"/>
              <a:t>Thục đẩy nghiên cứu liên ngành</a:t>
            </a:r>
            <a:endParaRPr b="1" sz="2010"/>
          </a:p>
          <a:p>
            <a:pPr indent="0" lvl="0" marL="0" marR="0" rtl="0" algn="l">
              <a:lnSpc>
                <a:spcPct val="145833"/>
              </a:lnSpc>
              <a:spcBef>
                <a:spcPts val="0"/>
              </a:spcBef>
              <a:spcAft>
                <a:spcPts val="0"/>
              </a:spcAft>
              <a:buNone/>
            </a:pPr>
            <a:r>
              <a:rPr b="1" lang="en-US" sz="2010"/>
              <a:t>Thực tế:</a:t>
            </a:r>
            <a:endParaRPr b="1" sz="2010"/>
          </a:p>
          <a:p>
            <a:pPr indent="-293266" lvl="0" marL="331160" marR="0" rtl="0" algn="l">
              <a:lnSpc>
                <a:spcPct val="145833"/>
              </a:lnSpc>
              <a:spcBef>
                <a:spcPts val="0"/>
              </a:spcBef>
              <a:spcAft>
                <a:spcPts val="0"/>
              </a:spcAft>
              <a:buSzPts val="2011"/>
              <a:buChar char="-"/>
            </a:pPr>
            <a:r>
              <a:rPr b="1" lang="en-US" sz="2010"/>
              <a:t>Thương mại hóa</a:t>
            </a:r>
            <a:endParaRPr b="1" sz="2010"/>
          </a:p>
          <a:p>
            <a:pPr indent="-293266" lvl="0" marL="331160" marR="0" rtl="0" algn="l">
              <a:lnSpc>
                <a:spcPct val="145833"/>
              </a:lnSpc>
              <a:spcBef>
                <a:spcPts val="0"/>
              </a:spcBef>
              <a:spcAft>
                <a:spcPts val="0"/>
              </a:spcAft>
              <a:buSzPts val="2011"/>
              <a:buChar char="-"/>
            </a:pPr>
            <a:r>
              <a:rPr b="1" lang="en-US" sz="2010"/>
              <a:t>Phát triển công nghệ cho các vùng miền khác ở Việt Nam</a:t>
            </a:r>
            <a:endParaRPr b="1" sz="2010"/>
          </a:p>
        </p:txBody>
      </p:sp>
      <p:sp>
        <p:nvSpPr>
          <p:cNvPr id="402" name="Google Shape;402;g34518552875_3_12"/>
          <p:cNvSpPr/>
          <p:nvPr/>
        </p:nvSpPr>
        <p:spPr>
          <a:xfrm rot="5400000">
            <a:off x="9018335" y="4766856"/>
            <a:ext cx="693300" cy="163500"/>
          </a:xfrm>
          <a:prstGeom prst="rightArrow">
            <a:avLst>
              <a:gd fmla="val 27239" name="adj1"/>
              <a:gd fmla="val 50000" name="adj2"/>
            </a:avLst>
          </a:prstGeom>
          <a:solidFill>
            <a:srgbClr val="D8D8D8"/>
          </a:solidFill>
          <a:ln>
            <a:noFill/>
          </a:ln>
        </p:spPr>
        <p:txBody>
          <a:bodyPr anchorCtr="0" anchor="ctr" bIns="33100" lIns="66225" spcFirstLastPara="1" rIns="66225" wrap="square" tIns="33100">
            <a:noAutofit/>
          </a:bodyPr>
          <a:lstStyle/>
          <a:p>
            <a:pPr indent="0" lvl="0" marL="0" marR="0" rtl="0" algn="ctr">
              <a:spcBef>
                <a:spcPts val="0"/>
              </a:spcBef>
              <a:spcAft>
                <a:spcPts val="0"/>
              </a:spcAft>
              <a:buNone/>
            </a:pPr>
            <a:r>
              <a:t/>
            </a:r>
            <a:endParaRPr sz="2607">
              <a:solidFill>
                <a:srgbClr val="FFFFFF"/>
              </a:solidFill>
              <a:latin typeface="Lato Light"/>
              <a:ea typeface="Lato Light"/>
              <a:cs typeface="Lato Light"/>
              <a:sym typeface="Lato Light"/>
            </a:endParaRPr>
          </a:p>
        </p:txBody>
      </p:sp>
      <p:sp>
        <p:nvSpPr>
          <p:cNvPr id="403" name="Google Shape;403;g34518552875_3_12"/>
          <p:cNvSpPr txBox="1"/>
          <p:nvPr/>
        </p:nvSpPr>
        <p:spPr>
          <a:xfrm>
            <a:off x="8792394" y="2696786"/>
            <a:ext cx="1119600" cy="847200"/>
          </a:xfrm>
          <a:prstGeom prst="rect">
            <a:avLst/>
          </a:prstGeom>
          <a:noFill/>
          <a:ln>
            <a:noFill/>
          </a:ln>
        </p:spPr>
        <p:txBody>
          <a:bodyPr anchorCtr="0" anchor="ctr" bIns="33100" lIns="66225" spcFirstLastPara="1" rIns="66225" wrap="square" tIns="33100">
            <a:spAutoFit/>
          </a:bodyPr>
          <a:lstStyle/>
          <a:p>
            <a:pPr indent="0" lvl="0" marL="0" marR="0" rtl="0" algn="ctr">
              <a:spcBef>
                <a:spcPts val="0"/>
              </a:spcBef>
              <a:spcAft>
                <a:spcPts val="0"/>
              </a:spcAft>
              <a:buNone/>
            </a:pPr>
            <a:r>
              <a:rPr b="1" lang="en-US" sz="2535">
                <a:solidFill>
                  <a:srgbClr val="FFFFFF"/>
                </a:solidFill>
              </a:rPr>
              <a:t>Trung hạn</a:t>
            </a:r>
            <a:endParaRPr sz="2535"/>
          </a:p>
        </p:txBody>
      </p:sp>
      <p:sp>
        <p:nvSpPr>
          <p:cNvPr id="404" name="Google Shape;404;g34518552875_3_12"/>
          <p:cNvSpPr/>
          <p:nvPr/>
        </p:nvSpPr>
        <p:spPr>
          <a:xfrm>
            <a:off x="14556883" y="1881767"/>
            <a:ext cx="2474986" cy="2474979"/>
          </a:xfrm>
          <a:custGeom>
            <a:rect b="b" l="l" r="r" t="t"/>
            <a:pathLst>
              <a:path extrusionOk="0" h="2741" w="2741">
                <a:moveTo>
                  <a:pt x="1331" y="10"/>
                </a:moveTo>
                <a:lnTo>
                  <a:pt x="1331" y="10"/>
                </a:lnTo>
                <a:cubicBezTo>
                  <a:pt x="1356" y="0"/>
                  <a:pt x="1384" y="0"/>
                  <a:pt x="1409" y="10"/>
                </a:cubicBezTo>
                <a:lnTo>
                  <a:pt x="2304" y="381"/>
                </a:lnTo>
                <a:lnTo>
                  <a:pt x="2304" y="381"/>
                </a:lnTo>
                <a:cubicBezTo>
                  <a:pt x="2329" y="391"/>
                  <a:pt x="2349" y="411"/>
                  <a:pt x="2359" y="436"/>
                </a:cubicBezTo>
                <a:lnTo>
                  <a:pt x="2730" y="1331"/>
                </a:lnTo>
                <a:lnTo>
                  <a:pt x="2730" y="1331"/>
                </a:lnTo>
                <a:cubicBezTo>
                  <a:pt x="2740" y="1356"/>
                  <a:pt x="2740" y="1384"/>
                  <a:pt x="2730" y="1409"/>
                </a:cubicBezTo>
                <a:lnTo>
                  <a:pt x="2359" y="2304"/>
                </a:lnTo>
                <a:lnTo>
                  <a:pt x="2359" y="2304"/>
                </a:lnTo>
                <a:cubicBezTo>
                  <a:pt x="2349" y="2329"/>
                  <a:pt x="2329" y="2349"/>
                  <a:pt x="2304" y="2359"/>
                </a:cubicBezTo>
                <a:lnTo>
                  <a:pt x="1409" y="2730"/>
                </a:lnTo>
                <a:lnTo>
                  <a:pt x="1409" y="2730"/>
                </a:lnTo>
                <a:cubicBezTo>
                  <a:pt x="1384" y="2740"/>
                  <a:pt x="1356" y="2740"/>
                  <a:pt x="1331" y="2730"/>
                </a:cubicBezTo>
                <a:lnTo>
                  <a:pt x="436" y="2359"/>
                </a:lnTo>
                <a:lnTo>
                  <a:pt x="436" y="2359"/>
                </a:lnTo>
                <a:cubicBezTo>
                  <a:pt x="411" y="2349"/>
                  <a:pt x="391" y="2329"/>
                  <a:pt x="381" y="2304"/>
                </a:cubicBezTo>
                <a:lnTo>
                  <a:pt x="10" y="1409"/>
                </a:lnTo>
                <a:lnTo>
                  <a:pt x="10" y="1409"/>
                </a:lnTo>
                <a:cubicBezTo>
                  <a:pt x="0" y="1384"/>
                  <a:pt x="0" y="1356"/>
                  <a:pt x="10" y="1331"/>
                </a:cubicBezTo>
                <a:lnTo>
                  <a:pt x="381" y="436"/>
                </a:lnTo>
                <a:lnTo>
                  <a:pt x="381" y="436"/>
                </a:lnTo>
                <a:cubicBezTo>
                  <a:pt x="391" y="411"/>
                  <a:pt x="411" y="391"/>
                  <a:pt x="436" y="381"/>
                </a:cubicBezTo>
                <a:lnTo>
                  <a:pt x="1331" y="10"/>
                </a:lnTo>
              </a:path>
            </a:pathLst>
          </a:custGeom>
          <a:solidFill>
            <a:srgbClr val="F0D065"/>
          </a:solidFill>
          <a:ln>
            <a:noFill/>
          </a:ln>
        </p:spPr>
        <p:txBody>
          <a:bodyPr anchorCtr="0" anchor="ctr" bIns="33100" lIns="66225" spcFirstLastPara="1" rIns="66225" wrap="square" tIns="33100">
            <a:noAutofit/>
          </a:bodyPr>
          <a:lstStyle/>
          <a:p>
            <a:pPr indent="0" lvl="0" marL="0" marR="0" rtl="0" algn="l">
              <a:spcBef>
                <a:spcPts val="0"/>
              </a:spcBef>
              <a:spcAft>
                <a:spcPts val="0"/>
              </a:spcAft>
              <a:buNone/>
            </a:pPr>
            <a:r>
              <a:t/>
            </a:r>
            <a:endParaRPr sz="4729">
              <a:solidFill>
                <a:srgbClr val="737572"/>
              </a:solidFill>
              <a:latin typeface="Lato Light"/>
              <a:ea typeface="Lato Light"/>
              <a:cs typeface="Lato Light"/>
              <a:sym typeface="Lato Light"/>
            </a:endParaRPr>
          </a:p>
        </p:txBody>
      </p:sp>
      <p:sp>
        <p:nvSpPr>
          <p:cNvPr id="405" name="Google Shape;405;g34518552875_3_12"/>
          <p:cNvSpPr/>
          <p:nvPr/>
        </p:nvSpPr>
        <p:spPr>
          <a:xfrm>
            <a:off x="13994895" y="1323650"/>
            <a:ext cx="3576673" cy="3067989"/>
          </a:xfrm>
          <a:custGeom>
            <a:rect b="b" l="l" r="r" t="t"/>
            <a:pathLst>
              <a:path extrusionOk="0" h="4231709" w="4933342">
                <a:moveTo>
                  <a:pt x="2485286" y="0"/>
                </a:moveTo>
                <a:cubicBezTo>
                  <a:pt x="2506156" y="0"/>
                  <a:pt x="2527026" y="4050"/>
                  <a:pt x="2546339" y="12150"/>
                </a:cubicBezTo>
                <a:lnTo>
                  <a:pt x="4182322" y="695056"/>
                </a:lnTo>
                <a:cubicBezTo>
                  <a:pt x="4220948" y="711256"/>
                  <a:pt x="4253344" y="742411"/>
                  <a:pt x="4268296" y="782288"/>
                </a:cubicBezTo>
                <a:lnTo>
                  <a:pt x="4921194" y="2413535"/>
                </a:lnTo>
                <a:cubicBezTo>
                  <a:pt x="4937392" y="2452167"/>
                  <a:pt x="4937392" y="2493291"/>
                  <a:pt x="4921194" y="2530676"/>
                </a:cubicBezTo>
                <a:lnTo>
                  <a:pt x="4248360" y="4230463"/>
                </a:lnTo>
                <a:lnTo>
                  <a:pt x="4189798" y="4206785"/>
                </a:lnTo>
                <a:lnTo>
                  <a:pt x="4862632" y="2506999"/>
                </a:lnTo>
                <a:cubicBezTo>
                  <a:pt x="4872600" y="2485814"/>
                  <a:pt x="4872600" y="2459644"/>
                  <a:pt x="4862632" y="2437213"/>
                </a:cubicBezTo>
                <a:lnTo>
                  <a:pt x="4209734" y="805966"/>
                </a:lnTo>
                <a:cubicBezTo>
                  <a:pt x="4199766" y="782288"/>
                  <a:pt x="4181076" y="763596"/>
                  <a:pt x="4157403" y="753626"/>
                </a:cubicBezTo>
                <a:lnTo>
                  <a:pt x="2522665" y="70721"/>
                </a:lnTo>
                <a:cubicBezTo>
                  <a:pt x="2498992" y="60751"/>
                  <a:pt x="2471580" y="60751"/>
                  <a:pt x="2449152" y="69475"/>
                </a:cubicBezTo>
                <a:lnTo>
                  <a:pt x="806939" y="753626"/>
                </a:lnTo>
                <a:cubicBezTo>
                  <a:pt x="782019" y="763596"/>
                  <a:pt x="764575" y="782288"/>
                  <a:pt x="754607" y="805966"/>
                </a:cubicBezTo>
                <a:lnTo>
                  <a:pt x="71805" y="2435966"/>
                </a:lnTo>
                <a:cubicBezTo>
                  <a:pt x="61837" y="2459644"/>
                  <a:pt x="61837" y="2485814"/>
                  <a:pt x="70559" y="2508245"/>
                </a:cubicBezTo>
                <a:lnTo>
                  <a:pt x="774543" y="4206785"/>
                </a:lnTo>
                <a:lnTo>
                  <a:pt x="715982" y="4231709"/>
                </a:lnTo>
                <a:lnTo>
                  <a:pt x="11998" y="2533168"/>
                </a:lnTo>
                <a:cubicBezTo>
                  <a:pt x="-4200" y="2494537"/>
                  <a:pt x="-4200" y="2449674"/>
                  <a:pt x="13244" y="2411043"/>
                </a:cubicBezTo>
                <a:lnTo>
                  <a:pt x="696046" y="779796"/>
                </a:lnTo>
                <a:cubicBezTo>
                  <a:pt x="712244" y="741165"/>
                  <a:pt x="743393" y="711256"/>
                  <a:pt x="782019" y="696302"/>
                </a:cubicBezTo>
                <a:lnTo>
                  <a:pt x="2424232" y="12150"/>
                </a:lnTo>
                <a:cubicBezTo>
                  <a:pt x="2443545" y="4050"/>
                  <a:pt x="2464415" y="0"/>
                  <a:pt x="2485286" y="0"/>
                </a:cubicBezTo>
                <a:close/>
              </a:path>
            </a:pathLst>
          </a:custGeom>
          <a:solidFill>
            <a:srgbClr val="D8D8D8"/>
          </a:solidFill>
          <a:ln>
            <a:noFill/>
          </a:ln>
        </p:spPr>
        <p:txBody>
          <a:bodyPr anchorCtr="0" anchor="ctr" bIns="33100" lIns="66225" spcFirstLastPara="1" rIns="66225" wrap="square" tIns="33100">
            <a:noAutofit/>
          </a:bodyPr>
          <a:lstStyle/>
          <a:p>
            <a:pPr indent="0" lvl="0" marL="0" marR="0" rtl="0" algn="l">
              <a:spcBef>
                <a:spcPts val="0"/>
              </a:spcBef>
              <a:spcAft>
                <a:spcPts val="0"/>
              </a:spcAft>
              <a:buNone/>
            </a:pPr>
            <a:r>
              <a:t/>
            </a:r>
            <a:endParaRPr sz="4729">
              <a:solidFill>
                <a:srgbClr val="737572"/>
              </a:solidFill>
              <a:latin typeface="Lato Light"/>
              <a:ea typeface="Lato Light"/>
              <a:cs typeface="Lato Light"/>
              <a:sym typeface="Lato Light"/>
            </a:endParaRPr>
          </a:p>
        </p:txBody>
      </p:sp>
      <p:sp>
        <p:nvSpPr>
          <p:cNvPr id="406" name="Google Shape;406;g34518552875_3_12"/>
          <p:cNvSpPr/>
          <p:nvPr/>
        </p:nvSpPr>
        <p:spPr>
          <a:xfrm>
            <a:off x="13378625" y="5361350"/>
            <a:ext cx="4831500" cy="4143600"/>
          </a:xfrm>
          <a:prstGeom prst="roundRect">
            <a:avLst>
              <a:gd fmla="val 6125" name="adj"/>
            </a:avLst>
          </a:prstGeom>
          <a:solidFill>
            <a:srgbClr val="F0D065"/>
          </a:solidFill>
          <a:ln>
            <a:noFill/>
          </a:ln>
        </p:spPr>
        <p:txBody>
          <a:bodyPr anchorCtr="0" anchor="ctr" bIns="33100" lIns="66225" spcFirstLastPara="1" rIns="66225" wrap="square" tIns="33100">
            <a:noAutofit/>
          </a:bodyPr>
          <a:lstStyle/>
          <a:p>
            <a:pPr indent="0" lvl="0" marL="0" marR="0" rtl="0" algn="ctr">
              <a:spcBef>
                <a:spcPts val="0"/>
              </a:spcBef>
              <a:spcAft>
                <a:spcPts val="0"/>
              </a:spcAft>
              <a:buNone/>
            </a:pPr>
            <a:r>
              <a:t/>
            </a:r>
            <a:endParaRPr sz="2607">
              <a:solidFill>
                <a:srgbClr val="FFFFFF"/>
              </a:solidFill>
              <a:latin typeface="Lato Light"/>
              <a:ea typeface="Lato Light"/>
              <a:cs typeface="Lato Light"/>
              <a:sym typeface="Lato Light"/>
            </a:endParaRPr>
          </a:p>
        </p:txBody>
      </p:sp>
      <p:sp>
        <p:nvSpPr>
          <p:cNvPr id="407" name="Google Shape;407;g34518552875_3_12"/>
          <p:cNvSpPr txBox="1"/>
          <p:nvPr/>
        </p:nvSpPr>
        <p:spPr>
          <a:xfrm>
            <a:off x="13561100" y="5548550"/>
            <a:ext cx="4482300" cy="3987300"/>
          </a:xfrm>
          <a:prstGeom prst="rect">
            <a:avLst/>
          </a:prstGeom>
          <a:noFill/>
          <a:ln>
            <a:noFill/>
          </a:ln>
        </p:spPr>
        <p:txBody>
          <a:bodyPr anchorCtr="0" anchor="t" bIns="33100" lIns="66225" spcFirstLastPara="1" rIns="66225" wrap="square" tIns="33100">
            <a:spAutoFit/>
          </a:bodyPr>
          <a:lstStyle/>
          <a:p>
            <a:pPr indent="0" lvl="0" marL="0" marR="0" rtl="0" algn="l">
              <a:lnSpc>
                <a:spcPct val="145833"/>
              </a:lnSpc>
              <a:spcBef>
                <a:spcPts val="0"/>
              </a:spcBef>
              <a:spcAft>
                <a:spcPts val="0"/>
              </a:spcAft>
              <a:buClr>
                <a:srgbClr val="FFFFFF"/>
              </a:buClr>
              <a:buSzPts val="1738"/>
              <a:buFont typeface="Arial"/>
              <a:buNone/>
            </a:pPr>
            <a:r>
              <a:rPr b="1" lang="en-US" sz="2010"/>
              <a:t>Học thuật:</a:t>
            </a:r>
            <a:endParaRPr b="1" sz="2010"/>
          </a:p>
          <a:p>
            <a:pPr indent="-293260" lvl="0" marL="331153" marR="0" rtl="0" algn="l">
              <a:lnSpc>
                <a:spcPct val="145833"/>
              </a:lnSpc>
              <a:spcBef>
                <a:spcPts val="0"/>
              </a:spcBef>
              <a:spcAft>
                <a:spcPts val="0"/>
              </a:spcAft>
              <a:buSzPts val="2011"/>
              <a:buChar char="-"/>
            </a:pPr>
            <a:r>
              <a:rPr b="1" lang="en-US" sz="2010"/>
              <a:t>Đào tạo thế hệ kế cận</a:t>
            </a:r>
            <a:endParaRPr b="1" sz="2010"/>
          </a:p>
          <a:p>
            <a:pPr indent="-293260" lvl="0" marL="331153" marR="0" rtl="0" algn="l">
              <a:lnSpc>
                <a:spcPct val="145833"/>
              </a:lnSpc>
              <a:spcBef>
                <a:spcPts val="0"/>
              </a:spcBef>
              <a:spcAft>
                <a:spcPts val="0"/>
              </a:spcAft>
              <a:buSzPts val="2011"/>
              <a:buChar char="-"/>
            </a:pPr>
            <a:r>
              <a:rPr b="1" lang="en-US" sz="2010"/>
              <a:t>Làm tiếp các nghiên cứu theo dõi thời gian dài.</a:t>
            </a:r>
            <a:endParaRPr b="1" sz="2010"/>
          </a:p>
          <a:p>
            <a:pPr indent="0" lvl="0" marL="0" marR="0" rtl="0" algn="l">
              <a:lnSpc>
                <a:spcPct val="145833"/>
              </a:lnSpc>
              <a:spcBef>
                <a:spcPts val="0"/>
              </a:spcBef>
              <a:spcAft>
                <a:spcPts val="0"/>
              </a:spcAft>
              <a:buNone/>
            </a:pPr>
            <a:r>
              <a:rPr b="1" lang="en-US" sz="2010"/>
              <a:t>Thực tế:</a:t>
            </a:r>
            <a:endParaRPr b="1" sz="2010"/>
          </a:p>
          <a:p>
            <a:pPr indent="-293260" lvl="0" marL="331153" marR="0" rtl="0" algn="l">
              <a:lnSpc>
                <a:spcPct val="145833"/>
              </a:lnSpc>
              <a:spcBef>
                <a:spcPts val="0"/>
              </a:spcBef>
              <a:spcAft>
                <a:spcPts val="0"/>
              </a:spcAft>
              <a:buSzPts val="2011"/>
              <a:buChar char="-"/>
            </a:pPr>
            <a:r>
              <a:rPr b="1" lang="en-US" sz="2010"/>
              <a:t>Nâng cao chất lượng cuộc sống cho trẻ</a:t>
            </a:r>
            <a:endParaRPr b="1" sz="2010"/>
          </a:p>
          <a:p>
            <a:pPr indent="-293260" lvl="0" marL="331153" marR="0" rtl="0" algn="l">
              <a:lnSpc>
                <a:spcPct val="145833"/>
              </a:lnSpc>
              <a:spcBef>
                <a:spcPts val="0"/>
              </a:spcBef>
              <a:spcAft>
                <a:spcPts val="0"/>
              </a:spcAft>
              <a:buSzPts val="2011"/>
              <a:buChar char="-"/>
            </a:pPr>
            <a:r>
              <a:rPr b="1" lang="en-US" sz="2010"/>
              <a:t>Lợi ích kinh tế đối với trẻ ở xa thành thị</a:t>
            </a:r>
            <a:endParaRPr b="1" sz="2010"/>
          </a:p>
        </p:txBody>
      </p:sp>
      <p:sp>
        <p:nvSpPr>
          <p:cNvPr id="408" name="Google Shape;408;g34518552875_3_12"/>
          <p:cNvSpPr/>
          <p:nvPr/>
        </p:nvSpPr>
        <p:spPr>
          <a:xfrm rot="5400000">
            <a:off x="15434851" y="4766841"/>
            <a:ext cx="693300" cy="163500"/>
          </a:xfrm>
          <a:prstGeom prst="rightArrow">
            <a:avLst>
              <a:gd fmla="val 27239" name="adj1"/>
              <a:gd fmla="val 50000" name="adj2"/>
            </a:avLst>
          </a:prstGeom>
          <a:solidFill>
            <a:srgbClr val="D8D8D8"/>
          </a:solidFill>
          <a:ln>
            <a:noFill/>
          </a:ln>
        </p:spPr>
        <p:txBody>
          <a:bodyPr anchorCtr="0" anchor="ctr" bIns="33100" lIns="66225" spcFirstLastPara="1" rIns="66225" wrap="square" tIns="33100">
            <a:noAutofit/>
          </a:bodyPr>
          <a:lstStyle/>
          <a:p>
            <a:pPr indent="0" lvl="0" marL="0" marR="0" rtl="0" algn="ctr">
              <a:spcBef>
                <a:spcPts val="0"/>
              </a:spcBef>
              <a:spcAft>
                <a:spcPts val="0"/>
              </a:spcAft>
              <a:buNone/>
            </a:pPr>
            <a:r>
              <a:t/>
            </a:r>
            <a:endParaRPr sz="2607">
              <a:solidFill>
                <a:srgbClr val="FFFFFF"/>
              </a:solidFill>
              <a:latin typeface="Lato Light"/>
              <a:ea typeface="Lato Light"/>
              <a:cs typeface="Lato Light"/>
              <a:sym typeface="Lato Light"/>
            </a:endParaRPr>
          </a:p>
        </p:txBody>
      </p:sp>
      <p:sp>
        <p:nvSpPr>
          <p:cNvPr id="409" name="Google Shape;409;g34518552875_3_12"/>
          <p:cNvSpPr txBox="1"/>
          <p:nvPr/>
        </p:nvSpPr>
        <p:spPr>
          <a:xfrm>
            <a:off x="15170106" y="2818308"/>
            <a:ext cx="1222800" cy="847200"/>
          </a:xfrm>
          <a:prstGeom prst="rect">
            <a:avLst/>
          </a:prstGeom>
          <a:noFill/>
          <a:ln>
            <a:noFill/>
          </a:ln>
        </p:spPr>
        <p:txBody>
          <a:bodyPr anchorCtr="0" anchor="ctr" bIns="33100" lIns="66225" spcFirstLastPara="1" rIns="66225" wrap="square" tIns="33100">
            <a:spAutoFit/>
          </a:bodyPr>
          <a:lstStyle/>
          <a:p>
            <a:pPr indent="0" lvl="0" marL="0" marR="0" rtl="0" algn="ctr">
              <a:spcBef>
                <a:spcPts val="0"/>
              </a:spcBef>
              <a:spcAft>
                <a:spcPts val="0"/>
              </a:spcAft>
              <a:buNone/>
            </a:pPr>
            <a:r>
              <a:rPr b="1" lang="en-US" sz="2535">
                <a:solidFill>
                  <a:srgbClr val="FFFFFF"/>
                </a:solidFill>
              </a:rPr>
              <a:t>Dài hạn</a:t>
            </a:r>
            <a:endParaRPr sz="2535"/>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g374155ffd1b_0_5"/>
          <p:cNvSpPr txBox="1"/>
          <p:nvPr/>
        </p:nvSpPr>
        <p:spPr>
          <a:xfrm>
            <a:off x="1026000" y="1261950"/>
            <a:ext cx="16236000" cy="8400300"/>
          </a:xfrm>
          <a:prstGeom prst="rect">
            <a:avLst/>
          </a:prstGeom>
          <a:noFill/>
          <a:ln>
            <a:noFill/>
          </a:ln>
        </p:spPr>
        <p:txBody>
          <a:bodyPr anchorCtr="0" anchor="t" bIns="0" lIns="0" spcFirstLastPara="1" rIns="0" wrap="square" tIns="0">
            <a:spAutoFit/>
          </a:bodyPr>
          <a:lstStyle/>
          <a:p>
            <a:pPr indent="-346075" lvl="0" marL="457200" rtl="0" algn="just">
              <a:lnSpc>
                <a:spcPct val="150000"/>
              </a:lnSpc>
              <a:spcBef>
                <a:spcPts val="0"/>
              </a:spcBef>
              <a:spcAft>
                <a:spcPts val="0"/>
              </a:spcAft>
              <a:buSzPts val="1850"/>
              <a:buFont typeface="Montserrat Medium"/>
              <a:buAutoNum type="arabicPeriod"/>
            </a:pPr>
            <a:r>
              <a:rPr lang="en-US" sz="1850">
                <a:latin typeface="Montserrat Medium"/>
                <a:ea typeface="Montserrat Medium"/>
                <a:cs typeface="Montserrat Medium"/>
                <a:sym typeface="Montserrat Medium"/>
              </a:rPr>
              <a:t>Bishop, Dorothy VM, et al. "Phase 2 of CATALISE: A multinational and multidisciplinary Delphi consensus study of problems with language development: Terminology." Journal of child psychology and psychiatry 58.10 (2017): 1068-1080.</a:t>
            </a:r>
            <a:endParaRPr sz="1850">
              <a:latin typeface="Montserrat Medium"/>
              <a:ea typeface="Montserrat Medium"/>
              <a:cs typeface="Montserrat Medium"/>
              <a:sym typeface="Montserrat Medium"/>
            </a:endParaRPr>
          </a:p>
          <a:p>
            <a:pPr indent="-346075" lvl="0" marL="457200" rtl="0" algn="just">
              <a:lnSpc>
                <a:spcPct val="150000"/>
              </a:lnSpc>
              <a:spcBef>
                <a:spcPts val="0"/>
              </a:spcBef>
              <a:spcAft>
                <a:spcPts val="0"/>
              </a:spcAft>
              <a:buSzPts val="1850"/>
              <a:buFont typeface="Montserrat Medium"/>
              <a:buAutoNum type="arabicPeriod"/>
            </a:pPr>
            <a:r>
              <a:rPr lang="en-US" sz="1850">
                <a:latin typeface="Montserrat Medium"/>
                <a:ea typeface="Montserrat Medium"/>
                <a:cs typeface="Montserrat Medium"/>
                <a:sym typeface="Montserrat Medium"/>
              </a:rPr>
              <a:t>Roman-Urrestarazu, Andres, et al. "Association of race/ethnicity and social disadvantage with autism prevalence in 7 million school children in England." JAMA pediatrics 175.6 (2021): e210054-e210054.</a:t>
            </a:r>
            <a:endParaRPr sz="1850">
              <a:latin typeface="Montserrat Medium"/>
              <a:ea typeface="Montserrat Medium"/>
              <a:cs typeface="Montserrat Medium"/>
              <a:sym typeface="Montserrat Medium"/>
            </a:endParaRPr>
          </a:p>
          <a:p>
            <a:pPr indent="-346075" lvl="0" marL="457200" rtl="0" algn="just">
              <a:lnSpc>
                <a:spcPct val="150000"/>
              </a:lnSpc>
              <a:spcBef>
                <a:spcPts val="0"/>
              </a:spcBef>
              <a:spcAft>
                <a:spcPts val="0"/>
              </a:spcAft>
              <a:buSzPts val="1850"/>
              <a:buFont typeface="Montserrat Medium"/>
              <a:buAutoNum type="arabicPeriod"/>
            </a:pPr>
            <a:r>
              <a:rPr lang="en-US" sz="1850">
                <a:latin typeface="Montserrat Medium"/>
                <a:ea typeface="Montserrat Medium"/>
                <a:cs typeface="Montserrat Medium"/>
                <a:sym typeface="Montserrat Medium"/>
              </a:rPr>
              <a:t>Sayal, Kapil, et al. "ADHD in children and young people: prevalence, care pathways, and service provision." The lancet psychiatry 5.2 (2018): 175-186.</a:t>
            </a:r>
            <a:endParaRPr sz="1850">
              <a:latin typeface="Montserrat Medium"/>
              <a:ea typeface="Montserrat Medium"/>
              <a:cs typeface="Montserrat Medium"/>
              <a:sym typeface="Montserrat Medium"/>
            </a:endParaRPr>
          </a:p>
          <a:p>
            <a:pPr indent="-346075" lvl="0" marL="457200" rtl="0" algn="just">
              <a:lnSpc>
                <a:spcPct val="150000"/>
              </a:lnSpc>
              <a:spcBef>
                <a:spcPts val="0"/>
              </a:spcBef>
              <a:spcAft>
                <a:spcPts val="0"/>
              </a:spcAft>
              <a:buSzPts val="1850"/>
              <a:buFont typeface="Montserrat Medium"/>
              <a:buAutoNum type="arabicPeriod"/>
            </a:pPr>
            <a:r>
              <a:rPr lang="en-US" sz="1850">
                <a:latin typeface="Montserrat Medium"/>
                <a:ea typeface="Montserrat Medium"/>
                <a:cs typeface="Montserrat Medium"/>
                <a:sym typeface="Montserrat Medium"/>
              </a:rPr>
              <a:t>Rinaldi, Sara, et al. "Efficacy of the treatment of developmental language disorder: A systematic review." Brain sciences 11.3 (2021): 407.</a:t>
            </a:r>
            <a:endParaRPr sz="1850">
              <a:latin typeface="Montserrat Medium"/>
              <a:ea typeface="Montserrat Medium"/>
              <a:cs typeface="Montserrat Medium"/>
              <a:sym typeface="Montserrat Medium"/>
            </a:endParaRPr>
          </a:p>
          <a:p>
            <a:pPr indent="-346075" lvl="0" marL="457200" rtl="0" algn="just">
              <a:lnSpc>
                <a:spcPct val="150000"/>
              </a:lnSpc>
              <a:spcBef>
                <a:spcPts val="0"/>
              </a:spcBef>
              <a:spcAft>
                <a:spcPts val="0"/>
              </a:spcAft>
              <a:buSzPts val="1850"/>
              <a:buFont typeface="Montserrat Medium"/>
              <a:buAutoNum type="arabicPeriod"/>
            </a:pPr>
            <a:r>
              <a:rPr lang="en-US" sz="1850">
                <a:latin typeface="Montserrat Medium"/>
                <a:ea typeface="Montserrat Medium"/>
                <a:cs typeface="Montserrat Medium"/>
                <a:sym typeface="Montserrat Medium"/>
              </a:rPr>
              <a:t>Eadie, Patricia, et al. "Speech sound disorder at 4 years: Prevalence, comorbidities, and predictors in a community cohort of children." Developmental Medicine &amp; Child Neurology 57.6 (2015): 578-584.</a:t>
            </a:r>
            <a:endParaRPr sz="1850">
              <a:latin typeface="Montserrat Medium"/>
              <a:ea typeface="Montserrat Medium"/>
              <a:cs typeface="Montserrat Medium"/>
              <a:sym typeface="Montserrat Medium"/>
            </a:endParaRPr>
          </a:p>
          <a:p>
            <a:pPr indent="-346075" lvl="0" marL="457200" rtl="0" algn="just">
              <a:lnSpc>
                <a:spcPct val="150000"/>
              </a:lnSpc>
              <a:spcBef>
                <a:spcPts val="0"/>
              </a:spcBef>
              <a:spcAft>
                <a:spcPts val="0"/>
              </a:spcAft>
              <a:buSzPts val="1850"/>
              <a:buFont typeface="Montserrat Medium"/>
              <a:buAutoNum type="arabicPeriod"/>
            </a:pPr>
            <a:r>
              <a:rPr lang="en-US" sz="1850">
                <a:latin typeface="Montserrat Medium"/>
                <a:ea typeface="Montserrat Medium"/>
                <a:cs typeface="Montserrat Medium"/>
                <a:sym typeface="Montserrat Medium"/>
              </a:rPr>
              <a:t>Harding, Sam, et al. "Outcome measures for children with speech sound disorder: an umbrella review." BMJ open 14.4 (2024): e081446.</a:t>
            </a:r>
            <a:endParaRPr sz="1850">
              <a:latin typeface="Montserrat Medium"/>
              <a:ea typeface="Montserrat Medium"/>
              <a:cs typeface="Montserrat Medium"/>
              <a:sym typeface="Montserrat Medium"/>
            </a:endParaRPr>
          </a:p>
          <a:p>
            <a:pPr indent="-346075" lvl="0" marL="457200" rtl="0" algn="just">
              <a:lnSpc>
                <a:spcPct val="150000"/>
              </a:lnSpc>
              <a:spcBef>
                <a:spcPts val="0"/>
              </a:spcBef>
              <a:spcAft>
                <a:spcPts val="0"/>
              </a:spcAft>
              <a:buSzPts val="1850"/>
              <a:buFont typeface="Montserrat Medium"/>
              <a:buAutoNum type="arabicPeriod"/>
            </a:pPr>
            <a:r>
              <a:rPr lang="en-US" sz="1850">
                <a:latin typeface="Montserrat Medium"/>
                <a:ea typeface="Montserrat Medium"/>
                <a:cs typeface="Montserrat Medium"/>
                <a:sym typeface="Montserrat Medium"/>
              </a:rPr>
              <a:t>Calder, Samuel D., et al. "Evaluating two different dose frequencies and cumulative intervention intensities to improve past tense production for early school‐aged children with developmental language disorder." International Journal of Language &amp; Communication Disorders 56.6 (2021): 1278-1295.</a:t>
            </a:r>
            <a:endParaRPr sz="1850">
              <a:latin typeface="Montserrat Medium"/>
              <a:ea typeface="Montserrat Medium"/>
              <a:cs typeface="Montserrat Medium"/>
              <a:sym typeface="Montserrat Medium"/>
            </a:endParaRPr>
          </a:p>
          <a:p>
            <a:pPr indent="-346075" lvl="0" marL="457200" rtl="0" algn="just">
              <a:lnSpc>
                <a:spcPct val="150000"/>
              </a:lnSpc>
              <a:spcBef>
                <a:spcPts val="0"/>
              </a:spcBef>
              <a:spcAft>
                <a:spcPts val="0"/>
              </a:spcAft>
              <a:buSzPts val="1850"/>
              <a:buFont typeface="Montserrat Medium"/>
              <a:buAutoNum type="arabicPeriod"/>
            </a:pPr>
            <a:r>
              <a:rPr lang="en-US" sz="1850">
                <a:latin typeface="Montserrat Medium"/>
                <a:ea typeface="Montserrat Medium"/>
                <a:cs typeface="Montserrat Medium"/>
                <a:sym typeface="Montserrat Medium"/>
              </a:rPr>
              <a:t>Ducote, Charlotte A. "A speech-language pathologist in Vietnam." The ASHA Leader 6.22 (2001): 4-24.</a:t>
            </a:r>
            <a:endParaRPr sz="1850">
              <a:latin typeface="Montserrat Medium"/>
              <a:ea typeface="Montserrat Medium"/>
              <a:cs typeface="Montserrat Medium"/>
              <a:sym typeface="Montserrat Medium"/>
            </a:endParaRPr>
          </a:p>
          <a:p>
            <a:pPr indent="-346075" lvl="0" marL="457200" rtl="0" algn="just">
              <a:lnSpc>
                <a:spcPct val="150000"/>
              </a:lnSpc>
              <a:spcBef>
                <a:spcPts val="0"/>
              </a:spcBef>
              <a:spcAft>
                <a:spcPts val="0"/>
              </a:spcAft>
              <a:buSzPts val="1850"/>
              <a:buFont typeface="Montserrat Medium"/>
              <a:buAutoNum type="arabicPeriod"/>
            </a:pPr>
            <a:r>
              <a:rPr lang="en-US" sz="1850">
                <a:latin typeface="Montserrat Medium"/>
                <a:ea typeface="Montserrat Medium"/>
                <a:cs typeface="Montserrat Medium"/>
                <a:sym typeface="Montserrat Medium"/>
              </a:rPr>
              <a:t>10. Danubianu, Mirela, et al. "Distributed intelligent system for personalized therapy of speech disorders." 2008 The Third International Multi-Conference on Computing in the Global Information Technology (iccgi 2008). IEEE, 2008.</a:t>
            </a:r>
            <a:endParaRPr sz="1850">
              <a:latin typeface="Montserrat Medium"/>
              <a:ea typeface="Montserrat Medium"/>
              <a:cs typeface="Montserrat Medium"/>
              <a:sym typeface="Montserrat Medium"/>
            </a:endParaRPr>
          </a:p>
          <a:p>
            <a:pPr indent="-346075" lvl="0" marL="457200" rtl="0" algn="just">
              <a:lnSpc>
                <a:spcPct val="150000"/>
              </a:lnSpc>
              <a:spcBef>
                <a:spcPts val="0"/>
              </a:spcBef>
              <a:spcAft>
                <a:spcPts val="0"/>
              </a:spcAft>
              <a:buSzPts val="1850"/>
              <a:buFont typeface="Montserrat Medium"/>
              <a:buAutoNum type="arabicPeriod"/>
            </a:pPr>
            <a:r>
              <a:rPr lang="en-US" sz="1850">
                <a:latin typeface="Montserrat Medium"/>
                <a:ea typeface="Montserrat Medium"/>
                <a:cs typeface="Montserrat Medium"/>
                <a:sym typeface="Montserrat Medium"/>
              </a:rPr>
              <a:t>11.  Bhardwaj, Ankur, et al. "Transforming pediatric speech and language disorder diagnosis and therapy: the evolving role of artificial intelligence." Health Sciences Review 12 (2024): 100188.</a:t>
            </a:r>
            <a:endParaRPr sz="1850">
              <a:latin typeface="Montserrat Medium"/>
              <a:ea typeface="Montserrat Medium"/>
              <a:cs typeface="Montserrat Medium"/>
              <a:sym typeface="Montserrat Medium"/>
            </a:endParaRPr>
          </a:p>
        </p:txBody>
      </p:sp>
      <p:sp>
        <p:nvSpPr>
          <p:cNvPr id="415" name="Google Shape;415;g374155ffd1b_0_5"/>
          <p:cNvSpPr txBox="1"/>
          <p:nvPr/>
        </p:nvSpPr>
        <p:spPr>
          <a:xfrm>
            <a:off x="1026000" y="356375"/>
            <a:ext cx="142905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000">
                <a:solidFill>
                  <a:srgbClr val="004AAD"/>
                </a:solidFill>
                <a:latin typeface="Montserrat"/>
                <a:ea typeface="Montserrat"/>
                <a:cs typeface="Montserrat"/>
                <a:sym typeface="Montserrat"/>
              </a:rPr>
              <a:t>Nguồn tham khảo</a:t>
            </a:r>
            <a:endParaRPr b="1" sz="5000">
              <a:solidFill>
                <a:srgbClr val="004AAD"/>
              </a:solidFill>
              <a:latin typeface="Montserrat"/>
              <a:ea typeface="Montserrat"/>
              <a:cs typeface="Montserrat"/>
              <a:sym typeface="Montserrat"/>
            </a:endParaRPr>
          </a:p>
        </p:txBody>
      </p:sp>
      <p:sp>
        <p:nvSpPr>
          <p:cNvPr id="416" name="Google Shape;416;g374155ffd1b_0_5"/>
          <p:cNvSpPr/>
          <p:nvPr/>
        </p:nvSpPr>
        <p:spPr>
          <a:xfrm rot="-1624665">
            <a:off x="13605892" y="-4771224"/>
            <a:ext cx="9491214" cy="7713768"/>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50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g374155ffd1b_0_5"/>
          <p:cNvSpPr/>
          <p:nvPr/>
        </p:nvSpPr>
        <p:spPr>
          <a:xfrm rot="9479154">
            <a:off x="13972316" y="7865711"/>
            <a:ext cx="9499552" cy="7720545"/>
          </a:xfrm>
          <a:custGeom>
            <a:rect b="b" l="l" r="r" t="t"/>
            <a:pathLst>
              <a:path extrusionOk="0" h="7717145" w="9495369">
                <a:moveTo>
                  <a:pt x="0" y="0"/>
                </a:moveTo>
                <a:lnTo>
                  <a:pt x="9495369" y="0"/>
                </a:lnTo>
                <a:lnTo>
                  <a:pt x="9495369" y="7717145"/>
                </a:lnTo>
                <a:lnTo>
                  <a:pt x="0" y="7717145"/>
                </a:lnTo>
                <a:lnTo>
                  <a:pt x="0" y="0"/>
                </a:lnTo>
                <a:close/>
              </a:path>
            </a:pathLst>
          </a:custGeom>
          <a:blipFill rotWithShape="1">
            <a:blip r:embed="rId3">
              <a:alphaModFix amt="18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Song Thiên Long Nguyễn</dc:creator>
</cp:coreProperties>
</file>