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TmBkCdXZJIQlPKHMTMfH+Mnaa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796280-BD72-4091-AB44-67D590C09684}">
  <a:tblStyle styleId="{DF796280-BD72-4091-AB44-67D590C0968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6E6"/>
          </a:solidFill>
        </a:fill>
      </a:tcStyle>
    </a:band1H>
    <a:band2H>
      <a:tcTxStyle/>
    </a:band2H>
    <a:band1V>
      <a:tcTxStyle/>
      <a:tcStyle>
        <a:fill>
          <a:solidFill>
            <a:srgbClr val="E6E6E6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Calibri"/>
          <a:ea typeface="Calibri"/>
          <a:cs typeface="Calibri"/>
        </a:font>
        <a:schemeClr val="dk1"/>
      </a:tcTxStyle>
    </a:seCell>
    <a:swCell>
      <a:tcTxStyle b="on" i="off">
        <a:font>
          <a:latin typeface="Calibri"/>
          <a:ea typeface="Calibri"/>
          <a:cs typeface="Calibri"/>
        </a:font>
        <a:schemeClr val="dk1"/>
      </a:tcTx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C4D6D072-F057-4D12-8D1A-1C139A292F89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6E6"/>
          </a:solidFill>
        </a:fill>
      </a:tcStyle>
    </a:band1H>
    <a:band2H>
      <a:tcTxStyle/>
    </a:band2H>
    <a:band1V>
      <a:tcTxStyle/>
      <a:tcStyle>
        <a:fill>
          <a:solidFill>
            <a:srgbClr val="E6E6E6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Calibri"/>
          <a:ea typeface="Calibri"/>
          <a:cs typeface="Calibri"/>
        </a:font>
        <a:schemeClr val="dk1"/>
      </a:tcTxStyle>
    </a:seCell>
    <a:swCell>
      <a:tcTxStyle b="on" i="off">
        <a:font>
          <a:latin typeface="Calibri"/>
          <a:ea typeface="Calibri"/>
          <a:cs typeface="Calibri"/>
        </a:font>
        <a:schemeClr val="dk1"/>
      </a:tcTx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  <a:tblStyle styleId="{CE48EB88-B501-4249-AC8E-9A6AD49BCDC4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6E6"/>
          </a:solidFill>
        </a:fill>
      </a:tcStyle>
    </a:band1H>
    <a:band2H>
      <a:tcTxStyle/>
    </a:band2H>
    <a:band1V>
      <a:tcTxStyle/>
      <a:tcStyle>
        <a:fill>
          <a:solidFill>
            <a:srgbClr val="E6E6E6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Calibri"/>
          <a:ea typeface="Calibri"/>
          <a:cs typeface="Calibri"/>
        </a:font>
        <a:schemeClr val="dk1"/>
      </a:tcTxStyle>
    </a:seCell>
    <a:swCell>
      <a:tcTxStyle b="on" i="off">
        <a:font>
          <a:latin typeface="Calibri"/>
          <a:ea typeface="Calibri"/>
          <a:cs typeface="Calibri"/>
        </a:font>
        <a:schemeClr val="dk1"/>
      </a:tcTx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 Title">
  <p:cSld name="001 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/>
          <p:nvPr/>
        </p:nvSpPr>
        <p:spPr>
          <a:xfrm>
            <a:off x="254650" y="4968825"/>
            <a:ext cx="8859442" cy="1234246"/>
          </a:xfrm>
          <a:custGeom>
            <a:rect b="b" l="l" r="r" t="t"/>
            <a:pathLst>
              <a:path extrusionOk="0" h="1041558" w="7687151">
                <a:moveTo>
                  <a:pt x="7686675" y="902303"/>
                </a:moveTo>
                <a:cubicBezTo>
                  <a:pt x="7563898" y="916781"/>
                  <a:pt x="7555230" y="915257"/>
                  <a:pt x="7535133" y="795338"/>
                </a:cubicBezTo>
                <a:cubicBezTo>
                  <a:pt x="7511225" y="653034"/>
                  <a:pt x="7497509" y="509111"/>
                  <a:pt x="7479506" y="365855"/>
                </a:cubicBezTo>
                <a:cubicBezTo>
                  <a:pt x="7477506" y="350234"/>
                  <a:pt x="7476744" y="334423"/>
                  <a:pt x="7468172" y="318516"/>
                </a:cubicBezTo>
                <a:cubicBezTo>
                  <a:pt x="7458266" y="437579"/>
                  <a:pt x="7449408" y="556641"/>
                  <a:pt x="7438263" y="675513"/>
                </a:cubicBezTo>
                <a:cubicBezTo>
                  <a:pt x="7428167" y="782955"/>
                  <a:pt x="7416260" y="890207"/>
                  <a:pt x="7403306" y="997268"/>
                </a:cubicBezTo>
                <a:cubicBezTo>
                  <a:pt x="7401497" y="1012508"/>
                  <a:pt x="7388828" y="1026414"/>
                  <a:pt x="7381208" y="1040987"/>
                </a:cubicBezTo>
                <a:cubicBezTo>
                  <a:pt x="7367588" y="1029557"/>
                  <a:pt x="7350919" y="1020223"/>
                  <a:pt x="7341013" y="1006221"/>
                </a:cubicBezTo>
                <a:cubicBezTo>
                  <a:pt x="7321963" y="979075"/>
                  <a:pt x="7308247" y="948119"/>
                  <a:pt x="7289483" y="920687"/>
                </a:cubicBezTo>
                <a:cubicBezTo>
                  <a:pt x="7249573" y="862298"/>
                  <a:pt x="7223189" y="856012"/>
                  <a:pt x="7155656" y="878396"/>
                </a:cubicBezTo>
                <a:cubicBezTo>
                  <a:pt x="7102411" y="895922"/>
                  <a:pt x="7048405" y="912209"/>
                  <a:pt x="6993636" y="923449"/>
                </a:cubicBezTo>
                <a:cubicBezTo>
                  <a:pt x="6975539" y="927164"/>
                  <a:pt x="6951821" y="917162"/>
                  <a:pt x="6934391" y="906971"/>
                </a:cubicBezTo>
                <a:cubicBezTo>
                  <a:pt x="6912769" y="894398"/>
                  <a:pt x="6895910" y="874014"/>
                  <a:pt x="6875431" y="859155"/>
                </a:cubicBezTo>
                <a:cubicBezTo>
                  <a:pt x="6776371" y="787432"/>
                  <a:pt x="6705505" y="785146"/>
                  <a:pt x="6605874" y="855917"/>
                </a:cubicBezTo>
                <a:cubicBezTo>
                  <a:pt x="6561011" y="887730"/>
                  <a:pt x="6514719" y="904018"/>
                  <a:pt x="6459855" y="902399"/>
                </a:cubicBezTo>
                <a:cubicBezTo>
                  <a:pt x="6412326" y="901065"/>
                  <a:pt x="6364701" y="904970"/>
                  <a:pt x="6317076" y="906780"/>
                </a:cubicBezTo>
                <a:cubicBezTo>
                  <a:pt x="6249639" y="909257"/>
                  <a:pt x="6236303" y="902303"/>
                  <a:pt x="6222873" y="835152"/>
                </a:cubicBezTo>
                <a:cubicBezTo>
                  <a:pt x="6205728" y="749713"/>
                  <a:pt x="6192203" y="663321"/>
                  <a:pt x="6180963" y="576834"/>
                </a:cubicBezTo>
                <a:cubicBezTo>
                  <a:pt x="6169438" y="487775"/>
                  <a:pt x="6162675" y="398145"/>
                  <a:pt x="6149150" y="309467"/>
                </a:cubicBezTo>
                <a:cubicBezTo>
                  <a:pt x="6131528" y="509873"/>
                  <a:pt x="6114193" y="710374"/>
                  <a:pt x="6096000" y="910685"/>
                </a:cubicBezTo>
                <a:cubicBezTo>
                  <a:pt x="6092857" y="945356"/>
                  <a:pt x="6087142" y="979932"/>
                  <a:pt x="6080570" y="1014222"/>
                </a:cubicBezTo>
                <a:cubicBezTo>
                  <a:pt x="6078665" y="1023842"/>
                  <a:pt x="6069520" y="1038987"/>
                  <a:pt x="6063234" y="1039273"/>
                </a:cubicBezTo>
                <a:cubicBezTo>
                  <a:pt x="6052852" y="1039654"/>
                  <a:pt x="6038088" y="1032701"/>
                  <a:pt x="6032278" y="1024033"/>
                </a:cubicBezTo>
                <a:cubicBezTo>
                  <a:pt x="6010180" y="991172"/>
                  <a:pt x="5992178" y="955548"/>
                  <a:pt x="5970175" y="922687"/>
                </a:cubicBezTo>
                <a:cubicBezTo>
                  <a:pt x="5929408" y="861727"/>
                  <a:pt x="5903214" y="855726"/>
                  <a:pt x="5833015" y="879348"/>
                </a:cubicBezTo>
                <a:cubicBezTo>
                  <a:pt x="5781485" y="896779"/>
                  <a:pt x="5728907" y="912495"/>
                  <a:pt x="5675567" y="922687"/>
                </a:cubicBezTo>
                <a:cubicBezTo>
                  <a:pt x="5656040" y="926401"/>
                  <a:pt x="5631085" y="915734"/>
                  <a:pt x="5612226" y="905161"/>
                </a:cubicBezTo>
                <a:cubicBezTo>
                  <a:pt x="5590413" y="892969"/>
                  <a:pt x="5573459" y="872490"/>
                  <a:pt x="5552980" y="857631"/>
                </a:cubicBezTo>
                <a:cubicBezTo>
                  <a:pt x="5456206" y="787718"/>
                  <a:pt x="5384483" y="785527"/>
                  <a:pt x="5287423" y="854678"/>
                </a:cubicBezTo>
                <a:cubicBezTo>
                  <a:pt x="5241322" y="887540"/>
                  <a:pt x="5193602" y="904208"/>
                  <a:pt x="5137023" y="902494"/>
                </a:cubicBezTo>
                <a:cubicBezTo>
                  <a:pt x="5086350" y="900970"/>
                  <a:pt x="5035296" y="902970"/>
                  <a:pt x="4984814" y="908114"/>
                </a:cubicBezTo>
                <a:cubicBezTo>
                  <a:pt x="4939094" y="912781"/>
                  <a:pt x="4914710" y="893159"/>
                  <a:pt x="4907376" y="851154"/>
                </a:cubicBezTo>
                <a:cubicBezTo>
                  <a:pt x="4890040" y="751237"/>
                  <a:pt x="4872895" y="651129"/>
                  <a:pt x="4858703" y="550736"/>
                </a:cubicBezTo>
                <a:cubicBezTo>
                  <a:pt x="4848321" y="477012"/>
                  <a:pt x="4842701" y="402527"/>
                  <a:pt x="4828604" y="327470"/>
                </a:cubicBezTo>
                <a:cubicBezTo>
                  <a:pt x="4826032" y="348329"/>
                  <a:pt x="4822889" y="369189"/>
                  <a:pt x="4821079" y="390144"/>
                </a:cubicBezTo>
                <a:cubicBezTo>
                  <a:pt x="4805077" y="573596"/>
                  <a:pt x="4789456" y="757047"/>
                  <a:pt x="4773073" y="940403"/>
                </a:cubicBezTo>
                <a:cubicBezTo>
                  <a:pt x="4770978" y="964025"/>
                  <a:pt x="4766882" y="987743"/>
                  <a:pt x="4760786" y="1010698"/>
                </a:cubicBezTo>
                <a:cubicBezTo>
                  <a:pt x="4757833" y="1021747"/>
                  <a:pt x="4747165" y="1039749"/>
                  <a:pt x="4741450" y="1039178"/>
                </a:cubicBezTo>
                <a:cubicBezTo>
                  <a:pt x="4729544" y="1038035"/>
                  <a:pt x="4714780" y="1029272"/>
                  <a:pt x="4707922" y="1019080"/>
                </a:cubicBezTo>
                <a:cubicBezTo>
                  <a:pt x="4688396" y="990219"/>
                  <a:pt x="4673346" y="958406"/>
                  <a:pt x="4654582" y="929069"/>
                </a:cubicBezTo>
                <a:cubicBezTo>
                  <a:pt x="4611148" y="861441"/>
                  <a:pt x="4582668" y="854297"/>
                  <a:pt x="4506659" y="881539"/>
                </a:cubicBezTo>
                <a:cubicBezTo>
                  <a:pt x="4459986" y="898303"/>
                  <a:pt x="4410647" y="907542"/>
                  <a:pt x="4363403" y="923068"/>
                </a:cubicBezTo>
                <a:cubicBezTo>
                  <a:pt x="4329303" y="934212"/>
                  <a:pt x="4307205" y="920115"/>
                  <a:pt x="4282440" y="899351"/>
                </a:cubicBezTo>
                <a:cubicBezTo>
                  <a:pt x="4249865" y="872014"/>
                  <a:pt x="4215194" y="845820"/>
                  <a:pt x="4177760" y="825913"/>
                </a:cubicBezTo>
                <a:cubicBezTo>
                  <a:pt x="4117467" y="793718"/>
                  <a:pt x="4052221" y="791528"/>
                  <a:pt x="3997833" y="835152"/>
                </a:cubicBezTo>
                <a:cubicBezTo>
                  <a:pt x="3927348" y="891731"/>
                  <a:pt x="3849338" y="908685"/>
                  <a:pt x="3762566" y="904018"/>
                </a:cubicBezTo>
                <a:cubicBezTo>
                  <a:pt x="3734181" y="902494"/>
                  <a:pt x="3705511" y="905732"/>
                  <a:pt x="3676936" y="906780"/>
                </a:cubicBezTo>
                <a:cubicBezTo>
                  <a:pt x="3608356" y="909447"/>
                  <a:pt x="3594449" y="904208"/>
                  <a:pt x="3583020" y="835628"/>
                </a:cubicBezTo>
                <a:cubicBezTo>
                  <a:pt x="3559588" y="694849"/>
                  <a:pt x="3542633" y="553022"/>
                  <a:pt x="3523679" y="411575"/>
                </a:cubicBezTo>
                <a:cubicBezTo>
                  <a:pt x="3519107" y="377285"/>
                  <a:pt x="3516916" y="342614"/>
                  <a:pt x="3507296" y="308420"/>
                </a:cubicBezTo>
                <a:cubicBezTo>
                  <a:pt x="3494246" y="472726"/>
                  <a:pt x="3481769" y="637127"/>
                  <a:pt x="3467767" y="801434"/>
                </a:cubicBezTo>
                <a:cubicBezTo>
                  <a:pt x="3462623" y="861536"/>
                  <a:pt x="3455575" y="921544"/>
                  <a:pt x="3445764" y="980980"/>
                </a:cubicBezTo>
                <a:cubicBezTo>
                  <a:pt x="3442240" y="1002125"/>
                  <a:pt x="3428143" y="1021461"/>
                  <a:pt x="3418808" y="1041559"/>
                </a:cubicBezTo>
                <a:cubicBezTo>
                  <a:pt x="3402902" y="1025366"/>
                  <a:pt x="3385090" y="1010603"/>
                  <a:pt x="3371564" y="992600"/>
                </a:cubicBezTo>
                <a:cubicBezTo>
                  <a:pt x="3357372" y="973741"/>
                  <a:pt x="3348228" y="951167"/>
                  <a:pt x="3335179" y="931259"/>
                </a:cubicBezTo>
                <a:cubicBezTo>
                  <a:pt x="3288316" y="859822"/>
                  <a:pt x="3262789" y="853631"/>
                  <a:pt x="3184112" y="882301"/>
                </a:cubicBezTo>
                <a:cubicBezTo>
                  <a:pt x="3136011" y="899827"/>
                  <a:pt x="3086100" y="914019"/>
                  <a:pt x="3035808" y="922401"/>
                </a:cubicBezTo>
                <a:cubicBezTo>
                  <a:pt x="3014948" y="925925"/>
                  <a:pt x="2989326" y="913448"/>
                  <a:pt x="2968752" y="902684"/>
                </a:cubicBezTo>
                <a:cubicBezTo>
                  <a:pt x="2949512" y="892588"/>
                  <a:pt x="2934938" y="874109"/>
                  <a:pt x="2917031" y="861060"/>
                </a:cubicBezTo>
                <a:cubicBezTo>
                  <a:pt x="2815876" y="787051"/>
                  <a:pt x="2745867" y="784765"/>
                  <a:pt x="2643569" y="856869"/>
                </a:cubicBezTo>
                <a:cubicBezTo>
                  <a:pt x="2600039" y="887540"/>
                  <a:pt x="2555462" y="903732"/>
                  <a:pt x="2502122" y="902494"/>
                </a:cubicBezTo>
                <a:cubicBezTo>
                  <a:pt x="2451449" y="901256"/>
                  <a:pt x="2400205" y="901922"/>
                  <a:pt x="2350008" y="908209"/>
                </a:cubicBezTo>
                <a:cubicBezTo>
                  <a:pt x="2296859" y="914781"/>
                  <a:pt x="2272570" y="890778"/>
                  <a:pt x="2264569" y="843058"/>
                </a:cubicBezTo>
                <a:cubicBezTo>
                  <a:pt x="2248853" y="749237"/>
                  <a:pt x="2232374" y="655511"/>
                  <a:pt x="2219325" y="561308"/>
                </a:cubicBezTo>
                <a:cubicBezTo>
                  <a:pt x="2208752" y="484727"/>
                  <a:pt x="2202656" y="407575"/>
                  <a:pt x="2185797" y="330518"/>
                </a:cubicBezTo>
                <a:cubicBezTo>
                  <a:pt x="2177891" y="428625"/>
                  <a:pt x="2171033" y="526828"/>
                  <a:pt x="2161985" y="624840"/>
                </a:cubicBezTo>
                <a:cubicBezTo>
                  <a:pt x="2150650" y="746474"/>
                  <a:pt x="2138363" y="868109"/>
                  <a:pt x="2124266" y="989457"/>
                </a:cubicBezTo>
                <a:cubicBezTo>
                  <a:pt x="2122170" y="1007555"/>
                  <a:pt x="2107787" y="1024223"/>
                  <a:pt x="2099120" y="1041559"/>
                </a:cubicBezTo>
                <a:cubicBezTo>
                  <a:pt x="2084832" y="1028224"/>
                  <a:pt x="2067973" y="1016699"/>
                  <a:pt x="2056829" y="1001173"/>
                </a:cubicBezTo>
                <a:cubicBezTo>
                  <a:pt x="2039398" y="976789"/>
                  <a:pt x="2026920" y="948785"/>
                  <a:pt x="2010347" y="923639"/>
                </a:cubicBezTo>
                <a:cubicBezTo>
                  <a:pt x="1970056" y="862774"/>
                  <a:pt x="1942719" y="855726"/>
                  <a:pt x="1873377" y="878872"/>
                </a:cubicBezTo>
                <a:cubicBezTo>
                  <a:pt x="1821752" y="896112"/>
                  <a:pt x="1769364" y="912590"/>
                  <a:pt x="1715929" y="922306"/>
                </a:cubicBezTo>
                <a:cubicBezTo>
                  <a:pt x="1695164" y="926116"/>
                  <a:pt x="1668304" y="914781"/>
                  <a:pt x="1648682" y="902970"/>
                </a:cubicBezTo>
                <a:cubicBezTo>
                  <a:pt x="1614964" y="882682"/>
                  <a:pt x="1586579" y="853440"/>
                  <a:pt x="1552670" y="833438"/>
                </a:cubicBezTo>
                <a:cubicBezTo>
                  <a:pt x="1481804" y="791718"/>
                  <a:pt x="1409033" y="791528"/>
                  <a:pt x="1343311" y="843344"/>
                </a:cubicBezTo>
                <a:cubicBezTo>
                  <a:pt x="1286542" y="888206"/>
                  <a:pt x="1224820" y="906971"/>
                  <a:pt x="1153478" y="903256"/>
                </a:cubicBezTo>
                <a:cubicBezTo>
                  <a:pt x="1113949" y="901256"/>
                  <a:pt x="1074230" y="905351"/>
                  <a:pt x="1034510" y="906780"/>
                </a:cubicBezTo>
                <a:cubicBezTo>
                  <a:pt x="967740" y="909257"/>
                  <a:pt x="956786" y="905256"/>
                  <a:pt x="943356" y="838391"/>
                </a:cubicBezTo>
                <a:cubicBezTo>
                  <a:pt x="923925" y="740378"/>
                  <a:pt x="909447" y="641318"/>
                  <a:pt x="896207" y="542354"/>
                </a:cubicBezTo>
                <a:cubicBezTo>
                  <a:pt x="885920" y="465392"/>
                  <a:pt x="880682" y="387858"/>
                  <a:pt x="866680" y="310229"/>
                </a:cubicBezTo>
                <a:cubicBezTo>
                  <a:pt x="856964" y="433292"/>
                  <a:pt x="848487" y="556451"/>
                  <a:pt x="837248" y="679323"/>
                </a:cubicBezTo>
                <a:cubicBezTo>
                  <a:pt x="827532" y="785146"/>
                  <a:pt x="815340" y="890873"/>
                  <a:pt x="802386" y="996410"/>
                </a:cubicBezTo>
                <a:cubicBezTo>
                  <a:pt x="800481" y="1011841"/>
                  <a:pt x="788384" y="1026128"/>
                  <a:pt x="781050" y="1040892"/>
                </a:cubicBezTo>
                <a:cubicBezTo>
                  <a:pt x="767239" y="1029843"/>
                  <a:pt x="750380" y="1020985"/>
                  <a:pt x="740378" y="1007174"/>
                </a:cubicBezTo>
                <a:cubicBezTo>
                  <a:pt x="722757" y="982885"/>
                  <a:pt x="710470" y="954881"/>
                  <a:pt x="693992" y="929640"/>
                </a:cubicBezTo>
                <a:cubicBezTo>
                  <a:pt x="648653" y="860393"/>
                  <a:pt x="620649" y="853916"/>
                  <a:pt x="541877" y="882682"/>
                </a:cubicBezTo>
                <a:cubicBezTo>
                  <a:pt x="493776" y="900208"/>
                  <a:pt x="443675" y="913543"/>
                  <a:pt x="393478" y="923163"/>
                </a:cubicBezTo>
                <a:cubicBezTo>
                  <a:pt x="374999" y="926687"/>
                  <a:pt x="353092" y="915257"/>
                  <a:pt x="333661" y="908209"/>
                </a:cubicBezTo>
                <a:cubicBezTo>
                  <a:pt x="325374" y="905256"/>
                  <a:pt x="319564" y="895731"/>
                  <a:pt x="312230" y="889635"/>
                </a:cubicBezTo>
                <a:cubicBezTo>
                  <a:pt x="222218" y="815340"/>
                  <a:pt x="139637" y="759333"/>
                  <a:pt x="0" y="854678"/>
                </a:cubicBezTo>
                <a:cubicBezTo>
                  <a:pt x="0" y="842010"/>
                  <a:pt x="0" y="829247"/>
                  <a:pt x="0" y="816578"/>
                </a:cubicBezTo>
                <a:cubicBezTo>
                  <a:pt x="128302" y="749141"/>
                  <a:pt x="212979" y="758095"/>
                  <a:pt x="327374" y="862013"/>
                </a:cubicBezTo>
                <a:cubicBezTo>
                  <a:pt x="374809" y="905161"/>
                  <a:pt x="421386" y="894493"/>
                  <a:pt x="470916" y="880586"/>
                </a:cubicBezTo>
                <a:cubicBezTo>
                  <a:pt x="496634" y="873443"/>
                  <a:pt x="519875" y="857917"/>
                  <a:pt x="545116" y="848678"/>
                </a:cubicBezTo>
                <a:cubicBezTo>
                  <a:pt x="626555" y="818674"/>
                  <a:pt x="667226" y="832104"/>
                  <a:pt x="715518" y="904113"/>
                </a:cubicBezTo>
                <a:cubicBezTo>
                  <a:pt x="732187" y="928973"/>
                  <a:pt x="747332" y="954881"/>
                  <a:pt x="769239" y="980313"/>
                </a:cubicBezTo>
                <a:cubicBezTo>
                  <a:pt x="815245" y="655320"/>
                  <a:pt x="828389" y="327374"/>
                  <a:pt x="855917" y="953"/>
                </a:cubicBezTo>
                <a:cubicBezTo>
                  <a:pt x="862679" y="667"/>
                  <a:pt x="869347" y="381"/>
                  <a:pt x="876110" y="95"/>
                </a:cubicBezTo>
                <a:cubicBezTo>
                  <a:pt x="879538" y="16669"/>
                  <a:pt x="884396" y="33052"/>
                  <a:pt x="886206" y="49816"/>
                </a:cubicBezTo>
                <a:cubicBezTo>
                  <a:pt x="911257" y="289655"/>
                  <a:pt x="933831" y="529781"/>
                  <a:pt x="961358" y="769334"/>
                </a:cubicBezTo>
                <a:cubicBezTo>
                  <a:pt x="973741" y="876681"/>
                  <a:pt x="978122" y="876300"/>
                  <a:pt x="1083374" y="873157"/>
                </a:cubicBezTo>
                <a:cubicBezTo>
                  <a:pt x="1119854" y="872109"/>
                  <a:pt x="1157097" y="874395"/>
                  <a:pt x="1192625" y="867823"/>
                </a:cubicBezTo>
                <a:cubicBezTo>
                  <a:pt x="1228725" y="861155"/>
                  <a:pt x="1268635" y="853249"/>
                  <a:pt x="1297400" y="832580"/>
                </a:cubicBezTo>
                <a:cubicBezTo>
                  <a:pt x="1413034" y="749713"/>
                  <a:pt x="1508760" y="744284"/>
                  <a:pt x="1633347" y="850964"/>
                </a:cubicBezTo>
                <a:cubicBezTo>
                  <a:pt x="1694879" y="903637"/>
                  <a:pt x="1749552" y="900494"/>
                  <a:pt x="1813655" y="870490"/>
                </a:cubicBezTo>
                <a:cubicBezTo>
                  <a:pt x="1947958" y="807434"/>
                  <a:pt x="1989582" y="820674"/>
                  <a:pt x="2063782" y="949452"/>
                </a:cubicBezTo>
                <a:cubicBezTo>
                  <a:pt x="2069973" y="960215"/>
                  <a:pt x="2076831" y="970598"/>
                  <a:pt x="2091690" y="994601"/>
                </a:cubicBezTo>
                <a:cubicBezTo>
                  <a:pt x="2137410" y="655987"/>
                  <a:pt x="2146745" y="327470"/>
                  <a:pt x="2176939" y="1238"/>
                </a:cubicBezTo>
                <a:cubicBezTo>
                  <a:pt x="2183987" y="953"/>
                  <a:pt x="2190941" y="572"/>
                  <a:pt x="2197989" y="286"/>
                </a:cubicBezTo>
                <a:cubicBezTo>
                  <a:pt x="2201609" y="20384"/>
                  <a:pt x="2206466" y="40386"/>
                  <a:pt x="2208467" y="60674"/>
                </a:cubicBezTo>
                <a:cubicBezTo>
                  <a:pt x="2231327" y="289560"/>
                  <a:pt x="2251710" y="518732"/>
                  <a:pt x="2277047" y="747427"/>
                </a:cubicBezTo>
                <a:cubicBezTo>
                  <a:pt x="2291429" y="877443"/>
                  <a:pt x="2294954" y="874300"/>
                  <a:pt x="2424684" y="873538"/>
                </a:cubicBezTo>
                <a:cubicBezTo>
                  <a:pt x="2513933" y="872966"/>
                  <a:pt x="2594515" y="860203"/>
                  <a:pt x="2669477" y="803529"/>
                </a:cubicBezTo>
                <a:cubicBezTo>
                  <a:pt x="2740343" y="749999"/>
                  <a:pt x="2820162" y="765620"/>
                  <a:pt x="2893695" y="808101"/>
                </a:cubicBezTo>
                <a:cubicBezTo>
                  <a:pt x="2919603" y="823055"/>
                  <a:pt x="2946845" y="839057"/>
                  <a:pt x="2966752" y="860679"/>
                </a:cubicBezTo>
                <a:cubicBezTo>
                  <a:pt x="3011996" y="909828"/>
                  <a:pt x="3064955" y="900589"/>
                  <a:pt x="3114008" y="879253"/>
                </a:cubicBezTo>
                <a:cubicBezTo>
                  <a:pt x="3279267" y="807339"/>
                  <a:pt x="3299841" y="812006"/>
                  <a:pt x="3392615" y="963454"/>
                </a:cubicBezTo>
                <a:cubicBezTo>
                  <a:pt x="3396520" y="969836"/>
                  <a:pt x="3401282" y="975646"/>
                  <a:pt x="3405664" y="981742"/>
                </a:cubicBezTo>
                <a:cubicBezTo>
                  <a:pt x="3410522" y="981647"/>
                  <a:pt x="3415379" y="981456"/>
                  <a:pt x="3420237" y="981361"/>
                </a:cubicBezTo>
                <a:cubicBezTo>
                  <a:pt x="3446050" y="654749"/>
                  <a:pt x="3471863" y="328041"/>
                  <a:pt x="3497675" y="1429"/>
                </a:cubicBezTo>
                <a:cubicBezTo>
                  <a:pt x="3503676" y="953"/>
                  <a:pt x="3509772" y="476"/>
                  <a:pt x="3515773" y="0"/>
                </a:cubicBezTo>
                <a:cubicBezTo>
                  <a:pt x="3519488" y="16288"/>
                  <a:pt x="3525012" y="32385"/>
                  <a:pt x="3526727" y="48863"/>
                </a:cubicBezTo>
                <a:cubicBezTo>
                  <a:pt x="3551206" y="285560"/>
                  <a:pt x="3573018" y="522542"/>
                  <a:pt x="3600260" y="758952"/>
                </a:cubicBezTo>
                <a:cubicBezTo>
                  <a:pt x="3613880" y="877253"/>
                  <a:pt x="3618262" y="876776"/>
                  <a:pt x="3737324" y="872681"/>
                </a:cubicBezTo>
                <a:cubicBezTo>
                  <a:pt x="3770662" y="871538"/>
                  <a:pt x="3804571" y="873728"/>
                  <a:pt x="3837051" y="867823"/>
                </a:cubicBezTo>
                <a:cubicBezTo>
                  <a:pt x="3870198" y="861822"/>
                  <a:pt x="3907060" y="854869"/>
                  <a:pt x="3933254" y="835819"/>
                </a:cubicBezTo>
                <a:cubicBezTo>
                  <a:pt x="4048792" y="752094"/>
                  <a:pt x="4144328" y="738283"/>
                  <a:pt x="4284536" y="859250"/>
                </a:cubicBezTo>
                <a:cubicBezTo>
                  <a:pt x="4335399" y="903161"/>
                  <a:pt x="4384929" y="901256"/>
                  <a:pt x="4435983" y="878396"/>
                </a:cubicBezTo>
                <a:cubicBezTo>
                  <a:pt x="4597051" y="806196"/>
                  <a:pt x="4620768" y="812292"/>
                  <a:pt x="4713542" y="965264"/>
                </a:cubicBezTo>
                <a:cubicBezTo>
                  <a:pt x="4717352" y="971455"/>
                  <a:pt x="4722400" y="976979"/>
                  <a:pt x="4726781" y="982790"/>
                </a:cubicBezTo>
                <a:cubicBezTo>
                  <a:pt x="4731354" y="982409"/>
                  <a:pt x="4735925" y="982028"/>
                  <a:pt x="4740498" y="981647"/>
                </a:cubicBezTo>
                <a:cubicBezTo>
                  <a:pt x="4766310" y="655130"/>
                  <a:pt x="4792123" y="328517"/>
                  <a:pt x="4818031" y="2000"/>
                </a:cubicBezTo>
                <a:cubicBezTo>
                  <a:pt x="4823937" y="1524"/>
                  <a:pt x="4829842" y="1143"/>
                  <a:pt x="4835748" y="667"/>
                </a:cubicBezTo>
                <a:cubicBezTo>
                  <a:pt x="4839748" y="15335"/>
                  <a:pt x="4846034" y="29813"/>
                  <a:pt x="4847463" y="44672"/>
                </a:cubicBezTo>
                <a:cubicBezTo>
                  <a:pt x="4866990" y="251651"/>
                  <a:pt x="4885087" y="458724"/>
                  <a:pt x="4905661" y="665512"/>
                </a:cubicBezTo>
                <a:cubicBezTo>
                  <a:pt x="4910995" y="719042"/>
                  <a:pt x="4924425" y="771620"/>
                  <a:pt x="4932903" y="824865"/>
                </a:cubicBezTo>
                <a:cubicBezTo>
                  <a:pt x="4938903" y="862298"/>
                  <a:pt x="4956239" y="879634"/>
                  <a:pt x="4997006" y="875062"/>
                </a:cubicBezTo>
                <a:cubicBezTo>
                  <a:pt x="5039487" y="870299"/>
                  <a:pt x="5082635" y="869347"/>
                  <a:pt x="5125403" y="870680"/>
                </a:cubicBezTo>
                <a:cubicBezTo>
                  <a:pt x="5183315" y="872585"/>
                  <a:pt x="5233321" y="857536"/>
                  <a:pt x="5279708" y="821341"/>
                </a:cubicBezTo>
                <a:cubicBezTo>
                  <a:pt x="5369148" y="751427"/>
                  <a:pt x="5461730" y="758857"/>
                  <a:pt x="5553266" y="819055"/>
                </a:cubicBezTo>
                <a:cubicBezTo>
                  <a:pt x="5573078" y="832104"/>
                  <a:pt x="5594223" y="844868"/>
                  <a:pt x="5609939" y="862203"/>
                </a:cubicBezTo>
                <a:cubicBezTo>
                  <a:pt x="5653278" y="910114"/>
                  <a:pt x="5703475" y="894302"/>
                  <a:pt x="5753100" y="880586"/>
                </a:cubicBezTo>
                <a:cubicBezTo>
                  <a:pt x="5775770" y="874300"/>
                  <a:pt x="5796249" y="860679"/>
                  <a:pt x="5818442" y="852202"/>
                </a:cubicBezTo>
                <a:cubicBezTo>
                  <a:pt x="5909977" y="817245"/>
                  <a:pt x="5950839" y="830771"/>
                  <a:pt x="6002845" y="912495"/>
                </a:cubicBezTo>
                <a:cubicBezTo>
                  <a:pt x="6017133" y="935069"/>
                  <a:pt x="6030754" y="958024"/>
                  <a:pt x="6050376" y="980599"/>
                </a:cubicBezTo>
                <a:cubicBezTo>
                  <a:pt x="6097905" y="655511"/>
                  <a:pt x="6108287" y="327184"/>
                  <a:pt x="6138482" y="953"/>
                </a:cubicBezTo>
                <a:cubicBezTo>
                  <a:pt x="6145340" y="857"/>
                  <a:pt x="6152198" y="667"/>
                  <a:pt x="6159056" y="572"/>
                </a:cubicBezTo>
                <a:cubicBezTo>
                  <a:pt x="6162675" y="20860"/>
                  <a:pt x="6167628" y="40958"/>
                  <a:pt x="6169533" y="61341"/>
                </a:cubicBezTo>
                <a:cubicBezTo>
                  <a:pt x="6189536" y="271463"/>
                  <a:pt x="6208110" y="481679"/>
                  <a:pt x="6229255" y="691706"/>
                </a:cubicBezTo>
                <a:cubicBezTo>
                  <a:pt x="6234113" y="740474"/>
                  <a:pt x="6247353" y="788289"/>
                  <a:pt x="6256306" y="836676"/>
                </a:cubicBezTo>
                <a:cubicBezTo>
                  <a:pt x="6261354" y="864203"/>
                  <a:pt x="6274880" y="877062"/>
                  <a:pt x="6305074" y="875157"/>
                </a:cubicBezTo>
                <a:cubicBezTo>
                  <a:pt x="6370035" y="871157"/>
                  <a:pt x="6435376" y="872681"/>
                  <a:pt x="6500051" y="866680"/>
                </a:cubicBezTo>
                <a:cubicBezTo>
                  <a:pt x="6525197" y="864394"/>
                  <a:pt x="6552248" y="852297"/>
                  <a:pt x="6572917" y="837152"/>
                </a:cubicBezTo>
                <a:cubicBezTo>
                  <a:pt x="6687693" y="753047"/>
                  <a:pt x="6781800" y="735425"/>
                  <a:pt x="6927723" y="861060"/>
                </a:cubicBezTo>
                <a:cubicBezTo>
                  <a:pt x="6976872" y="903446"/>
                  <a:pt x="7026211" y="900970"/>
                  <a:pt x="7075456" y="879158"/>
                </a:cubicBezTo>
                <a:cubicBezTo>
                  <a:pt x="7240239" y="806291"/>
                  <a:pt x="7265480" y="812768"/>
                  <a:pt x="7355586" y="968121"/>
                </a:cubicBezTo>
                <a:cubicBezTo>
                  <a:pt x="7358634" y="973265"/>
                  <a:pt x="7362825" y="977741"/>
                  <a:pt x="7366540" y="982599"/>
                </a:cubicBezTo>
                <a:cubicBezTo>
                  <a:pt x="7371398" y="982599"/>
                  <a:pt x="7376255" y="982504"/>
                  <a:pt x="7381113" y="982504"/>
                </a:cubicBezTo>
                <a:cubicBezTo>
                  <a:pt x="7407021" y="655415"/>
                  <a:pt x="7432929" y="328327"/>
                  <a:pt x="7458837" y="1143"/>
                </a:cubicBezTo>
                <a:cubicBezTo>
                  <a:pt x="7465314" y="1048"/>
                  <a:pt x="7471791" y="953"/>
                  <a:pt x="7478268" y="857"/>
                </a:cubicBezTo>
                <a:cubicBezTo>
                  <a:pt x="7481507" y="17717"/>
                  <a:pt x="7486174" y="34481"/>
                  <a:pt x="7487793" y="51530"/>
                </a:cubicBezTo>
                <a:cubicBezTo>
                  <a:pt x="7510463" y="277273"/>
                  <a:pt x="7532656" y="503111"/>
                  <a:pt x="7555040" y="728853"/>
                </a:cubicBezTo>
                <a:cubicBezTo>
                  <a:pt x="7556278" y="741426"/>
                  <a:pt x="7558659" y="753999"/>
                  <a:pt x="7560850" y="766477"/>
                </a:cubicBezTo>
                <a:cubicBezTo>
                  <a:pt x="7579424" y="873252"/>
                  <a:pt x="7579424" y="873252"/>
                  <a:pt x="7687151" y="873633"/>
                </a:cubicBezTo>
                <a:cubicBezTo>
                  <a:pt x="7686675" y="883253"/>
                  <a:pt x="7686675" y="892778"/>
                  <a:pt x="7686675" y="90230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1"/>
          <p:cNvSpPr/>
          <p:nvPr/>
        </p:nvSpPr>
        <p:spPr>
          <a:xfrm flipH="1" rot="10800000">
            <a:off x="4727275" y="-1"/>
            <a:ext cx="7464725" cy="3390181"/>
          </a:xfrm>
          <a:custGeom>
            <a:rect b="b" l="l" r="r" t="t"/>
            <a:pathLst>
              <a:path extrusionOk="0" h="3604342" w="12181997">
                <a:moveTo>
                  <a:pt x="18529" y="3604343"/>
                </a:moveTo>
                <a:cubicBezTo>
                  <a:pt x="-36059" y="3604343"/>
                  <a:pt x="33555" y="3439247"/>
                  <a:pt x="180201" y="3214427"/>
                </a:cubicBezTo>
                <a:cubicBezTo>
                  <a:pt x="947099" y="2038879"/>
                  <a:pt x="2177331" y="1607214"/>
                  <a:pt x="2177331" y="1607214"/>
                </a:cubicBezTo>
                <a:cubicBezTo>
                  <a:pt x="3737469" y="1059810"/>
                  <a:pt x="4203181" y="1996368"/>
                  <a:pt x="6038448" y="1569173"/>
                </a:cubicBezTo>
                <a:cubicBezTo>
                  <a:pt x="7291504" y="1277497"/>
                  <a:pt x="7133065" y="840126"/>
                  <a:pt x="8197250" y="732281"/>
                </a:cubicBezTo>
                <a:cubicBezTo>
                  <a:pt x="9586206" y="591531"/>
                  <a:pt x="10401224" y="1281301"/>
                  <a:pt x="11364126" y="789342"/>
                </a:cubicBezTo>
                <a:cubicBezTo>
                  <a:pt x="11790181" y="571654"/>
                  <a:pt x="12044958" y="224820"/>
                  <a:pt x="12181998" y="0"/>
                </a:cubicBezTo>
                <a:cubicBezTo>
                  <a:pt x="12181998" y="1201416"/>
                  <a:pt x="12181998" y="2402927"/>
                  <a:pt x="12181998" y="3604343"/>
                </a:cubicBezTo>
                <a:cubicBezTo>
                  <a:pt x="10213399" y="3604343"/>
                  <a:pt x="2938142" y="3604343"/>
                  <a:pt x="18529" y="360434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1"/>
          <p:cNvSpPr/>
          <p:nvPr/>
        </p:nvSpPr>
        <p:spPr>
          <a:xfrm>
            <a:off x="8660921" y="4968815"/>
            <a:ext cx="3525846" cy="1887091"/>
          </a:xfrm>
          <a:custGeom>
            <a:rect b="b" l="l" r="r" t="t"/>
            <a:pathLst>
              <a:path extrusionOk="0" h="3604342" w="12181997">
                <a:moveTo>
                  <a:pt x="18529" y="3604343"/>
                </a:moveTo>
                <a:cubicBezTo>
                  <a:pt x="-36059" y="3604343"/>
                  <a:pt x="33555" y="3439247"/>
                  <a:pt x="180201" y="3214427"/>
                </a:cubicBezTo>
                <a:cubicBezTo>
                  <a:pt x="947099" y="2038879"/>
                  <a:pt x="2177331" y="1607214"/>
                  <a:pt x="2177331" y="1607214"/>
                </a:cubicBezTo>
                <a:cubicBezTo>
                  <a:pt x="3737469" y="1059810"/>
                  <a:pt x="4203181" y="1996368"/>
                  <a:pt x="6038448" y="1569173"/>
                </a:cubicBezTo>
                <a:cubicBezTo>
                  <a:pt x="7291504" y="1277497"/>
                  <a:pt x="7133065" y="840126"/>
                  <a:pt x="8197250" y="732281"/>
                </a:cubicBezTo>
                <a:cubicBezTo>
                  <a:pt x="9586206" y="591531"/>
                  <a:pt x="10401224" y="1281301"/>
                  <a:pt x="11364126" y="789342"/>
                </a:cubicBezTo>
                <a:cubicBezTo>
                  <a:pt x="11790181" y="571654"/>
                  <a:pt x="12044958" y="224820"/>
                  <a:pt x="12181998" y="0"/>
                </a:cubicBezTo>
                <a:cubicBezTo>
                  <a:pt x="12181998" y="1201416"/>
                  <a:pt x="12181998" y="2402927"/>
                  <a:pt x="12181998" y="3604343"/>
                </a:cubicBezTo>
                <a:cubicBezTo>
                  <a:pt x="10213399" y="3604343"/>
                  <a:pt x="2938142" y="3604343"/>
                  <a:pt x="18529" y="36043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1"/>
          <p:cNvSpPr txBox="1"/>
          <p:nvPr>
            <p:ph type="title"/>
          </p:nvPr>
        </p:nvSpPr>
        <p:spPr>
          <a:xfrm>
            <a:off x="434454" y="1282045"/>
            <a:ext cx="6239724" cy="218377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Font typeface="Calibri"/>
              <a:buNone/>
              <a:defRPr sz="7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  <a:defRPr sz="7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  <a:defRPr sz="7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  <a:defRPr sz="7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  <a:defRPr sz="7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  <a:defRPr sz="7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  <a:defRPr sz="7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  <a:defRPr sz="7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  <a:defRPr sz="7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" name="Google Shape;20;p31"/>
          <p:cNvSpPr txBox="1"/>
          <p:nvPr>
            <p:ph idx="1" type="subTitle"/>
          </p:nvPr>
        </p:nvSpPr>
        <p:spPr>
          <a:xfrm>
            <a:off x="423374" y="3622550"/>
            <a:ext cx="6269657" cy="7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1" name="Google Shape;21;p31"/>
          <p:cNvGrpSpPr/>
          <p:nvPr/>
        </p:nvGrpSpPr>
        <p:grpSpPr>
          <a:xfrm>
            <a:off x="6558780" y="304046"/>
            <a:ext cx="2135106" cy="1979357"/>
            <a:chOff x="650480" y="159930"/>
            <a:chExt cx="2011973" cy="1865206"/>
          </a:xfrm>
        </p:grpSpPr>
        <p:sp>
          <p:nvSpPr>
            <p:cNvPr id="22" name="Google Shape;22;p31"/>
            <p:cNvSpPr/>
            <p:nvPr/>
          </p:nvSpPr>
          <p:spPr>
            <a:xfrm>
              <a:off x="1619430" y="159930"/>
              <a:ext cx="1043023" cy="1268519"/>
            </a:xfrm>
            <a:custGeom>
              <a:rect b="b" l="l" r="r" t="t"/>
              <a:pathLst>
                <a:path extrusionOk="0" h="446095" w="366796">
                  <a:moveTo>
                    <a:pt x="347686" y="446095"/>
                  </a:moveTo>
                  <a:cubicBezTo>
                    <a:pt x="340066" y="446095"/>
                    <a:pt x="332827" y="441523"/>
                    <a:pt x="329969" y="433903"/>
                  </a:cubicBezTo>
                  <a:cubicBezTo>
                    <a:pt x="305585" y="371419"/>
                    <a:pt x="283583" y="315793"/>
                    <a:pt x="264723" y="268168"/>
                  </a:cubicBezTo>
                  <a:cubicBezTo>
                    <a:pt x="251293" y="234164"/>
                    <a:pt x="239387" y="204256"/>
                    <a:pt x="229481" y="178729"/>
                  </a:cubicBezTo>
                  <a:cubicBezTo>
                    <a:pt x="225099" y="167584"/>
                    <a:pt x="213669" y="138247"/>
                    <a:pt x="189285" y="106910"/>
                  </a:cubicBezTo>
                  <a:cubicBezTo>
                    <a:pt x="176331" y="90241"/>
                    <a:pt x="160234" y="69572"/>
                    <a:pt x="131278" y="54523"/>
                  </a:cubicBezTo>
                  <a:cubicBezTo>
                    <a:pt x="119372" y="48331"/>
                    <a:pt x="94607" y="35568"/>
                    <a:pt x="61936" y="38616"/>
                  </a:cubicBezTo>
                  <a:cubicBezTo>
                    <a:pt x="49934" y="39759"/>
                    <a:pt x="38219" y="42997"/>
                    <a:pt x="26979" y="48141"/>
                  </a:cubicBezTo>
                  <a:cubicBezTo>
                    <a:pt x="17454" y="52522"/>
                    <a:pt x="6119" y="48331"/>
                    <a:pt x="1738" y="38806"/>
                  </a:cubicBezTo>
                  <a:cubicBezTo>
                    <a:pt x="-2644" y="29281"/>
                    <a:pt x="1547" y="17947"/>
                    <a:pt x="11072" y="13565"/>
                  </a:cubicBezTo>
                  <a:cubicBezTo>
                    <a:pt x="26122" y="6612"/>
                    <a:pt x="42029" y="2326"/>
                    <a:pt x="58316" y="706"/>
                  </a:cubicBezTo>
                  <a:cubicBezTo>
                    <a:pt x="102227" y="-3675"/>
                    <a:pt x="134897" y="13470"/>
                    <a:pt x="148899" y="20709"/>
                  </a:cubicBezTo>
                  <a:cubicBezTo>
                    <a:pt x="185189" y="39568"/>
                    <a:pt x="205763" y="65953"/>
                    <a:pt x="219384" y="83479"/>
                  </a:cubicBezTo>
                  <a:cubicBezTo>
                    <a:pt x="247197" y="119197"/>
                    <a:pt x="260151" y="152344"/>
                    <a:pt x="265009" y="164727"/>
                  </a:cubicBezTo>
                  <a:cubicBezTo>
                    <a:pt x="275010" y="190254"/>
                    <a:pt x="286821" y="220162"/>
                    <a:pt x="300252" y="254071"/>
                  </a:cubicBezTo>
                  <a:cubicBezTo>
                    <a:pt x="319111" y="301792"/>
                    <a:pt x="341114" y="357418"/>
                    <a:pt x="365498" y="419997"/>
                  </a:cubicBezTo>
                  <a:cubicBezTo>
                    <a:pt x="369308" y="429808"/>
                    <a:pt x="364450" y="440857"/>
                    <a:pt x="354639" y="444667"/>
                  </a:cubicBezTo>
                  <a:cubicBezTo>
                    <a:pt x="352258" y="445714"/>
                    <a:pt x="349972" y="446095"/>
                    <a:pt x="347686" y="446095"/>
                  </a:cubicBezTo>
                  <a:close/>
                </a:path>
              </a:pathLst>
            </a:custGeom>
            <a:gradFill>
              <a:gsLst>
                <a:gs pos="0">
                  <a:srgbClr val="B8BDC0"/>
                </a:gs>
                <a:gs pos="44000">
                  <a:srgbClr val="B8BDC0"/>
                </a:gs>
                <a:gs pos="100000">
                  <a:srgbClr val="DEE7EB"/>
                </a:gs>
              </a:gsLst>
              <a:lin ang="18900000" scaled="0"/>
            </a:gra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1"/>
            <p:cNvSpPr/>
            <p:nvPr/>
          </p:nvSpPr>
          <p:spPr>
            <a:xfrm>
              <a:off x="1573563" y="194284"/>
              <a:ext cx="115300" cy="184766"/>
            </a:xfrm>
            <a:custGeom>
              <a:rect b="b" l="l" r="r" t="t"/>
              <a:pathLst>
                <a:path extrusionOk="0" h="64976" w="40547">
                  <a:moveTo>
                    <a:pt x="30726" y="64254"/>
                  </a:moveTo>
                  <a:lnTo>
                    <a:pt x="30726" y="64254"/>
                  </a:lnTo>
                  <a:cubicBezTo>
                    <a:pt x="23297" y="66731"/>
                    <a:pt x="15105" y="62635"/>
                    <a:pt x="12724" y="55110"/>
                  </a:cubicBezTo>
                  <a:lnTo>
                    <a:pt x="722" y="18725"/>
                  </a:lnTo>
                  <a:cubicBezTo>
                    <a:pt x="-1754" y="11295"/>
                    <a:pt x="2342" y="3104"/>
                    <a:pt x="9866" y="722"/>
                  </a:cubicBezTo>
                  <a:lnTo>
                    <a:pt x="9866" y="722"/>
                  </a:lnTo>
                  <a:cubicBezTo>
                    <a:pt x="17296" y="-1754"/>
                    <a:pt x="25487" y="2342"/>
                    <a:pt x="27869" y="9866"/>
                  </a:cubicBezTo>
                  <a:lnTo>
                    <a:pt x="39870" y="46252"/>
                  </a:lnTo>
                  <a:cubicBezTo>
                    <a:pt x="42251" y="53681"/>
                    <a:pt x="38156" y="61778"/>
                    <a:pt x="30726" y="64254"/>
                  </a:cubicBezTo>
                  <a:close/>
                </a:path>
              </a:pathLst>
            </a:custGeom>
            <a:solidFill>
              <a:srgbClr val="ACB9BD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1"/>
            <p:cNvSpPr/>
            <p:nvPr/>
          </p:nvSpPr>
          <p:spPr>
            <a:xfrm>
              <a:off x="1466558" y="163194"/>
              <a:ext cx="186125" cy="275651"/>
            </a:xfrm>
            <a:custGeom>
              <a:rect b="b" l="l" r="r" t="t"/>
              <a:pathLst>
                <a:path extrusionOk="0" h="96937" w="65454">
                  <a:moveTo>
                    <a:pt x="61594" y="94236"/>
                  </a:moveTo>
                  <a:cubicBezTo>
                    <a:pt x="52831" y="100904"/>
                    <a:pt x="31495" y="93665"/>
                    <a:pt x="25018" y="89283"/>
                  </a:cubicBezTo>
                  <a:cubicBezTo>
                    <a:pt x="4444" y="75472"/>
                    <a:pt x="-8225" y="39182"/>
                    <a:pt x="6158" y="17274"/>
                  </a:cubicBezTo>
                  <a:cubicBezTo>
                    <a:pt x="10540" y="10607"/>
                    <a:pt x="23970" y="-5967"/>
                    <a:pt x="33209" y="2225"/>
                  </a:cubicBezTo>
                  <a:cubicBezTo>
                    <a:pt x="42829" y="10702"/>
                    <a:pt x="49687" y="27371"/>
                    <a:pt x="54450" y="39087"/>
                  </a:cubicBezTo>
                  <a:cubicBezTo>
                    <a:pt x="57688" y="47088"/>
                    <a:pt x="60165" y="55279"/>
                    <a:pt x="61975" y="63756"/>
                  </a:cubicBezTo>
                  <a:cubicBezTo>
                    <a:pt x="63499" y="70805"/>
                    <a:pt x="66451" y="80997"/>
                    <a:pt x="65118" y="88236"/>
                  </a:cubicBezTo>
                  <a:cubicBezTo>
                    <a:pt x="64737" y="90903"/>
                    <a:pt x="63403" y="92903"/>
                    <a:pt x="61594" y="94236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1"/>
            <p:cNvSpPr/>
            <p:nvPr/>
          </p:nvSpPr>
          <p:spPr>
            <a:xfrm>
              <a:off x="650480" y="453899"/>
              <a:ext cx="436198" cy="1571237"/>
            </a:xfrm>
            <a:custGeom>
              <a:rect b="b" l="l" r="r" t="t"/>
              <a:pathLst>
                <a:path extrusionOk="0" h="552551" w="153396">
                  <a:moveTo>
                    <a:pt x="134363" y="552552"/>
                  </a:moveTo>
                  <a:cubicBezTo>
                    <a:pt x="126648" y="552552"/>
                    <a:pt x="119409" y="547790"/>
                    <a:pt x="116551" y="540169"/>
                  </a:cubicBezTo>
                  <a:cubicBezTo>
                    <a:pt x="92929" y="477019"/>
                    <a:pt x="72069" y="420631"/>
                    <a:pt x="54353" y="372339"/>
                  </a:cubicBezTo>
                  <a:cubicBezTo>
                    <a:pt x="41875" y="338335"/>
                    <a:pt x="30826" y="308426"/>
                    <a:pt x="21301" y="282994"/>
                  </a:cubicBezTo>
                  <a:cubicBezTo>
                    <a:pt x="16634" y="270422"/>
                    <a:pt x="4156" y="237179"/>
                    <a:pt x="1108" y="191840"/>
                  </a:cubicBezTo>
                  <a:cubicBezTo>
                    <a:pt x="-416" y="169742"/>
                    <a:pt x="-2607" y="136310"/>
                    <a:pt x="11776" y="98114"/>
                  </a:cubicBezTo>
                  <a:cubicBezTo>
                    <a:pt x="17301" y="83350"/>
                    <a:pt x="30350" y="48870"/>
                    <a:pt x="65973" y="22771"/>
                  </a:cubicBezTo>
                  <a:cubicBezTo>
                    <a:pt x="79118" y="13151"/>
                    <a:pt x="93882" y="5722"/>
                    <a:pt x="109693" y="864"/>
                  </a:cubicBezTo>
                  <a:cubicBezTo>
                    <a:pt x="119694" y="-2279"/>
                    <a:pt x="130362" y="3436"/>
                    <a:pt x="133506" y="13437"/>
                  </a:cubicBezTo>
                  <a:cubicBezTo>
                    <a:pt x="136649" y="23533"/>
                    <a:pt x="130934" y="34106"/>
                    <a:pt x="120933" y="37249"/>
                  </a:cubicBezTo>
                  <a:cubicBezTo>
                    <a:pt x="109122" y="40869"/>
                    <a:pt x="98168" y="46298"/>
                    <a:pt x="88452" y="53442"/>
                  </a:cubicBezTo>
                  <a:cubicBezTo>
                    <a:pt x="61973" y="72873"/>
                    <a:pt x="52162" y="98971"/>
                    <a:pt x="47400" y="111449"/>
                  </a:cubicBezTo>
                  <a:cubicBezTo>
                    <a:pt x="35874" y="141929"/>
                    <a:pt x="37589" y="168123"/>
                    <a:pt x="39018" y="189173"/>
                  </a:cubicBezTo>
                  <a:cubicBezTo>
                    <a:pt x="41685" y="228893"/>
                    <a:pt x="52734" y="258325"/>
                    <a:pt x="56925" y="269469"/>
                  </a:cubicBezTo>
                  <a:cubicBezTo>
                    <a:pt x="66450" y="294996"/>
                    <a:pt x="77499" y="325000"/>
                    <a:pt x="90072" y="359099"/>
                  </a:cubicBezTo>
                  <a:cubicBezTo>
                    <a:pt x="107788" y="407296"/>
                    <a:pt x="128553" y="463589"/>
                    <a:pt x="152175" y="526739"/>
                  </a:cubicBezTo>
                  <a:cubicBezTo>
                    <a:pt x="155889" y="536550"/>
                    <a:pt x="150841" y="547599"/>
                    <a:pt x="141030" y="551219"/>
                  </a:cubicBezTo>
                  <a:cubicBezTo>
                    <a:pt x="138840" y="552171"/>
                    <a:pt x="136554" y="552552"/>
                    <a:pt x="134363" y="552552"/>
                  </a:cubicBezTo>
                  <a:close/>
                </a:path>
              </a:pathLst>
            </a:custGeom>
            <a:gradFill>
              <a:gsLst>
                <a:gs pos="0">
                  <a:srgbClr val="B8BDC0"/>
                </a:gs>
                <a:gs pos="44000">
                  <a:srgbClr val="B8BDC0"/>
                </a:gs>
                <a:gs pos="100000">
                  <a:srgbClr val="DEE7EB"/>
                </a:gs>
              </a:gsLst>
              <a:lin ang="18900000" scaled="0"/>
            </a:gra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1"/>
            <p:cNvSpPr/>
            <p:nvPr/>
          </p:nvSpPr>
          <p:spPr>
            <a:xfrm>
              <a:off x="989378" y="379323"/>
              <a:ext cx="107207" cy="187109"/>
            </a:xfrm>
            <a:custGeom>
              <a:rect b="b" l="l" r="r" t="t"/>
              <a:pathLst>
                <a:path extrusionOk="0" h="65800" w="37701">
                  <a:moveTo>
                    <a:pt x="10898" y="420"/>
                  </a:moveTo>
                  <a:cubicBezTo>
                    <a:pt x="18518" y="-1485"/>
                    <a:pt x="26328" y="3278"/>
                    <a:pt x="28138" y="10898"/>
                  </a:cubicBezTo>
                  <a:lnTo>
                    <a:pt x="37282" y="48140"/>
                  </a:lnTo>
                  <a:cubicBezTo>
                    <a:pt x="39187" y="55760"/>
                    <a:pt x="34424" y="63571"/>
                    <a:pt x="26804" y="65381"/>
                  </a:cubicBezTo>
                  <a:cubicBezTo>
                    <a:pt x="19184" y="67286"/>
                    <a:pt x="11374" y="62523"/>
                    <a:pt x="9564" y="54903"/>
                  </a:cubicBezTo>
                  <a:lnTo>
                    <a:pt x="420" y="17660"/>
                  </a:lnTo>
                  <a:cubicBezTo>
                    <a:pt x="-1485" y="10136"/>
                    <a:pt x="3278" y="2325"/>
                    <a:pt x="10898" y="420"/>
                  </a:cubicBezTo>
                  <a:close/>
                </a:path>
              </a:pathLst>
            </a:custGeom>
            <a:solidFill>
              <a:srgbClr val="ACB9BD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1"/>
            <p:cNvSpPr/>
            <p:nvPr/>
          </p:nvSpPr>
          <p:spPr>
            <a:xfrm>
              <a:off x="1030141" y="322246"/>
              <a:ext cx="176525" cy="280399"/>
            </a:xfrm>
            <a:custGeom>
              <a:rect b="b" l="l" r="r" t="t"/>
              <a:pathLst>
                <a:path extrusionOk="0" h="98607" w="62078">
                  <a:moveTo>
                    <a:pt x="4659" y="2014"/>
                  </a:moveTo>
                  <a:cubicBezTo>
                    <a:pt x="13899" y="-3987"/>
                    <a:pt x="34663" y="4871"/>
                    <a:pt x="40759" y="9729"/>
                  </a:cubicBezTo>
                  <a:cubicBezTo>
                    <a:pt x="60190" y="25064"/>
                    <a:pt x="70096" y="62212"/>
                    <a:pt x="54094" y="82976"/>
                  </a:cubicBezTo>
                  <a:cubicBezTo>
                    <a:pt x="49141" y="89358"/>
                    <a:pt x="34568" y="104789"/>
                    <a:pt x="25995" y="95930"/>
                  </a:cubicBezTo>
                  <a:cubicBezTo>
                    <a:pt x="17042" y="86691"/>
                    <a:pt x="11422" y="69641"/>
                    <a:pt x="7612" y="57640"/>
                  </a:cubicBezTo>
                  <a:cubicBezTo>
                    <a:pt x="5040" y="49448"/>
                    <a:pt x="3135" y="40971"/>
                    <a:pt x="1992" y="32494"/>
                  </a:cubicBezTo>
                  <a:cubicBezTo>
                    <a:pt x="1040" y="25350"/>
                    <a:pt x="-1151" y="14968"/>
                    <a:pt x="754" y="7919"/>
                  </a:cubicBezTo>
                  <a:cubicBezTo>
                    <a:pt x="1326" y="5062"/>
                    <a:pt x="2754" y="3252"/>
                    <a:pt x="4659" y="2014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1"/>
          <p:cNvSpPr/>
          <p:nvPr/>
        </p:nvSpPr>
        <p:spPr>
          <a:xfrm>
            <a:off x="6921333" y="1515983"/>
            <a:ext cx="4249591" cy="5268381"/>
          </a:xfrm>
          <a:custGeom>
            <a:rect b="b" l="l" r="r" t="t"/>
            <a:pathLst>
              <a:path extrusionOk="0" h="4970171" w="4009048">
                <a:moveTo>
                  <a:pt x="3574898" y="3101070"/>
                </a:moveTo>
                <a:cubicBezTo>
                  <a:pt x="3611831" y="3100840"/>
                  <a:pt x="3646974" y="3122475"/>
                  <a:pt x="3662617" y="3158430"/>
                </a:cubicBezTo>
                <a:cubicBezTo>
                  <a:pt x="3731956" y="3319589"/>
                  <a:pt x="3804544" y="3482914"/>
                  <a:pt x="3878487" y="3643799"/>
                </a:cubicBezTo>
                <a:lnTo>
                  <a:pt x="3901238" y="3693366"/>
                </a:lnTo>
                <a:cubicBezTo>
                  <a:pt x="3959200" y="3819042"/>
                  <a:pt x="3978701" y="3861295"/>
                  <a:pt x="3993599" y="3935508"/>
                </a:cubicBezTo>
                <a:cubicBezTo>
                  <a:pt x="4062397" y="4275973"/>
                  <a:pt x="3879570" y="4562534"/>
                  <a:pt x="3871986" y="4574725"/>
                </a:cubicBezTo>
                <a:cubicBezTo>
                  <a:pt x="3713265" y="4819303"/>
                  <a:pt x="3437537" y="4970171"/>
                  <a:pt x="3150432" y="4970171"/>
                </a:cubicBezTo>
                <a:cubicBezTo>
                  <a:pt x="3147182" y="4970171"/>
                  <a:pt x="3144202" y="4970171"/>
                  <a:pt x="3140952" y="4970171"/>
                </a:cubicBezTo>
                <a:cubicBezTo>
                  <a:pt x="2794529" y="4966107"/>
                  <a:pt x="2573513" y="4740757"/>
                  <a:pt x="2479256" y="4644604"/>
                </a:cubicBezTo>
                <a:cubicBezTo>
                  <a:pt x="2380665" y="4543846"/>
                  <a:pt x="2303473" y="4428464"/>
                  <a:pt x="2242802" y="4290597"/>
                </a:cubicBezTo>
                <a:cubicBezTo>
                  <a:pt x="2223571" y="4246990"/>
                  <a:pt x="2207159" y="4204009"/>
                  <a:pt x="2193207" y="4161647"/>
                </a:cubicBezTo>
                <a:lnTo>
                  <a:pt x="2165773" y="4063019"/>
                </a:lnTo>
                <a:lnTo>
                  <a:pt x="2362204" y="4063019"/>
                </a:lnTo>
                <a:lnTo>
                  <a:pt x="2372849" y="4101502"/>
                </a:lnTo>
                <a:cubicBezTo>
                  <a:pt x="2385025" y="4138574"/>
                  <a:pt x="2399355" y="4176130"/>
                  <a:pt x="2416148" y="4214218"/>
                </a:cubicBezTo>
                <a:cubicBezTo>
                  <a:pt x="2467611" y="4330684"/>
                  <a:pt x="2532343" y="4427921"/>
                  <a:pt x="2613872" y="4511074"/>
                </a:cubicBezTo>
                <a:cubicBezTo>
                  <a:pt x="2699189" y="4598017"/>
                  <a:pt x="2874975" y="4777593"/>
                  <a:pt x="3143119" y="4780574"/>
                </a:cubicBezTo>
                <a:cubicBezTo>
                  <a:pt x="3145556" y="4780574"/>
                  <a:pt x="3147995" y="4780574"/>
                  <a:pt x="3150432" y="4780574"/>
                </a:cubicBezTo>
                <a:cubicBezTo>
                  <a:pt x="3373886" y="4780574"/>
                  <a:pt x="3588672" y="4662752"/>
                  <a:pt x="3712454" y="4471528"/>
                </a:cubicBezTo>
                <a:cubicBezTo>
                  <a:pt x="3714078" y="4469091"/>
                  <a:pt x="3860879" y="4237783"/>
                  <a:pt x="3807522" y="3973157"/>
                </a:cubicBezTo>
                <a:cubicBezTo>
                  <a:pt x="3797231" y="3922510"/>
                  <a:pt x="3785043" y="3894881"/>
                  <a:pt x="3728975" y="3772996"/>
                </a:cubicBezTo>
                <a:lnTo>
                  <a:pt x="3705951" y="3723162"/>
                </a:lnTo>
                <a:cubicBezTo>
                  <a:pt x="3631468" y="3560650"/>
                  <a:pt x="3558336" y="3395971"/>
                  <a:pt x="3488458" y="3233459"/>
                </a:cubicBezTo>
                <a:cubicBezTo>
                  <a:pt x="3467873" y="3185245"/>
                  <a:pt x="3490081" y="3129721"/>
                  <a:pt x="3538024" y="3108866"/>
                </a:cubicBezTo>
                <a:cubicBezTo>
                  <a:pt x="3550077" y="3103652"/>
                  <a:pt x="3562587" y="3101146"/>
                  <a:pt x="3574898" y="3101070"/>
                </a:cubicBezTo>
                <a:close/>
                <a:moveTo>
                  <a:pt x="76787" y="651953"/>
                </a:moveTo>
                <a:cubicBezTo>
                  <a:pt x="127978" y="641932"/>
                  <a:pt x="177815" y="675788"/>
                  <a:pt x="187836" y="726978"/>
                </a:cubicBezTo>
                <a:cubicBezTo>
                  <a:pt x="224740" y="918101"/>
                  <a:pt x="351787" y="1161594"/>
                  <a:pt x="531021" y="1360651"/>
                </a:cubicBezTo>
                <a:lnTo>
                  <a:pt x="623140" y="1452630"/>
                </a:lnTo>
                <a:lnTo>
                  <a:pt x="623140" y="1697811"/>
                </a:lnTo>
                <a:lnTo>
                  <a:pt x="522510" y="1618972"/>
                </a:lnTo>
                <a:cubicBezTo>
                  <a:pt x="249286" y="1376537"/>
                  <a:pt x="53762" y="1031757"/>
                  <a:pt x="1758" y="763004"/>
                </a:cubicBezTo>
                <a:cubicBezTo>
                  <a:pt x="-8263" y="711540"/>
                  <a:pt x="25594" y="661976"/>
                  <a:pt x="76787" y="651953"/>
                </a:cubicBezTo>
                <a:close/>
                <a:moveTo>
                  <a:pt x="1655828" y="1635"/>
                </a:moveTo>
                <a:cubicBezTo>
                  <a:pt x="1679697" y="6104"/>
                  <a:pt x="1701907" y="19647"/>
                  <a:pt x="1716803" y="41180"/>
                </a:cubicBezTo>
                <a:cubicBezTo>
                  <a:pt x="1741790" y="77678"/>
                  <a:pt x="1765908" y="117806"/>
                  <a:pt x="1788770" y="160941"/>
                </a:cubicBezTo>
                <a:lnTo>
                  <a:pt x="1827595" y="243985"/>
                </a:lnTo>
                <a:lnTo>
                  <a:pt x="1617422" y="243985"/>
                </a:lnTo>
                <a:lnTo>
                  <a:pt x="1560251" y="148435"/>
                </a:lnTo>
                <a:cubicBezTo>
                  <a:pt x="1530729" y="105372"/>
                  <a:pt x="1541833" y="46324"/>
                  <a:pt x="1584900" y="16532"/>
                </a:cubicBezTo>
                <a:cubicBezTo>
                  <a:pt x="1606432" y="1771"/>
                  <a:pt x="1631959" y="-2834"/>
                  <a:pt x="1655828" y="163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0800" rotWithShape="0" algn="tl" dir="2700000" dist="381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1"/>
          <p:cNvSpPr/>
          <p:nvPr/>
        </p:nvSpPr>
        <p:spPr>
          <a:xfrm>
            <a:off x="7575100" y="2052363"/>
            <a:ext cx="2902910" cy="3792141"/>
          </a:xfrm>
          <a:custGeom>
            <a:rect b="b" l="l" r="r" t="t"/>
            <a:pathLst>
              <a:path extrusionOk="0" h="1238250" w="962025">
                <a:moveTo>
                  <a:pt x="900970" y="1238250"/>
                </a:moveTo>
                <a:lnTo>
                  <a:pt x="61055" y="1238250"/>
                </a:lnTo>
                <a:cubicBezTo>
                  <a:pt x="27432" y="1238250"/>
                  <a:pt x="0" y="1210818"/>
                  <a:pt x="0" y="1177195"/>
                </a:cubicBezTo>
                <a:lnTo>
                  <a:pt x="0" y="61055"/>
                </a:lnTo>
                <a:cubicBezTo>
                  <a:pt x="0" y="27432"/>
                  <a:pt x="27432" y="0"/>
                  <a:pt x="61055" y="0"/>
                </a:cubicBezTo>
                <a:lnTo>
                  <a:pt x="900970" y="0"/>
                </a:lnTo>
                <a:cubicBezTo>
                  <a:pt x="934593" y="0"/>
                  <a:pt x="962025" y="27432"/>
                  <a:pt x="962025" y="61055"/>
                </a:cubicBezTo>
                <a:lnTo>
                  <a:pt x="962025" y="1177195"/>
                </a:lnTo>
                <a:cubicBezTo>
                  <a:pt x="962025" y="1210818"/>
                  <a:pt x="934593" y="1238250"/>
                  <a:pt x="900970" y="12382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1"/>
          <p:cNvSpPr/>
          <p:nvPr/>
        </p:nvSpPr>
        <p:spPr>
          <a:xfrm>
            <a:off x="8020628" y="1736185"/>
            <a:ext cx="2011918" cy="546092"/>
          </a:xfrm>
          <a:custGeom>
            <a:rect b="b" l="l" r="r" t="t"/>
            <a:pathLst>
              <a:path extrusionOk="0" h="180975" w="666750">
                <a:moveTo>
                  <a:pt x="666750" y="180975"/>
                </a:moveTo>
                <a:lnTo>
                  <a:pt x="0" y="180975"/>
                </a:lnTo>
                <a:lnTo>
                  <a:pt x="0" y="82963"/>
                </a:lnTo>
                <a:cubicBezTo>
                  <a:pt x="0" y="37338"/>
                  <a:pt x="37338" y="0"/>
                  <a:pt x="82963" y="0"/>
                </a:cubicBezTo>
                <a:lnTo>
                  <a:pt x="583787" y="0"/>
                </a:lnTo>
                <a:cubicBezTo>
                  <a:pt x="629412" y="0"/>
                  <a:pt x="666750" y="37338"/>
                  <a:pt x="666750" y="82963"/>
                </a:cubicBezTo>
                <a:lnTo>
                  <a:pt x="666750" y="180975"/>
                </a:lnTo>
                <a:close/>
              </a:path>
            </a:pathLst>
          </a:custGeom>
          <a:gradFill>
            <a:gsLst>
              <a:gs pos="0">
                <a:srgbClr val="DEE7EB"/>
              </a:gs>
              <a:gs pos="29000">
                <a:srgbClr val="DEE7EB"/>
              </a:gs>
              <a:gs pos="100000">
                <a:srgbClr val="B8BDC0"/>
              </a:gs>
            </a:gsLst>
            <a:lin ang="2700000" scaled="0"/>
          </a:gradFill>
          <a:ln>
            <a:noFill/>
          </a:ln>
          <a:effectLst>
            <a:outerShdw blurRad="50800" rotWithShape="0" algn="bl" dir="18900000" dist="381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1"/>
          <p:cNvSpPr/>
          <p:nvPr/>
        </p:nvSpPr>
        <p:spPr>
          <a:xfrm>
            <a:off x="8245687" y="1908643"/>
            <a:ext cx="1552048" cy="86225"/>
          </a:xfrm>
          <a:custGeom>
            <a:rect b="b" l="l" r="r" t="t"/>
            <a:pathLst>
              <a:path extrusionOk="0" h="28575" w="514349">
                <a:moveTo>
                  <a:pt x="500062" y="28575"/>
                </a:moveTo>
                <a:lnTo>
                  <a:pt x="14288" y="28575"/>
                </a:lnTo>
                <a:cubicBezTo>
                  <a:pt x="6477" y="28575"/>
                  <a:pt x="0" y="22098"/>
                  <a:pt x="0" y="14288"/>
                </a:cubicBezTo>
                <a:lnTo>
                  <a:pt x="0" y="14288"/>
                </a:lnTo>
                <a:cubicBezTo>
                  <a:pt x="0" y="6477"/>
                  <a:pt x="6477" y="0"/>
                  <a:pt x="14288" y="0"/>
                </a:cubicBezTo>
                <a:lnTo>
                  <a:pt x="500062" y="0"/>
                </a:lnTo>
                <a:cubicBezTo>
                  <a:pt x="507873" y="0"/>
                  <a:pt x="514350" y="6477"/>
                  <a:pt x="514350" y="14288"/>
                </a:cubicBezTo>
                <a:lnTo>
                  <a:pt x="514350" y="14288"/>
                </a:lnTo>
                <a:cubicBezTo>
                  <a:pt x="514350" y="22098"/>
                  <a:pt x="507968" y="28575"/>
                  <a:pt x="500062" y="28575"/>
                </a:cubicBezTo>
                <a:close/>
              </a:path>
            </a:pathLst>
          </a:custGeom>
          <a:gradFill>
            <a:gsLst>
              <a:gs pos="0">
                <a:srgbClr val="B8BDC0"/>
              </a:gs>
              <a:gs pos="30000">
                <a:srgbClr val="B8BDC0"/>
              </a:gs>
              <a:gs pos="100000">
                <a:srgbClr val="DEE7EB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1"/>
          <p:cNvSpPr/>
          <p:nvPr/>
        </p:nvSpPr>
        <p:spPr>
          <a:xfrm>
            <a:off x="8245687" y="2081101"/>
            <a:ext cx="1552048" cy="86225"/>
          </a:xfrm>
          <a:custGeom>
            <a:rect b="b" l="l" r="r" t="t"/>
            <a:pathLst>
              <a:path extrusionOk="0" h="28575" w="514349">
                <a:moveTo>
                  <a:pt x="500062" y="28575"/>
                </a:moveTo>
                <a:lnTo>
                  <a:pt x="14288" y="28575"/>
                </a:lnTo>
                <a:cubicBezTo>
                  <a:pt x="6477" y="28575"/>
                  <a:pt x="0" y="22098"/>
                  <a:pt x="0" y="14288"/>
                </a:cubicBezTo>
                <a:lnTo>
                  <a:pt x="0" y="14288"/>
                </a:lnTo>
                <a:cubicBezTo>
                  <a:pt x="0" y="6477"/>
                  <a:pt x="6477" y="0"/>
                  <a:pt x="14288" y="0"/>
                </a:cubicBezTo>
                <a:lnTo>
                  <a:pt x="500062" y="0"/>
                </a:lnTo>
                <a:cubicBezTo>
                  <a:pt x="507873" y="0"/>
                  <a:pt x="514350" y="6477"/>
                  <a:pt x="514350" y="14288"/>
                </a:cubicBezTo>
                <a:lnTo>
                  <a:pt x="514350" y="14288"/>
                </a:lnTo>
                <a:cubicBezTo>
                  <a:pt x="514350" y="22098"/>
                  <a:pt x="507968" y="28575"/>
                  <a:pt x="500062" y="28575"/>
                </a:cubicBezTo>
                <a:close/>
              </a:path>
            </a:pathLst>
          </a:custGeom>
          <a:gradFill>
            <a:gsLst>
              <a:gs pos="0">
                <a:srgbClr val="B8BDC0"/>
              </a:gs>
              <a:gs pos="26000">
                <a:srgbClr val="B8BDC0"/>
              </a:gs>
              <a:gs pos="100000">
                <a:srgbClr val="DEE7EB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1"/>
          <p:cNvSpPr/>
          <p:nvPr/>
        </p:nvSpPr>
        <p:spPr>
          <a:xfrm>
            <a:off x="7805050" y="2253588"/>
            <a:ext cx="2443040" cy="3274719"/>
          </a:xfrm>
          <a:custGeom>
            <a:rect b="b" l="l" r="r" t="t"/>
            <a:pathLst>
              <a:path extrusionOk="0" h="1076325" w="809624">
                <a:moveTo>
                  <a:pt x="0" y="0"/>
                </a:moveTo>
                <a:lnTo>
                  <a:pt x="809625" y="0"/>
                </a:lnTo>
                <a:lnTo>
                  <a:pt x="809625" y="1076325"/>
                </a:lnTo>
                <a:lnTo>
                  <a:pt x="0" y="1076325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>
            <a:outerShdw blurRad="50800" rotWithShape="0" algn="tl" dir="2700000" dist="38100">
              <a:srgbClr val="000000">
                <a:alpha val="2901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34;p31"/>
          <p:cNvGrpSpPr/>
          <p:nvPr/>
        </p:nvGrpSpPr>
        <p:grpSpPr>
          <a:xfrm>
            <a:off x="8054593" y="2889350"/>
            <a:ext cx="1943576" cy="39666"/>
            <a:chOff x="6814851" y="3434904"/>
            <a:chExt cx="644080" cy="13145"/>
          </a:xfrm>
        </p:grpSpPr>
        <p:sp>
          <p:nvSpPr>
            <p:cNvPr id="35" name="Google Shape;35;p31"/>
            <p:cNvSpPr/>
            <p:nvPr/>
          </p:nvSpPr>
          <p:spPr>
            <a:xfrm>
              <a:off x="6818566" y="3438524"/>
              <a:ext cx="636746" cy="9525"/>
            </a:xfrm>
            <a:custGeom>
              <a:rect b="b" l="l" r="r" t="t"/>
              <a:pathLst>
                <a:path extrusionOk="0" h="9525" w="636746">
                  <a:moveTo>
                    <a:pt x="0" y="0"/>
                  </a:moveTo>
                  <a:lnTo>
                    <a:pt x="6367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1"/>
            <p:cNvSpPr/>
            <p:nvPr/>
          </p:nvSpPr>
          <p:spPr>
            <a:xfrm>
              <a:off x="6814851" y="3434904"/>
              <a:ext cx="644080" cy="7239"/>
            </a:xfrm>
            <a:custGeom>
              <a:rect b="b" l="l" r="r" t="t"/>
              <a:pathLst>
                <a:path extrusionOk="0" h="7239" w="644080">
                  <a:moveTo>
                    <a:pt x="640461" y="7239"/>
                  </a:moveTo>
                  <a:lnTo>
                    <a:pt x="3620" y="7239"/>
                  </a:lnTo>
                  <a:cubicBezTo>
                    <a:pt x="1619" y="7239"/>
                    <a:pt x="0" y="5620"/>
                    <a:pt x="0" y="3620"/>
                  </a:cubicBezTo>
                  <a:cubicBezTo>
                    <a:pt x="0" y="1619"/>
                    <a:pt x="1619" y="0"/>
                    <a:pt x="3620" y="0"/>
                  </a:cubicBezTo>
                  <a:lnTo>
                    <a:pt x="640461" y="0"/>
                  </a:lnTo>
                  <a:cubicBezTo>
                    <a:pt x="642461" y="0"/>
                    <a:pt x="644080" y="1619"/>
                    <a:pt x="644080" y="3620"/>
                  </a:cubicBezTo>
                  <a:cubicBezTo>
                    <a:pt x="644080" y="5620"/>
                    <a:pt x="642461" y="7239"/>
                    <a:pt x="640461" y="72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" name="Google Shape;37;p31"/>
          <p:cNvGrpSpPr/>
          <p:nvPr/>
        </p:nvGrpSpPr>
        <p:grpSpPr>
          <a:xfrm>
            <a:off x="8054593" y="3209747"/>
            <a:ext cx="1943576" cy="39683"/>
            <a:chOff x="6814851" y="3541008"/>
            <a:chExt cx="644080" cy="13150"/>
          </a:xfrm>
        </p:grpSpPr>
        <p:sp>
          <p:nvSpPr>
            <p:cNvPr id="38" name="Google Shape;38;p31"/>
            <p:cNvSpPr/>
            <p:nvPr/>
          </p:nvSpPr>
          <p:spPr>
            <a:xfrm>
              <a:off x="6818566" y="3544633"/>
              <a:ext cx="636746" cy="9525"/>
            </a:xfrm>
            <a:custGeom>
              <a:rect b="b" l="l" r="r" t="t"/>
              <a:pathLst>
                <a:path extrusionOk="0" h="9525" w="636746">
                  <a:moveTo>
                    <a:pt x="0" y="0"/>
                  </a:moveTo>
                  <a:lnTo>
                    <a:pt x="6367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1"/>
            <p:cNvSpPr/>
            <p:nvPr/>
          </p:nvSpPr>
          <p:spPr>
            <a:xfrm>
              <a:off x="6814851" y="3541008"/>
              <a:ext cx="644080" cy="3798"/>
            </a:xfrm>
            <a:custGeom>
              <a:rect b="b" l="l" r="r" t="t"/>
              <a:pathLst>
                <a:path extrusionOk="0" h="7239" w="644080">
                  <a:moveTo>
                    <a:pt x="640461" y="7239"/>
                  </a:moveTo>
                  <a:lnTo>
                    <a:pt x="3620" y="7239"/>
                  </a:lnTo>
                  <a:cubicBezTo>
                    <a:pt x="1619" y="7239"/>
                    <a:pt x="0" y="5620"/>
                    <a:pt x="0" y="3620"/>
                  </a:cubicBezTo>
                  <a:cubicBezTo>
                    <a:pt x="0" y="1619"/>
                    <a:pt x="1619" y="0"/>
                    <a:pt x="3620" y="0"/>
                  </a:cubicBezTo>
                  <a:lnTo>
                    <a:pt x="640461" y="0"/>
                  </a:lnTo>
                  <a:cubicBezTo>
                    <a:pt x="642461" y="0"/>
                    <a:pt x="644080" y="1619"/>
                    <a:pt x="644080" y="3620"/>
                  </a:cubicBezTo>
                  <a:cubicBezTo>
                    <a:pt x="644080" y="5620"/>
                    <a:pt x="642461" y="7239"/>
                    <a:pt x="640461" y="72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oogle Shape;40;p31"/>
          <p:cNvGrpSpPr/>
          <p:nvPr/>
        </p:nvGrpSpPr>
        <p:grpSpPr>
          <a:xfrm>
            <a:off x="8054593" y="3529654"/>
            <a:ext cx="1943576" cy="39953"/>
            <a:chOff x="6814851" y="3647121"/>
            <a:chExt cx="644080" cy="13240"/>
          </a:xfrm>
        </p:grpSpPr>
        <p:sp>
          <p:nvSpPr>
            <p:cNvPr id="41" name="Google Shape;41;p31"/>
            <p:cNvSpPr/>
            <p:nvPr/>
          </p:nvSpPr>
          <p:spPr>
            <a:xfrm>
              <a:off x="6818566" y="3650836"/>
              <a:ext cx="636746" cy="9525"/>
            </a:xfrm>
            <a:custGeom>
              <a:rect b="b" l="l" r="r" t="t"/>
              <a:pathLst>
                <a:path extrusionOk="0" h="9525" w="636746">
                  <a:moveTo>
                    <a:pt x="0" y="0"/>
                  </a:moveTo>
                  <a:lnTo>
                    <a:pt x="6367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1"/>
            <p:cNvSpPr/>
            <p:nvPr/>
          </p:nvSpPr>
          <p:spPr>
            <a:xfrm>
              <a:off x="6814851" y="3647121"/>
              <a:ext cx="644080" cy="7239"/>
            </a:xfrm>
            <a:custGeom>
              <a:rect b="b" l="l" r="r" t="t"/>
              <a:pathLst>
                <a:path extrusionOk="0" h="7239" w="644080">
                  <a:moveTo>
                    <a:pt x="640461" y="7239"/>
                  </a:moveTo>
                  <a:lnTo>
                    <a:pt x="3620" y="7239"/>
                  </a:lnTo>
                  <a:cubicBezTo>
                    <a:pt x="1619" y="7239"/>
                    <a:pt x="0" y="5620"/>
                    <a:pt x="0" y="3620"/>
                  </a:cubicBezTo>
                  <a:cubicBezTo>
                    <a:pt x="0" y="1619"/>
                    <a:pt x="1619" y="0"/>
                    <a:pt x="3620" y="0"/>
                  </a:cubicBezTo>
                  <a:lnTo>
                    <a:pt x="640461" y="0"/>
                  </a:lnTo>
                  <a:cubicBezTo>
                    <a:pt x="642461" y="0"/>
                    <a:pt x="644080" y="1619"/>
                    <a:pt x="644080" y="3620"/>
                  </a:cubicBezTo>
                  <a:cubicBezTo>
                    <a:pt x="644080" y="5620"/>
                    <a:pt x="642461" y="7239"/>
                    <a:pt x="640461" y="72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3;p31"/>
          <p:cNvGrpSpPr/>
          <p:nvPr/>
        </p:nvGrpSpPr>
        <p:grpSpPr>
          <a:xfrm>
            <a:off x="8054593" y="3849850"/>
            <a:ext cx="1943576" cy="39953"/>
            <a:chOff x="6814851" y="3753230"/>
            <a:chExt cx="644080" cy="13240"/>
          </a:xfrm>
        </p:grpSpPr>
        <p:sp>
          <p:nvSpPr>
            <p:cNvPr id="44" name="Google Shape;44;p31"/>
            <p:cNvSpPr/>
            <p:nvPr/>
          </p:nvSpPr>
          <p:spPr>
            <a:xfrm>
              <a:off x="6818566" y="3756945"/>
              <a:ext cx="636746" cy="9525"/>
            </a:xfrm>
            <a:custGeom>
              <a:rect b="b" l="l" r="r" t="t"/>
              <a:pathLst>
                <a:path extrusionOk="0" h="9525" w="636746">
                  <a:moveTo>
                    <a:pt x="0" y="0"/>
                  </a:moveTo>
                  <a:lnTo>
                    <a:pt x="6367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1"/>
            <p:cNvSpPr/>
            <p:nvPr/>
          </p:nvSpPr>
          <p:spPr>
            <a:xfrm>
              <a:off x="6814851" y="3753230"/>
              <a:ext cx="644080" cy="7239"/>
            </a:xfrm>
            <a:custGeom>
              <a:rect b="b" l="l" r="r" t="t"/>
              <a:pathLst>
                <a:path extrusionOk="0" h="7239" w="644080">
                  <a:moveTo>
                    <a:pt x="640461" y="7239"/>
                  </a:moveTo>
                  <a:lnTo>
                    <a:pt x="3620" y="7239"/>
                  </a:lnTo>
                  <a:cubicBezTo>
                    <a:pt x="1619" y="7239"/>
                    <a:pt x="0" y="5620"/>
                    <a:pt x="0" y="3620"/>
                  </a:cubicBezTo>
                  <a:cubicBezTo>
                    <a:pt x="0" y="1619"/>
                    <a:pt x="1619" y="0"/>
                    <a:pt x="3620" y="0"/>
                  </a:cubicBezTo>
                  <a:lnTo>
                    <a:pt x="640461" y="0"/>
                  </a:lnTo>
                  <a:cubicBezTo>
                    <a:pt x="642461" y="0"/>
                    <a:pt x="644080" y="1619"/>
                    <a:pt x="644080" y="3620"/>
                  </a:cubicBezTo>
                  <a:cubicBezTo>
                    <a:pt x="644080" y="5620"/>
                    <a:pt x="642461" y="7239"/>
                    <a:pt x="640461" y="72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" name="Google Shape;46;p31"/>
          <p:cNvGrpSpPr/>
          <p:nvPr/>
        </p:nvGrpSpPr>
        <p:grpSpPr>
          <a:xfrm>
            <a:off x="8054593" y="4170604"/>
            <a:ext cx="1943576" cy="39665"/>
            <a:chOff x="6814851" y="3859434"/>
            <a:chExt cx="644080" cy="13144"/>
          </a:xfrm>
        </p:grpSpPr>
        <p:sp>
          <p:nvSpPr>
            <p:cNvPr id="47" name="Google Shape;47;p31"/>
            <p:cNvSpPr/>
            <p:nvPr/>
          </p:nvSpPr>
          <p:spPr>
            <a:xfrm>
              <a:off x="6818566" y="3863053"/>
              <a:ext cx="636746" cy="9525"/>
            </a:xfrm>
            <a:custGeom>
              <a:rect b="b" l="l" r="r" t="t"/>
              <a:pathLst>
                <a:path extrusionOk="0" h="9525" w="636746">
                  <a:moveTo>
                    <a:pt x="0" y="0"/>
                  </a:moveTo>
                  <a:lnTo>
                    <a:pt x="6367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1"/>
            <p:cNvSpPr/>
            <p:nvPr/>
          </p:nvSpPr>
          <p:spPr>
            <a:xfrm>
              <a:off x="6814851" y="3859434"/>
              <a:ext cx="644080" cy="3798"/>
            </a:xfrm>
            <a:custGeom>
              <a:rect b="b" l="l" r="r" t="t"/>
              <a:pathLst>
                <a:path extrusionOk="0" h="7238" w="644080">
                  <a:moveTo>
                    <a:pt x="640461" y="7239"/>
                  </a:moveTo>
                  <a:lnTo>
                    <a:pt x="3620" y="7239"/>
                  </a:lnTo>
                  <a:cubicBezTo>
                    <a:pt x="1619" y="7239"/>
                    <a:pt x="0" y="5620"/>
                    <a:pt x="0" y="3620"/>
                  </a:cubicBezTo>
                  <a:cubicBezTo>
                    <a:pt x="0" y="1619"/>
                    <a:pt x="1619" y="0"/>
                    <a:pt x="3620" y="0"/>
                  </a:cubicBezTo>
                  <a:lnTo>
                    <a:pt x="640461" y="0"/>
                  </a:lnTo>
                  <a:cubicBezTo>
                    <a:pt x="642461" y="0"/>
                    <a:pt x="644080" y="1619"/>
                    <a:pt x="644080" y="3620"/>
                  </a:cubicBezTo>
                  <a:cubicBezTo>
                    <a:pt x="644080" y="5620"/>
                    <a:pt x="642461" y="7239"/>
                    <a:pt x="640461" y="72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" name="Google Shape;49;p31"/>
          <p:cNvGrpSpPr/>
          <p:nvPr/>
        </p:nvGrpSpPr>
        <p:grpSpPr>
          <a:xfrm>
            <a:off x="8054593" y="4490716"/>
            <a:ext cx="1943576" cy="39666"/>
            <a:chOff x="6814851" y="3965542"/>
            <a:chExt cx="644080" cy="13145"/>
          </a:xfrm>
        </p:grpSpPr>
        <p:sp>
          <p:nvSpPr>
            <p:cNvPr id="50" name="Google Shape;50;p31"/>
            <p:cNvSpPr/>
            <p:nvPr/>
          </p:nvSpPr>
          <p:spPr>
            <a:xfrm>
              <a:off x="6818566" y="3969162"/>
              <a:ext cx="636746" cy="9525"/>
            </a:xfrm>
            <a:custGeom>
              <a:rect b="b" l="l" r="r" t="t"/>
              <a:pathLst>
                <a:path extrusionOk="0" h="9525" w="636746">
                  <a:moveTo>
                    <a:pt x="0" y="0"/>
                  </a:moveTo>
                  <a:lnTo>
                    <a:pt x="6367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1"/>
            <p:cNvSpPr/>
            <p:nvPr/>
          </p:nvSpPr>
          <p:spPr>
            <a:xfrm>
              <a:off x="6814851" y="3965542"/>
              <a:ext cx="644080" cy="7238"/>
            </a:xfrm>
            <a:custGeom>
              <a:rect b="b" l="l" r="r" t="t"/>
              <a:pathLst>
                <a:path extrusionOk="0" h="7238" w="644080">
                  <a:moveTo>
                    <a:pt x="640461" y="7239"/>
                  </a:moveTo>
                  <a:lnTo>
                    <a:pt x="3620" y="7239"/>
                  </a:lnTo>
                  <a:cubicBezTo>
                    <a:pt x="1619" y="7239"/>
                    <a:pt x="0" y="5620"/>
                    <a:pt x="0" y="3620"/>
                  </a:cubicBezTo>
                  <a:cubicBezTo>
                    <a:pt x="0" y="1619"/>
                    <a:pt x="1619" y="0"/>
                    <a:pt x="3620" y="0"/>
                  </a:cubicBezTo>
                  <a:lnTo>
                    <a:pt x="640461" y="0"/>
                  </a:lnTo>
                  <a:cubicBezTo>
                    <a:pt x="642461" y="0"/>
                    <a:pt x="644080" y="1619"/>
                    <a:pt x="644080" y="3620"/>
                  </a:cubicBezTo>
                  <a:cubicBezTo>
                    <a:pt x="644080" y="5620"/>
                    <a:pt x="642461" y="7239"/>
                    <a:pt x="640461" y="72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p31"/>
          <p:cNvGrpSpPr/>
          <p:nvPr/>
        </p:nvGrpSpPr>
        <p:grpSpPr>
          <a:xfrm>
            <a:off x="8054593" y="4810815"/>
            <a:ext cx="1943576" cy="39953"/>
            <a:chOff x="6814851" y="4071651"/>
            <a:chExt cx="644080" cy="13240"/>
          </a:xfrm>
        </p:grpSpPr>
        <p:sp>
          <p:nvSpPr>
            <p:cNvPr id="53" name="Google Shape;53;p31"/>
            <p:cNvSpPr/>
            <p:nvPr/>
          </p:nvSpPr>
          <p:spPr>
            <a:xfrm>
              <a:off x="6818566" y="4075366"/>
              <a:ext cx="636746" cy="9525"/>
            </a:xfrm>
            <a:custGeom>
              <a:rect b="b" l="l" r="r" t="t"/>
              <a:pathLst>
                <a:path extrusionOk="0" h="9525" w="636746">
                  <a:moveTo>
                    <a:pt x="0" y="0"/>
                  </a:moveTo>
                  <a:lnTo>
                    <a:pt x="6367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1"/>
            <p:cNvSpPr/>
            <p:nvPr/>
          </p:nvSpPr>
          <p:spPr>
            <a:xfrm>
              <a:off x="6814851" y="4071651"/>
              <a:ext cx="644080" cy="7238"/>
            </a:xfrm>
            <a:custGeom>
              <a:rect b="b" l="l" r="r" t="t"/>
              <a:pathLst>
                <a:path extrusionOk="0" h="7238" w="644080">
                  <a:moveTo>
                    <a:pt x="640461" y="7239"/>
                  </a:moveTo>
                  <a:lnTo>
                    <a:pt x="3620" y="7239"/>
                  </a:lnTo>
                  <a:cubicBezTo>
                    <a:pt x="1619" y="7239"/>
                    <a:pt x="0" y="5620"/>
                    <a:pt x="0" y="3620"/>
                  </a:cubicBezTo>
                  <a:cubicBezTo>
                    <a:pt x="0" y="1619"/>
                    <a:pt x="1619" y="0"/>
                    <a:pt x="3620" y="0"/>
                  </a:cubicBezTo>
                  <a:lnTo>
                    <a:pt x="640461" y="0"/>
                  </a:lnTo>
                  <a:cubicBezTo>
                    <a:pt x="642461" y="0"/>
                    <a:pt x="644080" y="1619"/>
                    <a:pt x="644080" y="3620"/>
                  </a:cubicBezTo>
                  <a:cubicBezTo>
                    <a:pt x="644080" y="5620"/>
                    <a:pt x="642461" y="7239"/>
                    <a:pt x="640461" y="72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" name="Google Shape;55;p31"/>
          <p:cNvGrpSpPr/>
          <p:nvPr/>
        </p:nvGrpSpPr>
        <p:grpSpPr>
          <a:xfrm>
            <a:off x="8054593" y="5131303"/>
            <a:ext cx="1943576" cy="39666"/>
            <a:chOff x="6814851" y="4177854"/>
            <a:chExt cx="644080" cy="13145"/>
          </a:xfrm>
        </p:grpSpPr>
        <p:sp>
          <p:nvSpPr>
            <p:cNvPr id="56" name="Google Shape;56;p31"/>
            <p:cNvSpPr/>
            <p:nvPr/>
          </p:nvSpPr>
          <p:spPr>
            <a:xfrm>
              <a:off x="6818566" y="4181474"/>
              <a:ext cx="636746" cy="9525"/>
            </a:xfrm>
            <a:custGeom>
              <a:rect b="b" l="l" r="r" t="t"/>
              <a:pathLst>
                <a:path extrusionOk="0" h="9525" w="636746">
                  <a:moveTo>
                    <a:pt x="0" y="0"/>
                  </a:moveTo>
                  <a:lnTo>
                    <a:pt x="63674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1"/>
            <p:cNvSpPr/>
            <p:nvPr/>
          </p:nvSpPr>
          <p:spPr>
            <a:xfrm>
              <a:off x="6814851" y="4177854"/>
              <a:ext cx="644080" cy="3798"/>
            </a:xfrm>
            <a:custGeom>
              <a:rect b="b" l="l" r="r" t="t"/>
              <a:pathLst>
                <a:path extrusionOk="0" h="7239" w="644080">
                  <a:moveTo>
                    <a:pt x="640461" y="7239"/>
                  </a:moveTo>
                  <a:lnTo>
                    <a:pt x="3620" y="7239"/>
                  </a:lnTo>
                  <a:cubicBezTo>
                    <a:pt x="1619" y="7239"/>
                    <a:pt x="0" y="5620"/>
                    <a:pt x="0" y="3620"/>
                  </a:cubicBezTo>
                  <a:cubicBezTo>
                    <a:pt x="0" y="1619"/>
                    <a:pt x="1619" y="0"/>
                    <a:pt x="3620" y="0"/>
                  </a:cubicBezTo>
                  <a:lnTo>
                    <a:pt x="640461" y="0"/>
                  </a:lnTo>
                  <a:cubicBezTo>
                    <a:pt x="642461" y="0"/>
                    <a:pt x="644080" y="1619"/>
                    <a:pt x="644080" y="3620"/>
                  </a:cubicBezTo>
                  <a:cubicBezTo>
                    <a:pt x="644080" y="5620"/>
                    <a:pt x="642461" y="7239"/>
                    <a:pt x="640461" y="72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31"/>
          <p:cNvSpPr/>
          <p:nvPr/>
        </p:nvSpPr>
        <p:spPr>
          <a:xfrm>
            <a:off x="8182451" y="2041721"/>
            <a:ext cx="1688285" cy="475386"/>
          </a:xfrm>
          <a:custGeom>
            <a:rect b="b" l="l" r="r" t="t"/>
            <a:pathLst>
              <a:path extrusionOk="0" h="157543" w="559498">
                <a:moveTo>
                  <a:pt x="275558" y="157543"/>
                </a:moveTo>
                <a:cubicBezTo>
                  <a:pt x="266129" y="157543"/>
                  <a:pt x="256699" y="155924"/>
                  <a:pt x="247650" y="152495"/>
                </a:cubicBezTo>
                <a:lnTo>
                  <a:pt x="170116" y="123730"/>
                </a:lnTo>
                <a:cubicBezTo>
                  <a:pt x="168402" y="123063"/>
                  <a:pt x="166592" y="122777"/>
                  <a:pt x="164782" y="122777"/>
                </a:cubicBezTo>
                <a:lnTo>
                  <a:pt x="22574" y="122777"/>
                </a:lnTo>
                <a:cubicBezTo>
                  <a:pt x="10096" y="122777"/>
                  <a:pt x="0" y="112681"/>
                  <a:pt x="0" y="100203"/>
                </a:cubicBezTo>
                <a:lnTo>
                  <a:pt x="0" y="22574"/>
                </a:lnTo>
                <a:cubicBezTo>
                  <a:pt x="0" y="10096"/>
                  <a:pt x="10096" y="0"/>
                  <a:pt x="22574" y="0"/>
                </a:cubicBezTo>
                <a:lnTo>
                  <a:pt x="536924" y="0"/>
                </a:lnTo>
                <a:cubicBezTo>
                  <a:pt x="549402" y="0"/>
                  <a:pt x="559498" y="10096"/>
                  <a:pt x="559498" y="22574"/>
                </a:cubicBezTo>
                <a:lnTo>
                  <a:pt x="559498" y="98774"/>
                </a:lnTo>
                <a:cubicBezTo>
                  <a:pt x="559498" y="111252"/>
                  <a:pt x="549402" y="121348"/>
                  <a:pt x="536924" y="121348"/>
                </a:cubicBezTo>
                <a:lnTo>
                  <a:pt x="388048" y="121348"/>
                </a:lnTo>
                <a:cubicBezTo>
                  <a:pt x="386144" y="121348"/>
                  <a:pt x="384334" y="121729"/>
                  <a:pt x="382524" y="122396"/>
                </a:cubicBezTo>
                <a:lnTo>
                  <a:pt x="303943" y="152209"/>
                </a:lnTo>
                <a:cubicBezTo>
                  <a:pt x="294799" y="155734"/>
                  <a:pt x="285179" y="157543"/>
                  <a:pt x="275558" y="157543"/>
                </a:cubicBezTo>
                <a:close/>
                <a:moveTo>
                  <a:pt x="22574" y="7144"/>
                </a:moveTo>
                <a:cubicBezTo>
                  <a:pt x="14097" y="7144"/>
                  <a:pt x="7144" y="14097"/>
                  <a:pt x="7144" y="22574"/>
                </a:cubicBezTo>
                <a:lnTo>
                  <a:pt x="7144" y="100203"/>
                </a:lnTo>
                <a:cubicBezTo>
                  <a:pt x="7144" y="108680"/>
                  <a:pt x="14097" y="115633"/>
                  <a:pt x="22574" y="115633"/>
                </a:cubicBezTo>
                <a:lnTo>
                  <a:pt x="164782" y="115633"/>
                </a:lnTo>
                <a:cubicBezTo>
                  <a:pt x="167449" y="115633"/>
                  <a:pt x="170116" y="116110"/>
                  <a:pt x="172688" y="117062"/>
                </a:cubicBezTo>
                <a:lnTo>
                  <a:pt x="250222" y="145828"/>
                </a:lnTo>
                <a:cubicBezTo>
                  <a:pt x="266795" y="152019"/>
                  <a:pt x="285083" y="151924"/>
                  <a:pt x="301562" y="145637"/>
                </a:cubicBezTo>
                <a:lnTo>
                  <a:pt x="380143" y="115824"/>
                </a:lnTo>
                <a:cubicBezTo>
                  <a:pt x="382714" y="114871"/>
                  <a:pt x="385381" y="114300"/>
                  <a:pt x="388144" y="114300"/>
                </a:cubicBezTo>
                <a:lnTo>
                  <a:pt x="537020" y="114300"/>
                </a:lnTo>
                <a:cubicBezTo>
                  <a:pt x="545497" y="114300"/>
                  <a:pt x="552450" y="107347"/>
                  <a:pt x="552450" y="98869"/>
                </a:cubicBezTo>
                <a:lnTo>
                  <a:pt x="552450" y="22669"/>
                </a:lnTo>
                <a:cubicBezTo>
                  <a:pt x="552450" y="14192"/>
                  <a:pt x="545497" y="7239"/>
                  <a:pt x="537020" y="7239"/>
                </a:cubicBezTo>
                <a:lnTo>
                  <a:pt x="22574" y="7239"/>
                </a:lnTo>
                <a:close/>
              </a:path>
            </a:pathLst>
          </a:custGeom>
          <a:gradFill>
            <a:gsLst>
              <a:gs pos="0">
                <a:srgbClr val="B8BDC0"/>
              </a:gs>
              <a:gs pos="26000">
                <a:srgbClr val="B8BDC0"/>
              </a:gs>
              <a:gs pos="100000">
                <a:srgbClr val="DEE7EB"/>
              </a:gs>
            </a:gsLst>
            <a:lin ang="2700000" scaled="0"/>
          </a:gradFill>
          <a:ln>
            <a:noFill/>
          </a:ln>
          <a:effectLst>
            <a:outerShdw blurRad="50800" rotWithShape="0" algn="tl" dir="2700000" dist="38100">
              <a:srgbClr val="000000">
                <a:alpha val="2901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31"/>
          <p:cNvGrpSpPr/>
          <p:nvPr/>
        </p:nvGrpSpPr>
        <p:grpSpPr>
          <a:xfrm rot="-150696">
            <a:off x="9654476" y="3427006"/>
            <a:ext cx="1408298" cy="1533094"/>
            <a:chOff x="5620179" y="2558344"/>
            <a:chExt cx="1327182" cy="1444789"/>
          </a:xfrm>
        </p:grpSpPr>
        <p:sp>
          <p:nvSpPr>
            <p:cNvPr id="60" name="Google Shape;60;p31"/>
            <p:cNvSpPr/>
            <p:nvPr/>
          </p:nvSpPr>
          <p:spPr>
            <a:xfrm>
              <a:off x="5620179" y="2558344"/>
              <a:ext cx="1327182" cy="1327182"/>
            </a:xfrm>
            <a:custGeom>
              <a:rect b="b" l="l" r="r" t="t"/>
              <a:pathLst>
                <a:path extrusionOk="0" h="466725" w="466725">
                  <a:moveTo>
                    <a:pt x="466725" y="233362"/>
                  </a:moveTo>
                  <a:cubicBezTo>
                    <a:pt x="466725" y="362245"/>
                    <a:pt x="362245" y="466725"/>
                    <a:pt x="233363" y="466725"/>
                  </a:cubicBezTo>
                  <a:cubicBezTo>
                    <a:pt x="104480" y="466725"/>
                    <a:pt x="0" y="362245"/>
                    <a:pt x="0" y="233362"/>
                  </a:cubicBezTo>
                  <a:cubicBezTo>
                    <a:pt x="0" y="104480"/>
                    <a:pt x="104480" y="0"/>
                    <a:pt x="233363" y="0"/>
                  </a:cubicBezTo>
                  <a:cubicBezTo>
                    <a:pt x="362245" y="0"/>
                    <a:pt x="466725" y="104480"/>
                    <a:pt x="466725" y="233362"/>
                  </a:cubicBezTo>
                  <a:close/>
                </a:path>
              </a:pathLst>
            </a:custGeom>
            <a:gradFill>
              <a:gsLst>
                <a:gs pos="0">
                  <a:srgbClr val="B8BDC0"/>
                </a:gs>
                <a:gs pos="33000">
                  <a:srgbClr val="B8BDC0"/>
                </a:gs>
                <a:gs pos="95000">
                  <a:srgbClr val="DEE7EB"/>
                </a:gs>
                <a:gs pos="100000">
                  <a:srgbClr val="DEE7EB"/>
                </a:gs>
              </a:gsLst>
              <a:lin ang="2700000" scaled="0"/>
            </a:gradFill>
            <a:ln>
              <a:noFill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1"/>
            <p:cNvSpPr/>
            <p:nvPr/>
          </p:nvSpPr>
          <p:spPr>
            <a:xfrm>
              <a:off x="5681120" y="2619286"/>
              <a:ext cx="1205297" cy="1205297"/>
            </a:xfrm>
            <a:custGeom>
              <a:rect b="b" l="l" r="r" t="t"/>
              <a:pathLst>
                <a:path extrusionOk="0" h="423862" w="423862">
                  <a:moveTo>
                    <a:pt x="423863" y="211931"/>
                  </a:moveTo>
                  <a:cubicBezTo>
                    <a:pt x="423863" y="328978"/>
                    <a:pt x="328978" y="423862"/>
                    <a:pt x="211931" y="423862"/>
                  </a:cubicBezTo>
                  <a:cubicBezTo>
                    <a:pt x="94885" y="423862"/>
                    <a:pt x="0" y="328978"/>
                    <a:pt x="0" y="211931"/>
                  </a:cubicBezTo>
                  <a:cubicBezTo>
                    <a:pt x="0" y="94885"/>
                    <a:pt x="94885" y="0"/>
                    <a:pt x="211931" y="0"/>
                  </a:cubicBezTo>
                  <a:cubicBezTo>
                    <a:pt x="328978" y="0"/>
                    <a:pt x="423863" y="94885"/>
                    <a:pt x="423863" y="211931"/>
                  </a:cubicBezTo>
                  <a:close/>
                </a:path>
              </a:pathLst>
            </a:custGeom>
            <a:gradFill>
              <a:gsLst>
                <a:gs pos="0">
                  <a:srgbClr val="DEE7EB"/>
                </a:gs>
                <a:gs pos="29000">
                  <a:srgbClr val="DEE7EB"/>
                </a:gs>
                <a:gs pos="100000">
                  <a:srgbClr val="B8BDC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1"/>
            <p:cNvSpPr/>
            <p:nvPr/>
          </p:nvSpPr>
          <p:spPr>
            <a:xfrm rot="-1362348">
              <a:off x="6343763" y="3391049"/>
              <a:ext cx="256226" cy="585314"/>
            </a:xfrm>
            <a:custGeom>
              <a:rect b="b" l="l" r="r" t="t"/>
              <a:pathLst>
                <a:path extrusionOk="0" h="205835" w="90106">
                  <a:moveTo>
                    <a:pt x="0" y="0"/>
                  </a:moveTo>
                  <a:lnTo>
                    <a:pt x="90107" y="0"/>
                  </a:lnTo>
                  <a:lnTo>
                    <a:pt x="90107" y="205836"/>
                  </a:lnTo>
                  <a:lnTo>
                    <a:pt x="0" y="205836"/>
                  </a:lnTo>
                  <a:close/>
                </a:path>
              </a:pathLst>
            </a:custGeom>
            <a:gradFill>
              <a:gsLst>
                <a:gs pos="0">
                  <a:srgbClr val="DEE7EB"/>
                </a:gs>
                <a:gs pos="29000">
                  <a:srgbClr val="DEE7EB"/>
                </a:gs>
                <a:gs pos="100000">
                  <a:srgbClr val="B8BDC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1"/>
            <p:cNvSpPr/>
            <p:nvPr/>
          </p:nvSpPr>
          <p:spPr>
            <a:xfrm>
              <a:off x="5891033" y="2829198"/>
              <a:ext cx="785475" cy="785475"/>
            </a:xfrm>
            <a:custGeom>
              <a:rect b="b" l="l" r="r" t="t"/>
              <a:pathLst>
                <a:path extrusionOk="0" h="276225" w="276225">
                  <a:moveTo>
                    <a:pt x="276225" y="138112"/>
                  </a:moveTo>
                  <a:cubicBezTo>
                    <a:pt x="276225" y="214390"/>
                    <a:pt x="214390" y="276225"/>
                    <a:pt x="138113" y="276225"/>
                  </a:cubicBezTo>
                  <a:cubicBezTo>
                    <a:pt x="61835" y="276225"/>
                    <a:pt x="0" y="214390"/>
                    <a:pt x="0" y="138112"/>
                  </a:cubicBezTo>
                  <a:cubicBezTo>
                    <a:pt x="0" y="61835"/>
                    <a:pt x="61835" y="0"/>
                    <a:pt x="138113" y="0"/>
                  </a:cubicBezTo>
                  <a:cubicBezTo>
                    <a:pt x="214390" y="0"/>
                    <a:pt x="276225" y="61835"/>
                    <a:pt x="276225" y="138112"/>
                  </a:cubicBezTo>
                  <a:close/>
                </a:path>
              </a:pathLst>
            </a:custGeom>
            <a:gradFill>
              <a:gsLst>
                <a:gs pos="0">
                  <a:srgbClr val="B8BDC0"/>
                </a:gs>
                <a:gs pos="33000">
                  <a:srgbClr val="B8BDC0"/>
                </a:gs>
                <a:gs pos="95000">
                  <a:srgbClr val="DEE7EB"/>
                </a:gs>
                <a:gs pos="100000">
                  <a:srgbClr val="DEE7EB"/>
                </a:gs>
              </a:gsLst>
              <a:lin ang="2700000" scaled="0"/>
            </a:gradFill>
            <a:ln>
              <a:noFill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1"/>
            <p:cNvSpPr/>
            <p:nvPr/>
          </p:nvSpPr>
          <p:spPr>
            <a:xfrm>
              <a:off x="5999374" y="2937539"/>
              <a:ext cx="568792" cy="568792"/>
            </a:xfrm>
            <a:custGeom>
              <a:rect b="b" l="l" r="r" t="t"/>
              <a:pathLst>
                <a:path extrusionOk="0" h="200025" w="200025">
                  <a:moveTo>
                    <a:pt x="200025" y="100012"/>
                  </a:moveTo>
                  <a:cubicBezTo>
                    <a:pt x="200025" y="155248"/>
                    <a:pt x="155248" y="200025"/>
                    <a:pt x="100013" y="200025"/>
                  </a:cubicBezTo>
                  <a:cubicBezTo>
                    <a:pt x="44777" y="200025"/>
                    <a:pt x="0" y="155248"/>
                    <a:pt x="0" y="100012"/>
                  </a:cubicBezTo>
                  <a:cubicBezTo>
                    <a:pt x="0" y="44777"/>
                    <a:pt x="44777" y="0"/>
                    <a:pt x="100013" y="0"/>
                  </a:cubicBezTo>
                  <a:cubicBezTo>
                    <a:pt x="155248" y="0"/>
                    <a:pt x="200025" y="44777"/>
                    <a:pt x="200025" y="100012"/>
                  </a:cubicBezTo>
                  <a:close/>
                </a:path>
              </a:pathLst>
            </a:custGeom>
            <a:gradFill>
              <a:gsLst>
                <a:gs pos="0">
                  <a:srgbClr val="DEE7EB"/>
                </a:gs>
                <a:gs pos="29000">
                  <a:srgbClr val="DEE7EB"/>
                </a:gs>
                <a:gs pos="100000">
                  <a:srgbClr val="B8BDC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" name="Google Shape;65;p31"/>
          <p:cNvGrpSpPr/>
          <p:nvPr/>
        </p:nvGrpSpPr>
        <p:grpSpPr>
          <a:xfrm rot="4196814">
            <a:off x="10545946" y="485368"/>
            <a:ext cx="400061" cy="781070"/>
            <a:chOff x="7383829" y="788231"/>
            <a:chExt cx="400050" cy="781049"/>
          </a:xfrm>
        </p:grpSpPr>
        <p:sp>
          <p:nvSpPr>
            <p:cNvPr id="66" name="Google Shape;66;p31"/>
            <p:cNvSpPr/>
            <p:nvPr/>
          </p:nvSpPr>
          <p:spPr>
            <a:xfrm>
              <a:off x="7383829" y="788231"/>
              <a:ext cx="400050" cy="781049"/>
            </a:xfrm>
            <a:custGeom>
              <a:rect b="b" l="l" r="r" t="t"/>
              <a:pathLst>
                <a:path extrusionOk="0" h="781049" w="400050">
                  <a:moveTo>
                    <a:pt x="200025" y="781050"/>
                  </a:moveTo>
                  <a:lnTo>
                    <a:pt x="200025" y="781050"/>
                  </a:lnTo>
                  <a:cubicBezTo>
                    <a:pt x="90011" y="781050"/>
                    <a:pt x="0" y="691039"/>
                    <a:pt x="0" y="581025"/>
                  </a:cubicBezTo>
                  <a:lnTo>
                    <a:pt x="0" y="390525"/>
                  </a:lnTo>
                  <a:lnTo>
                    <a:pt x="0" y="200025"/>
                  </a:lnTo>
                  <a:cubicBezTo>
                    <a:pt x="0" y="90011"/>
                    <a:pt x="90011" y="0"/>
                    <a:pt x="200025" y="0"/>
                  </a:cubicBezTo>
                  <a:lnTo>
                    <a:pt x="200025" y="0"/>
                  </a:lnTo>
                  <a:cubicBezTo>
                    <a:pt x="310039" y="0"/>
                    <a:pt x="400050" y="90011"/>
                    <a:pt x="400050" y="200025"/>
                  </a:cubicBezTo>
                  <a:lnTo>
                    <a:pt x="400050" y="390525"/>
                  </a:lnTo>
                  <a:lnTo>
                    <a:pt x="400050" y="581025"/>
                  </a:lnTo>
                  <a:cubicBezTo>
                    <a:pt x="400050" y="691039"/>
                    <a:pt x="310039" y="781050"/>
                    <a:pt x="200025" y="78105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1"/>
            <p:cNvSpPr/>
            <p:nvPr/>
          </p:nvSpPr>
          <p:spPr>
            <a:xfrm>
              <a:off x="7389120" y="1195531"/>
              <a:ext cx="381000" cy="28575"/>
            </a:xfrm>
            <a:custGeom>
              <a:rect b="b" l="l" r="r" t="t"/>
              <a:pathLst>
                <a:path extrusionOk="0" h="28575" w="381000">
                  <a:moveTo>
                    <a:pt x="366713" y="28575"/>
                  </a:moveTo>
                  <a:lnTo>
                    <a:pt x="14288" y="28575"/>
                  </a:lnTo>
                  <a:cubicBezTo>
                    <a:pt x="6382" y="28575"/>
                    <a:pt x="0" y="22193"/>
                    <a:pt x="0" y="14288"/>
                  </a:cubicBezTo>
                  <a:cubicBezTo>
                    <a:pt x="0" y="6382"/>
                    <a:pt x="6382" y="0"/>
                    <a:pt x="14288" y="0"/>
                  </a:cubicBezTo>
                  <a:lnTo>
                    <a:pt x="366713" y="0"/>
                  </a:lnTo>
                  <a:cubicBezTo>
                    <a:pt x="374618" y="0"/>
                    <a:pt x="381000" y="6382"/>
                    <a:pt x="381000" y="14288"/>
                  </a:cubicBezTo>
                  <a:cubicBezTo>
                    <a:pt x="381000" y="22193"/>
                    <a:pt x="374523" y="28575"/>
                    <a:pt x="366713" y="28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" name="Google Shape;68;p31"/>
            <p:cNvGrpSpPr/>
            <p:nvPr/>
          </p:nvGrpSpPr>
          <p:grpSpPr>
            <a:xfrm>
              <a:off x="7393354" y="1174364"/>
              <a:ext cx="381000" cy="28575"/>
              <a:chOff x="6715124" y="3400425"/>
              <a:chExt cx="381000" cy="28575"/>
            </a:xfrm>
          </p:grpSpPr>
          <p:sp>
            <p:nvSpPr>
              <p:cNvPr id="69" name="Google Shape;69;p31"/>
              <p:cNvSpPr/>
              <p:nvPr/>
            </p:nvSpPr>
            <p:spPr>
              <a:xfrm>
                <a:off x="6729412" y="3414712"/>
                <a:ext cx="352425" cy="9525"/>
              </a:xfrm>
              <a:custGeom>
                <a:rect b="b" l="l" r="r" t="t"/>
                <a:pathLst>
                  <a:path extrusionOk="0" h="9525" w="352425">
                    <a:moveTo>
                      <a:pt x="0" y="0"/>
                    </a:moveTo>
                    <a:lnTo>
                      <a:pt x="35242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1"/>
              <p:cNvSpPr/>
              <p:nvPr/>
            </p:nvSpPr>
            <p:spPr>
              <a:xfrm>
                <a:off x="6715124" y="3400425"/>
                <a:ext cx="381000" cy="28575"/>
              </a:xfrm>
              <a:custGeom>
                <a:rect b="b" l="l" r="r" t="t"/>
                <a:pathLst>
                  <a:path extrusionOk="0" h="28575" w="381000">
                    <a:moveTo>
                      <a:pt x="366713" y="28575"/>
                    </a:moveTo>
                    <a:lnTo>
                      <a:pt x="14288" y="28575"/>
                    </a:lnTo>
                    <a:cubicBezTo>
                      <a:pt x="6382" y="28575"/>
                      <a:pt x="0" y="22193"/>
                      <a:pt x="0" y="14288"/>
                    </a:cubicBezTo>
                    <a:cubicBezTo>
                      <a:pt x="0" y="6382"/>
                      <a:pt x="6382" y="0"/>
                      <a:pt x="14288" y="0"/>
                    </a:cubicBezTo>
                    <a:lnTo>
                      <a:pt x="366713" y="0"/>
                    </a:lnTo>
                    <a:cubicBezTo>
                      <a:pt x="374618" y="0"/>
                      <a:pt x="381000" y="6382"/>
                      <a:pt x="381000" y="14288"/>
                    </a:cubicBezTo>
                    <a:cubicBezTo>
                      <a:pt x="381000" y="22193"/>
                      <a:pt x="374523" y="28575"/>
                      <a:pt x="366713" y="28575"/>
                    </a:cubicBez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1" name="Google Shape;71;p31"/>
          <p:cNvGrpSpPr/>
          <p:nvPr/>
        </p:nvGrpSpPr>
        <p:grpSpPr>
          <a:xfrm rot="489799">
            <a:off x="10923612" y="1479984"/>
            <a:ext cx="400063" cy="781075"/>
            <a:chOff x="7383829" y="788231"/>
            <a:chExt cx="400050" cy="781049"/>
          </a:xfrm>
        </p:grpSpPr>
        <p:sp>
          <p:nvSpPr>
            <p:cNvPr id="72" name="Google Shape;72;p31"/>
            <p:cNvSpPr/>
            <p:nvPr/>
          </p:nvSpPr>
          <p:spPr>
            <a:xfrm>
              <a:off x="7383829" y="788231"/>
              <a:ext cx="400050" cy="781049"/>
            </a:xfrm>
            <a:custGeom>
              <a:rect b="b" l="l" r="r" t="t"/>
              <a:pathLst>
                <a:path extrusionOk="0" h="781049" w="400050">
                  <a:moveTo>
                    <a:pt x="200025" y="781050"/>
                  </a:moveTo>
                  <a:lnTo>
                    <a:pt x="200025" y="781050"/>
                  </a:lnTo>
                  <a:cubicBezTo>
                    <a:pt x="90011" y="781050"/>
                    <a:pt x="0" y="691039"/>
                    <a:pt x="0" y="581025"/>
                  </a:cubicBezTo>
                  <a:lnTo>
                    <a:pt x="0" y="390525"/>
                  </a:lnTo>
                  <a:lnTo>
                    <a:pt x="0" y="200025"/>
                  </a:lnTo>
                  <a:cubicBezTo>
                    <a:pt x="0" y="90011"/>
                    <a:pt x="90011" y="0"/>
                    <a:pt x="200025" y="0"/>
                  </a:cubicBezTo>
                  <a:lnTo>
                    <a:pt x="200025" y="0"/>
                  </a:lnTo>
                  <a:cubicBezTo>
                    <a:pt x="310039" y="0"/>
                    <a:pt x="400050" y="90011"/>
                    <a:pt x="400050" y="200025"/>
                  </a:cubicBezTo>
                  <a:lnTo>
                    <a:pt x="400050" y="390525"/>
                  </a:lnTo>
                  <a:lnTo>
                    <a:pt x="400050" y="581025"/>
                  </a:lnTo>
                  <a:cubicBezTo>
                    <a:pt x="400050" y="691039"/>
                    <a:pt x="310039" y="781050"/>
                    <a:pt x="200025" y="78105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1"/>
            <p:cNvSpPr/>
            <p:nvPr/>
          </p:nvSpPr>
          <p:spPr>
            <a:xfrm>
              <a:off x="7389120" y="1195531"/>
              <a:ext cx="381000" cy="28575"/>
            </a:xfrm>
            <a:custGeom>
              <a:rect b="b" l="l" r="r" t="t"/>
              <a:pathLst>
                <a:path extrusionOk="0" h="28575" w="381000">
                  <a:moveTo>
                    <a:pt x="366713" y="28575"/>
                  </a:moveTo>
                  <a:lnTo>
                    <a:pt x="14288" y="28575"/>
                  </a:lnTo>
                  <a:cubicBezTo>
                    <a:pt x="6382" y="28575"/>
                    <a:pt x="0" y="22193"/>
                    <a:pt x="0" y="14288"/>
                  </a:cubicBezTo>
                  <a:cubicBezTo>
                    <a:pt x="0" y="6382"/>
                    <a:pt x="6382" y="0"/>
                    <a:pt x="14288" y="0"/>
                  </a:cubicBezTo>
                  <a:lnTo>
                    <a:pt x="366713" y="0"/>
                  </a:lnTo>
                  <a:cubicBezTo>
                    <a:pt x="374618" y="0"/>
                    <a:pt x="381000" y="6382"/>
                    <a:pt x="381000" y="14288"/>
                  </a:cubicBezTo>
                  <a:cubicBezTo>
                    <a:pt x="381000" y="22193"/>
                    <a:pt x="374523" y="28575"/>
                    <a:pt x="366713" y="28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" name="Google Shape;74;p31"/>
            <p:cNvGrpSpPr/>
            <p:nvPr/>
          </p:nvGrpSpPr>
          <p:grpSpPr>
            <a:xfrm>
              <a:off x="7393354" y="1174364"/>
              <a:ext cx="381000" cy="28575"/>
              <a:chOff x="6715124" y="3400425"/>
              <a:chExt cx="381000" cy="28575"/>
            </a:xfrm>
          </p:grpSpPr>
          <p:sp>
            <p:nvSpPr>
              <p:cNvPr id="75" name="Google Shape;75;p31"/>
              <p:cNvSpPr/>
              <p:nvPr/>
            </p:nvSpPr>
            <p:spPr>
              <a:xfrm>
                <a:off x="6729412" y="3414712"/>
                <a:ext cx="352425" cy="9525"/>
              </a:xfrm>
              <a:custGeom>
                <a:rect b="b" l="l" r="r" t="t"/>
                <a:pathLst>
                  <a:path extrusionOk="0" h="9525" w="352425">
                    <a:moveTo>
                      <a:pt x="0" y="0"/>
                    </a:moveTo>
                    <a:lnTo>
                      <a:pt x="35242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1"/>
              <p:cNvSpPr/>
              <p:nvPr/>
            </p:nvSpPr>
            <p:spPr>
              <a:xfrm>
                <a:off x="6715124" y="3400425"/>
                <a:ext cx="381000" cy="28575"/>
              </a:xfrm>
              <a:custGeom>
                <a:rect b="b" l="l" r="r" t="t"/>
                <a:pathLst>
                  <a:path extrusionOk="0" h="28575" w="381000">
                    <a:moveTo>
                      <a:pt x="366713" y="28575"/>
                    </a:moveTo>
                    <a:lnTo>
                      <a:pt x="14288" y="28575"/>
                    </a:lnTo>
                    <a:cubicBezTo>
                      <a:pt x="6382" y="28575"/>
                      <a:pt x="0" y="22193"/>
                      <a:pt x="0" y="14288"/>
                    </a:cubicBezTo>
                    <a:cubicBezTo>
                      <a:pt x="0" y="6382"/>
                      <a:pt x="6382" y="0"/>
                      <a:pt x="14288" y="0"/>
                    </a:cubicBezTo>
                    <a:lnTo>
                      <a:pt x="366713" y="0"/>
                    </a:lnTo>
                    <a:cubicBezTo>
                      <a:pt x="374618" y="0"/>
                      <a:pt x="381000" y="6382"/>
                      <a:pt x="381000" y="14288"/>
                    </a:cubicBezTo>
                    <a:cubicBezTo>
                      <a:pt x="381000" y="22193"/>
                      <a:pt x="374523" y="28575"/>
                      <a:pt x="366713" y="28575"/>
                    </a:cubicBez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" name="Google Shape;77;p31"/>
          <p:cNvGrpSpPr/>
          <p:nvPr/>
        </p:nvGrpSpPr>
        <p:grpSpPr>
          <a:xfrm rot="4147203">
            <a:off x="10242244" y="1228849"/>
            <a:ext cx="400037" cy="781025"/>
            <a:chOff x="7383829" y="788231"/>
            <a:chExt cx="400050" cy="781049"/>
          </a:xfrm>
        </p:grpSpPr>
        <p:sp>
          <p:nvSpPr>
            <p:cNvPr id="78" name="Google Shape;78;p31"/>
            <p:cNvSpPr/>
            <p:nvPr/>
          </p:nvSpPr>
          <p:spPr>
            <a:xfrm>
              <a:off x="7383829" y="788231"/>
              <a:ext cx="400050" cy="781049"/>
            </a:xfrm>
            <a:custGeom>
              <a:rect b="b" l="l" r="r" t="t"/>
              <a:pathLst>
                <a:path extrusionOk="0" h="781049" w="400050">
                  <a:moveTo>
                    <a:pt x="200025" y="781050"/>
                  </a:moveTo>
                  <a:lnTo>
                    <a:pt x="200025" y="781050"/>
                  </a:lnTo>
                  <a:cubicBezTo>
                    <a:pt x="90011" y="781050"/>
                    <a:pt x="0" y="691039"/>
                    <a:pt x="0" y="581025"/>
                  </a:cubicBezTo>
                  <a:lnTo>
                    <a:pt x="0" y="390525"/>
                  </a:lnTo>
                  <a:lnTo>
                    <a:pt x="0" y="200025"/>
                  </a:lnTo>
                  <a:cubicBezTo>
                    <a:pt x="0" y="90011"/>
                    <a:pt x="90011" y="0"/>
                    <a:pt x="200025" y="0"/>
                  </a:cubicBezTo>
                  <a:lnTo>
                    <a:pt x="200025" y="0"/>
                  </a:lnTo>
                  <a:cubicBezTo>
                    <a:pt x="310039" y="0"/>
                    <a:pt x="400050" y="90011"/>
                    <a:pt x="400050" y="200025"/>
                  </a:cubicBezTo>
                  <a:lnTo>
                    <a:pt x="400050" y="390525"/>
                  </a:lnTo>
                  <a:lnTo>
                    <a:pt x="400050" y="581025"/>
                  </a:lnTo>
                  <a:cubicBezTo>
                    <a:pt x="400050" y="691039"/>
                    <a:pt x="310039" y="781050"/>
                    <a:pt x="200025" y="78105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1"/>
            <p:cNvSpPr/>
            <p:nvPr/>
          </p:nvSpPr>
          <p:spPr>
            <a:xfrm>
              <a:off x="7389120" y="1195531"/>
              <a:ext cx="381000" cy="28575"/>
            </a:xfrm>
            <a:custGeom>
              <a:rect b="b" l="l" r="r" t="t"/>
              <a:pathLst>
                <a:path extrusionOk="0" h="28575" w="381000">
                  <a:moveTo>
                    <a:pt x="366713" y="28575"/>
                  </a:moveTo>
                  <a:lnTo>
                    <a:pt x="14288" y="28575"/>
                  </a:lnTo>
                  <a:cubicBezTo>
                    <a:pt x="6382" y="28575"/>
                    <a:pt x="0" y="22193"/>
                    <a:pt x="0" y="14288"/>
                  </a:cubicBezTo>
                  <a:cubicBezTo>
                    <a:pt x="0" y="6382"/>
                    <a:pt x="6382" y="0"/>
                    <a:pt x="14288" y="0"/>
                  </a:cubicBezTo>
                  <a:lnTo>
                    <a:pt x="366713" y="0"/>
                  </a:lnTo>
                  <a:cubicBezTo>
                    <a:pt x="374618" y="0"/>
                    <a:pt x="381000" y="6382"/>
                    <a:pt x="381000" y="14288"/>
                  </a:cubicBezTo>
                  <a:cubicBezTo>
                    <a:pt x="381000" y="22193"/>
                    <a:pt x="374523" y="28575"/>
                    <a:pt x="366713" y="28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" name="Google Shape;80;p31"/>
            <p:cNvGrpSpPr/>
            <p:nvPr/>
          </p:nvGrpSpPr>
          <p:grpSpPr>
            <a:xfrm>
              <a:off x="7393354" y="1174364"/>
              <a:ext cx="381000" cy="28575"/>
              <a:chOff x="6715124" y="3400425"/>
              <a:chExt cx="381000" cy="28575"/>
            </a:xfrm>
          </p:grpSpPr>
          <p:sp>
            <p:nvSpPr>
              <p:cNvPr id="81" name="Google Shape;81;p31"/>
              <p:cNvSpPr/>
              <p:nvPr/>
            </p:nvSpPr>
            <p:spPr>
              <a:xfrm>
                <a:off x="6729412" y="3414712"/>
                <a:ext cx="352425" cy="9525"/>
              </a:xfrm>
              <a:custGeom>
                <a:rect b="b" l="l" r="r" t="t"/>
                <a:pathLst>
                  <a:path extrusionOk="0" h="9525" w="352425">
                    <a:moveTo>
                      <a:pt x="0" y="0"/>
                    </a:moveTo>
                    <a:lnTo>
                      <a:pt x="352425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1"/>
              <p:cNvSpPr/>
              <p:nvPr/>
            </p:nvSpPr>
            <p:spPr>
              <a:xfrm>
                <a:off x="6715124" y="3400425"/>
                <a:ext cx="381000" cy="28575"/>
              </a:xfrm>
              <a:custGeom>
                <a:rect b="b" l="l" r="r" t="t"/>
                <a:pathLst>
                  <a:path extrusionOk="0" h="28575" w="381000">
                    <a:moveTo>
                      <a:pt x="366713" y="28575"/>
                    </a:moveTo>
                    <a:lnTo>
                      <a:pt x="14288" y="28575"/>
                    </a:lnTo>
                    <a:cubicBezTo>
                      <a:pt x="6382" y="28575"/>
                      <a:pt x="0" y="22193"/>
                      <a:pt x="0" y="14288"/>
                    </a:cubicBezTo>
                    <a:cubicBezTo>
                      <a:pt x="0" y="6382"/>
                      <a:pt x="6382" y="0"/>
                      <a:pt x="14288" y="0"/>
                    </a:cubicBezTo>
                    <a:lnTo>
                      <a:pt x="366713" y="0"/>
                    </a:lnTo>
                    <a:cubicBezTo>
                      <a:pt x="374618" y="0"/>
                      <a:pt x="381000" y="6382"/>
                      <a:pt x="381000" y="14288"/>
                    </a:cubicBezTo>
                    <a:cubicBezTo>
                      <a:pt x="381000" y="22193"/>
                      <a:pt x="374523" y="28575"/>
                      <a:pt x="366713" y="28575"/>
                    </a:cubicBez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3" name="Google Shape;83;p31"/>
          <p:cNvGrpSpPr/>
          <p:nvPr/>
        </p:nvGrpSpPr>
        <p:grpSpPr>
          <a:xfrm>
            <a:off x="9370411" y="871232"/>
            <a:ext cx="702651" cy="707236"/>
            <a:chOff x="5710422" y="3038487"/>
            <a:chExt cx="770958" cy="775989"/>
          </a:xfrm>
        </p:grpSpPr>
        <p:sp>
          <p:nvSpPr>
            <p:cNvPr id="84" name="Google Shape;84;p31"/>
            <p:cNvSpPr/>
            <p:nvPr/>
          </p:nvSpPr>
          <p:spPr>
            <a:xfrm>
              <a:off x="6131731" y="3038487"/>
              <a:ext cx="345446" cy="345446"/>
            </a:xfrm>
            <a:custGeom>
              <a:rect b="b" l="l" r="r" t="t"/>
              <a:pathLst>
                <a:path extrusionOk="0" h="345446" w="345446">
                  <a:moveTo>
                    <a:pt x="342792" y="142767"/>
                  </a:moveTo>
                  <a:cubicBezTo>
                    <a:pt x="359365" y="236683"/>
                    <a:pt x="296596" y="326218"/>
                    <a:pt x="202679" y="342792"/>
                  </a:cubicBezTo>
                  <a:cubicBezTo>
                    <a:pt x="108763" y="359365"/>
                    <a:pt x="19228" y="296596"/>
                    <a:pt x="2654" y="202679"/>
                  </a:cubicBezTo>
                  <a:cubicBezTo>
                    <a:pt x="-13919" y="108763"/>
                    <a:pt x="48850" y="19228"/>
                    <a:pt x="142767" y="2654"/>
                  </a:cubicBezTo>
                  <a:cubicBezTo>
                    <a:pt x="236683" y="-13919"/>
                    <a:pt x="326314" y="48850"/>
                    <a:pt x="342792" y="142767"/>
                  </a:cubicBezTo>
                  <a:lnTo>
                    <a:pt x="342792" y="14276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1"/>
            <p:cNvSpPr/>
            <p:nvPr/>
          </p:nvSpPr>
          <p:spPr>
            <a:xfrm>
              <a:off x="5710422" y="3152321"/>
              <a:ext cx="345358" cy="345330"/>
            </a:xfrm>
            <a:custGeom>
              <a:rect b="b" l="l" r="r" t="t"/>
              <a:pathLst>
                <a:path extrusionOk="0" h="345330" w="345358">
                  <a:moveTo>
                    <a:pt x="314901" y="270487"/>
                  </a:moveTo>
                  <a:cubicBezTo>
                    <a:pt x="260895" y="349068"/>
                    <a:pt x="153357" y="368976"/>
                    <a:pt x="74776" y="314874"/>
                  </a:cubicBezTo>
                  <a:cubicBezTo>
                    <a:pt x="-3710" y="260867"/>
                    <a:pt x="-23617" y="153425"/>
                    <a:pt x="30390" y="74843"/>
                  </a:cubicBezTo>
                  <a:cubicBezTo>
                    <a:pt x="84396" y="-3738"/>
                    <a:pt x="191934" y="-23645"/>
                    <a:pt x="270515" y="30457"/>
                  </a:cubicBezTo>
                  <a:cubicBezTo>
                    <a:pt x="349096" y="84464"/>
                    <a:pt x="369003" y="191906"/>
                    <a:pt x="314901" y="270487"/>
                  </a:cubicBezTo>
                  <a:lnTo>
                    <a:pt x="314901" y="27048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1"/>
            <p:cNvSpPr/>
            <p:nvPr/>
          </p:nvSpPr>
          <p:spPr>
            <a:xfrm>
              <a:off x="5738621" y="3218021"/>
              <a:ext cx="296037" cy="212407"/>
            </a:xfrm>
            <a:custGeom>
              <a:rect b="b" l="l" r="r" t="t"/>
              <a:pathLst>
                <a:path extrusionOk="0" h="212407" w="296037">
                  <a:moveTo>
                    <a:pt x="11525" y="0"/>
                  </a:moveTo>
                  <a:lnTo>
                    <a:pt x="296037" y="195643"/>
                  </a:lnTo>
                  <a:lnTo>
                    <a:pt x="284512" y="212408"/>
                  </a:lnTo>
                  <a:lnTo>
                    <a:pt x="0" y="16669"/>
                  </a:lnTo>
                  <a:lnTo>
                    <a:pt x="11525" y="0"/>
                  </a:lnTo>
                  <a:close/>
                </a:path>
              </a:pathLst>
            </a:custGeom>
            <a:solidFill>
              <a:srgbClr val="808080">
                <a:alpha val="40000"/>
              </a:srgb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1"/>
            <p:cNvSpPr/>
            <p:nvPr/>
          </p:nvSpPr>
          <p:spPr>
            <a:xfrm>
              <a:off x="5727953" y="3233546"/>
              <a:ext cx="296036" cy="212407"/>
            </a:xfrm>
            <a:custGeom>
              <a:rect b="b" l="l" r="r" t="t"/>
              <a:pathLst>
                <a:path extrusionOk="0" h="212407" w="296036">
                  <a:moveTo>
                    <a:pt x="11525" y="0"/>
                  </a:moveTo>
                  <a:lnTo>
                    <a:pt x="296037" y="195644"/>
                  </a:lnTo>
                  <a:lnTo>
                    <a:pt x="284512" y="212408"/>
                  </a:lnTo>
                  <a:lnTo>
                    <a:pt x="0" y="16669"/>
                  </a:lnTo>
                  <a:lnTo>
                    <a:pt x="11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1"/>
            <p:cNvSpPr/>
            <p:nvPr/>
          </p:nvSpPr>
          <p:spPr>
            <a:xfrm>
              <a:off x="6134480" y="3162585"/>
              <a:ext cx="343662" cy="79914"/>
            </a:xfrm>
            <a:custGeom>
              <a:rect b="b" l="l" r="r" t="t"/>
              <a:pathLst>
                <a:path extrusionOk="0" h="79914" w="343662">
                  <a:moveTo>
                    <a:pt x="0" y="59912"/>
                  </a:moveTo>
                  <a:lnTo>
                    <a:pt x="340138" y="0"/>
                  </a:lnTo>
                  <a:lnTo>
                    <a:pt x="343662" y="20002"/>
                  </a:lnTo>
                  <a:lnTo>
                    <a:pt x="3524" y="79915"/>
                  </a:lnTo>
                  <a:lnTo>
                    <a:pt x="0" y="59912"/>
                  </a:lnTo>
                  <a:close/>
                </a:path>
              </a:pathLst>
            </a:custGeom>
            <a:solidFill>
              <a:srgbClr val="808080">
                <a:alpha val="40000"/>
              </a:srgb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1"/>
            <p:cNvSpPr/>
            <p:nvPr/>
          </p:nvSpPr>
          <p:spPr>
            <a:xfrm>
              <a:off x="6137814" y="3181159"/>
              <a:ext cx="343566" cy="79914"/>
            </a:xfrm>
            <a:custGeom>
              <a:rect b="b" l="l" r="r" t="t"/>
              <a:pathLst>
                <a:path extrusionOk="0" h="79914" w="343566">
                  <a:moveTo>
                    <a:pt x="0" y="59912"/>
                  </a:moveTo>
                  <a:lnTo>
                    <a:pt x="340042" y="0"/>
                  </a:lnTo>
                  <a:lnTo>
                    <a:pt x="343567" y="20003"/>
                  </a:lnTo>
                  <a:lnTo>
                    <a:pt x="3524" y="79915"/>
                  </a:lnTo>
                  <a:lnTo>
                    <a:pt x="0" y="599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1"/>
            <p:cNvSpPr/>
            <p:nvPr/>
          </p:nvSpPr>
          <p:spPr>
            <a:xfrm>
              <a:off x="6076473" y="3469290"/>
              <a:ext cx="346328" cy="345186"/>
            </a:xfrm>
            <a:custGeom>
              <a:rect b="b" l="l" r="r" t="t"/>
              <a:pathLst>
                <a:path extrusionOk="0" h="345186" w="346328">
                  <a:moveTo>
                    <a:pt x="173165" y="345186"/>
                  </a:moveTo>
                  <a:cubicBezTo>
                    <a:pt x="77533" y="345186"/>
                    <a:pt x="0" y="267938"/>
                    <a:pt x="0" y="172593"/>
                  </a:cubicBezTo>
                  <a:cubicBezTo>
                    <a:pt x="0" y="77248"/>
                    <a:pt x="77533" y="0"/>
                    <a:pt x="173165" y="0"/>
                  </a:cubicBezTo>
                  <a:cubicBezTo>
                    <a:pt x="268795" y="0"/>
                    <a:pt x="346329" y="77248"/>
                    <a:pt x="346329" y="172593"/>
                  </a:cubicBezTo>
                  <a:cubicBezTo>
                    <a:pt x="346329" y="267938"/>
                    <a:pt x="268795" y="345186"/>
                    <a:pt x="173165" y="345186"/>
                  </a:cubicBezTo>
                  <a:lnTo>
                    <a:pt x="173165" y="345186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1"/>
            <p:cNvSpPr/>
            <p:nvPr/>
          </p:nvSpPr>
          <p:spPr>
            <a:xfrm>
              <a:off x="6247542" y="3469290"/>
              <a:ext cx="20573" cy="345186"/>
            </a:xfrm>
            <a:custGeom>
              <a:rect b="b" l="l" r="r" t="t"/>
              <a:pathLst>
                <a:path extrusionOk="0" h="345186" w="20573">
                  <a:moveTo>
                    <a:pt x="20574" y="0"/>
                  </a:moveTo>
                  <a:lnTo>
                    <a:pt x="20574" y="345186"/>
                  </a:lnTo>
                  <a:lnTo>
                    <a:pt x="0" y="345186"/>
                  </a:lnTo>
                  <a:lnTo>
                    <a:pt x="0" y="0"/>
                  </a:lnTo>
                  <a:lnTo>
                    <a:pt x="20574" y="0"/>
                  </a:lnTo>
                  <a:close/>
                </a:path>
              </a:pathLst>
            </a:custGeom>
            <a:solidFill>
              <a:srgbClr val="808080">
                <a:alpha val="40000"/>
              </a:srgb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1"/>
            <p:cNvSpPr/>
            <p:nvPr/>
          </p:nvSpPr>
          <p:spPr>
            <a:xfrm>
              <a:off x="6229254" y="3469290"/>
              <a:ext cx="20573" cy="345186"/>
            </a:xfrm>
            <a:custGeom>
              <a:rect b="b" l="l" r="r" t="t"/>
              <a:pathLst>
                <a:path extrusionOk="0" h="345186" w="20573">
                  <a:moveTo>
                    <a:pt x="20574" y="0"/>
                  </a:moveTo>
                  <a:lnTo>
                    <a:pt x="20574" y="345186"/>
                  </a:lnTo>
                  <a:lnTo>
                    <a:pt x="0" y="345186"/>
                  </a:lnTo>
                  <a:lnTo>
                    <a:pt x="0" y="0"/>
                  </a:lnTo>
                  <a:lnTo>
                    <a:pt x="205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2" name="Google Shape;10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9" name="Google Shape;139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1.jp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6.jpg"/><Relationship Id="rId6" Type="http://schemas.openxmlformats.org/officeDocument/2006/relationships/image" Target="../media/image34.jpg"/><Relationship Id="rId7" Type="http://schemas.openxmlformats.org/officeDocument/2006/relationships/image" Target="../media/image19.png"/><Relationship Id="rId8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31.jpg"/><Relationship Id="rId8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7.png"/><Relationship Id="rId6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/>
          <p:nvPr/>
        </p:nvSpPr>
        <p:spPr>
          <a:xfrm>
            <a:off x="47307" y="1984027"/>
            <a:ext cx="7106861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Ảnh hưởng của ứng dụng</a:t>
            </a:r>
            <a:endParaRPr b="1" i="0" sz="2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rèn luyện nhận thức BrainTrain</a:t>
            </a:r>
            <a:endParaRPr b="1" i="0" sz="2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đối với bệnh nhân suy giảm nhận thức nhẹ (MCI)</a:t>
            </a:r>
            <a:endParaRPr b="1" i="0" sz="2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và áp dụng mô hình ai để dự đoán hiệu quả can thiệp</a:t>
            </a:r>
            <a:endParaRPr/>
          </a:p>
        </p:txBody>
      </p:sp>
      <p:sp>
        <p:nvSpPr>
          <p:cNvPr id="167" name="Google Shape;167;p1"/>
          <p:cNvSpPr txBox="1"/>
          <p:nvPr/>
        </p:nvSpPr>
        <p:spPr>
          <a:xfrm>
            <a:off x="1869671" y="3858118"/>
            <a:ext cx="5463255" cy="671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Chủ nhiệm đề tài: TS. Hà Thị Thanh Hương</a:t>
            </a:r>
            <a:endParaRPr b="0" i="0" sz="1800" u="none" cap="none" strike="noStrike">
              <a:solidFill>
                <a:srgbClr val="6600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Đồng chủ nhiệm đề tài: ThS. BS. Hoàng Tiến Trọng Nghĩa</a:t>
            </a:r>
            <a:endParaRPr b="0" i="0" sz="1800" u="none" cap="none" strike="noStrike">
              <a:solidFill>
                <a:srgbClr val="66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154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175" name="Google Shape;17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6" name="Google Shape;176;p2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2"/>
          <p:cNvSpPr txBox="1"/>
          <p:nvPr/>
        </p:nvSpPr>
        <p:spPr>
          <a:xfrm>
            <a:off x="2447161" y="201550"/>
            <a:ext cx="756213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ĐƠN VỊ THAM GIA VÀ KINH PHÍ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341811" y="1510997"/>
            <a:ext cx="11534503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Đơn vị hợp tác:</a:t>
            </a:r>
            <a:endParaRPr/>
          </a:p>
          <a:p>
            <a:pPr indent="-285750" lvl="0" marL="285750" marR="0" rtl="0" algn="l">
              <a:spcBef>
                <a:spcPts val="12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Phòng thí nghiệm Brain Health Lab, Khoa Kỹ thuật Y sinh, Trường Đại học Quốc tế, Đại học Quốc gia TPHCM</a:t>
            </a:r>
            <a:endParaRPr/>
          </a:p>
          <a:p>
            <a:pPr indent="-285750" lvl="0" marL="285750" marR="0" rtl="0" algn="l">
              <a:spcBef>
                <a:spcPts val="12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Khoa Nội thần kinh, bệnh viện Quân Y 175</a:t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Nguồn kinh phí: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Công ty Cổ phần ITR VN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ADAI Lab -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Công ty IVS và VHEC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tact Us – Impact Technical Resources" id="181" name="Google Shape;18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3600" y="3932447"/>
            <a:ext cx="2661860" cy="748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 photo description available." id="182" name="Google Shape;18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8236" y="3496508"/>
            <a:ext cx="1541060" cy="1541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188" name="Google Shape;18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3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3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3"/>
          <p:cNvSpPr/>
          <p:nvPr/>
        </p:nvSpPr>
        <p:spPr>
          <a:xfrm>
            <a:off x="3529659" y="1441680"/>
            <a:ext cx="5397137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Tổng quan tài liệu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Mục tiêu nghiên cứu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Nội dung và phương pháp nghiên cứu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Đức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Tính ứng dụng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Năng lực nhóm nghiên cứu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 hoạch thực hiện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4891965" y="211952"/>
            <a:ext cx="267252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NỘI DUNG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199" name="Google Shape;19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0" name="Google Shape;200;p4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4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3" name="Google Shape;203;p4"/>
          <p:cNvSpPr txBox="1"/>
          <p:nvPr/>
        </p:nvSpPr>
        <p:spPr>
          <a:xfrm>
            <a:off x="3648484" y="207781"/>
            <a:ext cx="515948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TỔNG QUAN TÀI LIỆU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539" y="1795277"/>
            <a:ext cx="8227432" cy="249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 txBox="1"/>
          <p:nvPr/>
        </p:nvSpPr>
        <p:spPr>
          <a:xfrm>
            <a:off x="9269817" y="3384949"/>
            <a:ext cx="1799589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Nước thu nhập cao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9269817" y="3045014"/>
            <a:ext cx="1871755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Nước thu nhập thấp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11147637" y="3506149"/>
            <a:ext cx="216900" cy="188700"/>
          </a:xfrm>
          <a:prstGeom prst="rect">
            <a:avLst/>
          </a:prstGeom>
          <a:solidFill>
            <a:srgbClr val="9299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11147637" y="3166214"/>
            <a:ext cx="216900" cy="188700"/>
          </a:xfrm>
          <a:prstGeom prst="rect">
            <a:avLst/>
          </a:prstGeom>
          <a:solidFill>
            <a:srgbClr val="F8A0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1250726" y="5052077"/>
            <a:ext cx="9890846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Số lượng người mắc bệnh Alzheimer ngày càng tăng ở các quốc gia thu nhập trung bình thấp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3459044" y="4296133"/>
            <a:ext cx="581077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Nguồn: Dementia statistics| Alzheimer's Disease International (ADI)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4535069" y="1019247"/>
            <a:ext cx="3322160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Tình hình Alzheimer thế giới</a:t>
            </a:r>
            <a:endParaRPr b="1" sz="20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217" name="Google Shape;21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8" name="Google Shape;218;p5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5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5"/>
          <p:cNvSpPr txBox="1"/>
          <p:nvPr/>
        </p:nvSpPr>
        <p:spPr>
          <a:xfrm>
            <a:off x="3648484" y="207781"/>
            <a:ext cx="515948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TỔNG QUAN TÀI LIỆU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4401134" y="1005885"/>
            <a:ext cx="3590029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Tình hình Alzheimer ở Việt Nam</a:t>
            </a:r>
            <a:endParaRPr b="1" sz="20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7693982" y="2815570"/>
            <a:ext cx="4119234" cy="14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Từ năm 2009 - 2019, bệnh Alzheimer đã </a:t>
            </a:r>
            <a:r>
              <a:rPr b="1" lang="en-US" sz="20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chuyển từ vị trí thứ 11 lên 10</a:t>
            </a:r>
            <a:r>
              <a:rPr lang="en-US" sz="20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trong các nguyên nhân gây tử vong hàng đầu ở Việt Nam, </a:t>
            </a:r>
            <a:r>
              <a:rPr b="1" lang="en-US" sz="20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tăng 41.7%</a:t>
            </a:r>
            <a:r>
              <a:rPr lang="en-US" sz="20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rgbClr val="66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5"/>
          <p:cNvPicPr preferRelativeResize="0"/>
          <p:nvPr/>
        </p:nvPicPr>
        <p:blipFill rotWithShape="1">
          <a:blip r:embed="rId5">
            <a:alphaModFix/>
          </a:blip>
          <a:srcRect b="6671" l="5113" r="4575" t="1334"/>
          <a:stretch/>
        </p:blipFill>
        <p:spPr>
          <a:xfrm>
            <a:off x="838200" y="1892991"/>
            <a:ext cx="6659974" cy="32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"/>
          <p:cNvSpPr txBox="1"/>
          <p:nvPr/>
        </p:nvSpPr>
        <p:spPr>
          <a:xfrm>
            <a:off x="1651501" y="5155002"/>
            <a:ext cx="5846673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Nguồn: Vietnam | Institute for Health Metrics and Evaluation (healthdata.org)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231" name="Google Shape;23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2" name="Google Shape;232;p6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6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6"/>
          <p:cNvSpPr txBox="1"/>
          <p:nvPr/>
        </p:nvSpPr>
        <p:spPr>
          <a:xfrm>
            <a:off x="3648484" y="207781"/>
            <a:ext cx="515948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TỔNG QUAN TÀI LIỆU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1724298" y="1005885"/>
            <a:ext cx="8943702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Giai đoạn Suy giảm nhận thức nhẹ (Mild Cognitive Impairment – MCI)</a:t>
            </a:r>
            <a:endParaRPr b="1" sz="20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6"/>
          <p:cNvPicPr preferRelativeResize="0"/>
          <p:nvPr/>
        </p:nvPicPr>
        <p:blipFill rotWithShape="1">
          <a:blip r:embed="rId5">
            <a:alphaModFix/>
          </a:blip>
          <a:srcRect b="65561" l="0" r="63762" t="0"/>
          <a:stretch/>
        </p:blipFill>
        <p:spPr>
          <a:xfrm>
            <a:off x="4899240" y="2065742"/>
            <a:ext cx="2321205" cy="225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6"/>
          <p:cNvPicPr preferRelativeResize="0"/>
          <p:nvPr/>
        </p:nvPicPr>
        <p:blipFill rotWithShape="1">
          <a:blip r:embed="rId5">
            <a:alphaModFix/>
          </a:blip>
          <a:srcRect b="0" l="0" r="63762" t="67480"/>
          <a:stretch/>
        </p:blipFill>
        <p:spPr>
          <a:xfrm>
            <a:off x="9653865" y="2198251"/>
            <a:ext cx="2321201" cy="2126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6"/>
          <p:cNvPicPr preferRelativeResize="0"/>
          <p:nvPr/>
        </p:nvPicPr>
        <p:blipFill rotWithShape="1">
          <a:blip r:embed="rId5">
            <a:alphaModFix/>
          </a:blip>
          <a:srcRect b="32708" l="0" r="63762" t="34879"/>
          <a:stretch/>
        </p:blipFill>
        <p:spPr>
          <a:xfrm>
            <a:off x="7276554" y="2198251"/>
            <a:ext cx="2321201" cy="211950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6"/>
          <p:cNvSpPr/>
          <p:nvPr/>
        </p:nvSpPr>
        <p:spPr>
          <a:xfrm>
            <a:off x="6196149" y="4609413"/>
            <a:ext cx="4980779" cy="72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Cấu trúc não </a:t>
            </a:r>
            <a:r>
              <a:rPr b="1" lang="en-US" sz="1800">
                <a:solidFill>
                  <a:srgbClr val="CC0066"/>
                </a:solidFill>
                <a:latin typeface="Calibri"/>
                <a:ea typeface="Calibri"/>
                <a:cs typeface="Calibri"/>
                <a:sym typeface="Calibri"/>
              </a:rPr>
              <a:t>chưa thay đổi nhiều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ở giai đoạn MCI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Đây là </a:t>
            </a:r>
            <a:r>
              <a:rPr b="1" lang="en-US" sz="18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giai đoạn duy nhất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 thể can thiệp</a:t>
            </a:r>
            <a:endParaRPr b="1" sz="1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6"/>
          <p:cNvPicPr preferRelativeResize="0"/>
          <p:nvPr/>
        </p:nvPicPr>
        <p:blipFill rotWithShape="1">
          <a:blip r:embed="rId6">
            <a:alphaModFix/>
          </a:blip>
          <a:srcRect b="26435" l="27948" r="28840" t="0"/>
          <a:stretch/>
        </p:blipFill>
        <p:spPr>
          <a:xfrm>
            <a:off x="1168362" y="1736091"/>
            <a:ext cx="2413038" cy="258166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"/>
          <p:cNvSpPr/>
          <p:nvPr/>
        </p:nvSpPr>
        <p:spPr>
          <a:xfrm>
            <a:off x="752739" y="4555553"/>
            <a:ext cx="323442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Cứ </a:t>
            </a:r>
            <a:r>
              <a:rPr b="1" i="1" lang="en-US" sz="24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1" lang="en-US" sz="18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người lớn tuổi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sẽ có</a:t>
            </a:r>
            <a:b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24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1" lang="en-US" sz="1800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người tử vong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vì sa sút trí tuệ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198708" y="5502118"/>
            <a:ext cx="4342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🡺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Cần can thiệp nhận thức ở </a:t>
            </a:r>
            <a:r>
              <a:rPr b="1" lang="en-US" sz="18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giai đoạn sớm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249" name="Google Shape;2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0" name="Google Shape;250;p7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7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7"/>
          <p:cNvSpPr txBox="1"/>
          <p:nvPr/>
        </p:nvSpPr>
        <p:spPr>
          <a:xfrm>
            <a:off x="3648484" y="207781"/>
            <a:ext cx="515948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TỔNG QUAN TÀI LIỆU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1724298" y="1005885"/>
            <a:ext cx="8943702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Hoạt động rèn luyện nhận thức</a:t>
            </a:r>
            <a:endParaRPr b="1" sz="20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921566" y="5455772"/>
            <a:ext cx="10432234" cy="72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Ứng dụng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chứa các </a:t>
            </a:r>
            <a:r>
              <a:rPr b="1" lang="en-US" sz="18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hoạt động rèn luyện nhận thức</a:t>
            </a:r>
            <a:endParaRPr b="1" sz="1800">
              <a:solidFill>
                <a:srgbClr val="6600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Bệnh nhân có thể tự rèn luyện mọi lúc mọi nơi và chia sẻ kết quả đến bác sĩ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WD Elderly Information Website | YANG MEMORIAL METHODIST SOCIAL SERVICE SENIOR  CITIZEN COGNITIVE TRAINING CENTRE" id="256" name="Google Shape;256;p7"/>
          <p:cNvPicPr preferRelativeResize="0"/>
          <p:nvPr/>
        </p:nvPicPr>
        <p:blipFill rotWithShape="1">
          <a:blip r:embed="rId5">
            <a:alphaModFix/>
          </a:blip>
          <a:srcRect b="4259" l="0" r="27167" t="10151"/>
          <a:stretch/>
        </p:blipFill>
        <p:spPr>
          <a:xfrm>
            <a:off x="957209" y="1559764"/>
            <a:ext cx="4138105" cy="3647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7"/>
          <p:cNvPicPr preferRelativeResize="0"/>
          <p:nvPr/>
        </p:nvPicPr>
        <p:blipFill rotWithShape="1">
          <a:blip r:embed="rId6">
            <a:alphaModFix/>
          </a:blip>
          <a:srcRect b="0" l="25235" r="20865" t="2939"/>
          <a:stretch/>
        </p:blipFill>
        <p:spPr>
          <a:xfrm>
            <a:off x="8383007" y="1559764"/>
            <a:ext cx="3006436" cy="364716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7"/>
          <p:cNvSpPr/>
          <p:nvPr/>
        </p:nvSpPr>
        <p:spPr>
          <a:xfrm rot="-5400000">
            <a:off x="6404102" y="2628155"/>
            <a:ext cx="670117" cy="1510384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264" name="Google Shape;26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5" name="Google Shape;265;p8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8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8" name="Google Shape;268;p8"/>
          <p:cNvSpPr txBox="1"/>
          <p:nvPr/>
        </p:nvSpPr>
        <p:spPr>
          <a:xfrm>
            <a:off x="3648484" y="207781"/>
            <a:ext cx="515948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TỔNG QUAN TÀI LIỆU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1591234" y="977222"/>
            <a:ext cx="9209829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Kết quả nghiên cứu về trò chơi nhận thức thử nghiệm trên người lớn tuổi khỏe mạnh</a:t>
            </a:r>
            <a:endParaRPr b="1" sz="20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torage.googleapis.com/plos-corpus-prod/10.1371/journal.pone.0029676/1/pone.0029676.g002.PNG_L?X-Goog-Algorithm=GOOG4-RSA-SHA256&amp;X-Goog-Credential=wombat-sa%40plos-prod.iam.gserviceaccount.com%2F20221216%2Fauto%2Fstorage%2Fgoog4_request&amp;X-Goog-Date=20221216T091421Z&amp;X-Goog-Expires=86400&amp;X-Goog-SignedHeaders=host&amp;X-Goog-Signature=6ee2d74b0ecbecdd15cefdb9a44bff6cdfad3ae74c7d952619142e2a886ac9520d2f8506c9ae2b1bccbf6466fc6240f7e2cb834d3b3d372a2405ef36ab8e5a4ab898b0086165f94f0bc24d80845d81aab32ff8096431f52d097f058f4701899b4d9295a159dad535582c3fbb31386c32a60a4e24300b9240119d82434bc01bd67bbbe572ea3c3f8cbc7a19d7df3df53ab50f52d82f48f5fc4cb484a59706838122ae248dbdb43b87977ff9889c1535ef3c4ea66d525b77dd4e3e5d5f71983df632d2886b27a4454a135b1c68117d69c318622e868f112f92393b1c50b11fd8813ac49c33a609b93482a576604dfc61d093698c4a16c9f2038ba44b95c6e70de3" id="270" name="Google Shape;270;p8"/>
          <p:cNvPicPr preferRelativeResize="0"/>
          <p:nvPr/>
        </p:nvPicPr>
        <p:blipFill rotWithShape="1">
          <a:blip r:embed="rId5">
            <a:alphaModFix/>
          </a:blip>
          <a:srcRect b="49556" l="53378" r="23393" t="0"/>
          <a:stretch/>
        </p:blipFill>
        <p:spPr>
          <a:xfrm>
            <a:off x="117279" y="1675939"/>
            <a:ext cx="3214038" cy="348635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8"/>
          <p:cNvSpPr/>
          <p:nvPr/>
        </p:nvSpPr>
        <p:spPr>
          <a:xfrm>
            <a:off x="1349043" y="5148408"/>
            <a:ext cx="19822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Nouchi, Rui, et al. (2012)</a:t>
            </a:r>
            <a:endParaRPr i="1"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8"/>
          <p:cNvPicPr preferRelativeResize="0"/>
          <p:nvPr/>
        </p:nvPicPr>
        <p:blipFill rotWithShape="1">
          <a:blip r:embed="rId6">
            <a:alphaModFix/>
          </a:blip>
          <a:srcRect b="0" l="0" r="49046" t="0"/>
          <a:stretch/>
        </p:blipFill>
        <p:spPr>
          <a:xfrm>
            <a:off x="4193683" y="1677878"/>
            <a:ext cx="3154779" cy="3484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8"/>
          <p:cNvPicPr preferRelativeResize="0"/>
          <p:nvPr/>
        </p:nvPicPr>
        <p:blipFill rotWithShape="1">
          <a:blip r:embed="rId7">
            <a:alphaModFix/>
          </a:blip>
          <a:srcRect b="19423" l="0" r="34185" t="1921"/>
          <a:stretch/>
        </p:blipFill>
        <p:spPr>
          <a:xfrm>
            <a:off x="8210828" y="1675939"/>
            <a:ext cx="3708998" cy="348663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8"/>
          <p:cNvSpPr/>
          <p:nvPr/>
        </p:nvSpPr>
        <p:spPr>
          <a:xfrm>
            <a:off x="9468829" y="5162297"/>
            <a:ext cx="24509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Hardy, Joseph L., et al. (2015) </a:t>
            </a:r>
            <a:endParaRPr i="1"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936996" y="5148408"/>
            <a:ext cx="241146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Khan, NiaziImran, et al. (2019)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2118268" y="5713157"/>
            <a:ext cx="81557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Điểm số nhận thức được </a:t>
            </a:r>
            <a:r>
              <a:rPr b="1" lang="en-US" sz="20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cải thiện sau khi can thiệp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bằng trò chơi nhận thức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282" name="Google Shape;28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3" name="Google Shape;283;p9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9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6" name="Google Shape;286;p9"/>
          <p:cNvSpPr txBox="1"/>
          <p:nvPr/>
        </p:nvSpPr>
        <p:spPr>
          <a:xfrm>
            <a:off x="3335449" y="211952"/>
            <a:ext cx="578555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MỤC TIÊU NGHIÊN CỨU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7327695" y="1258516"/>
            <a:ext cx="4646401" cy="51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1600"/>
              <a:buFont typeface="Noto Sans Symbols"/>
              <a:buChar char="❑"/>
            </a:pPr>
            <a:r>
              <a:rPr b="1" lang="en-US" sz="1600" u="sng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Thiết kế và tối ưu hóa 12 trò chơi nhận thức</a:t>
            </a:r>
            <a:r>
              <a:rPr b="1" lang="en-US" sz="1600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 bệnh nhân MCI, nhắm đến 4 lĩnh vực nhận thức: Trí nhớ, Tập trung, Ngôn ngữ, và Toán học.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ts val="1600"/>
              <a:buFont typeface="Noto Sans Symbols"/>
              <a:buChar char="❑"/>
            </a:pPr>
            <a:r>
              <a:rPr b="1" lang="en-US" sz="1600" u="sng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Đánh giá hiệu quả ứng dụng</a:t>
            </a:r>
            <a:r>
              <a:rPr b="1" lang="en-US" sz="1600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trên 80 bệnh nhân MCI của 02 nhóm: nhóm đối chứng và nhóm can thiệp bằng các bài kiểm tra tâm lý thần kinh và bài khảo sát tự đánh giá nhận thức.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ts val="1600"/>
              <a:buFont typeface="Noto Sans Symbols"/>
              <a:buChar char="❑"/>
            </a:pPr>
            <a:r>
              <a:rPr b="1" lang="en-US" sz="1600" u="sng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So sánh khác nhau của các đặc trưng EEG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trước và sau can thiệp giữa 02 nhóm (PSD, Entropy, và LORETA). 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ts val="1600"/>
              <a:buFont typeface="Noto Sans Symbols"/>
              <a:buChar char="❑"/>
            </a:pPr>
            <a:r>
              <a:rPr b="1" lang="en-US" sz="1600" u="sng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Xây dựng mô hình AI dự đoán hiệu quả can thiệp</a:t>
            </a:r>
            <a:r>
              <a:rPr b="1" lang="en-US" sz="1600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bằng cách sử dụng đặc trưng EEG, điểm số nhận thức, dữ liệu chơi game làm đầu vào (input).</a:t>
            </a:r>
            <a:endParaRPr/>
          </a:p>
        </p:txBody>
      </p:sp>
      <p:pic>
        <p:nvPicPr>
          <p:cNvPr id="288" name="Google Shape;288;p9"/>
          <p:cNvPicPr preferRelativeResize="0"/>
          <p:nvPr/>
        </p:nvPicPr>
        <p:blipFill rotWithShape="1">
          <a:blip r:embed="rId5">
            <a:alphaModFix/>
          </a:blip>
          <a:srcRect b="553" l="1072" r="3935" t="553"/>
          <a:stretch/>
        </p:blipFill>
        <p:spPr>
          <a:xfrm>
            <a:off x="147951" y="1258516"/>
            <a:ext cx="7066722" cy="4820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294" name="Google Shape;29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5" name="Google Shape;295;p10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10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8" name="Google Shape;298;p10"/>
          <p:cNvSpPr txBox="1"/>
          <p:nvPr/>
        </p:nvSpPr>
        <p:spPr>
          <a:xfrm>
            <a:off x="2687387" y="207781"/>
            <a:ext cx="708168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PHƯƠNG PHÁP NGHIÊN CỨU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0"/>
          <p:cNvPicPr preferRelativeResize="0"/>
          <p:nvPr/>
        </p:nvPicPr>
        <p:blipFill rotWithShape="1">
          <a:blip r:embed="rId5">
            <a:alphaModFix/>
          </a:blip>
          <a:srcRect b="0" l="0" r="278" t="0"/>
          <a:stretch/>
        </p:blipFill>
        <p:spPr>
          <a:xfrm>
            <a:off x="0" y="3455763"/>
            <a:ext cx="12192000" cy="82392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0"/>
          <p:cNvSpPr/>
          <p:nvPr/>
        </p:nvSpPr>
        <p:spPr>
          <a:xfrm>
            <a:off x="3497769" y="4279686"/>
            <a:ext cx="221867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TẬP TRUNG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Chú ý có chọn lọc</a:t>
            </a:r>
            <a:endParaRPr i="1" sz="1600">
              <a:solidFill>
                <a:srgbClr val="0080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Chú ý khi bị phân tâm</a:t>
            </a:r>
            <a:endParaRPr i="1" sz="1600">
              <a:solidFill>
                <a:srgbClr val="008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6553875" y="4279686"/>
            <a:ext cx="20833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NGÔN NGỮ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Nhớ lại từ</a:t>
            </a:r>
            <a:endParaRPr i="1" sz="1600">
              <a:solidFill>
                <a:srgbClr val="008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9122545" y="4279686"/>
            <a:ext cx="22312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TOÁN HỌC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Ước tính số</a:t>
            </a:r>
            <a:endParaRPr i="1" sz="1600">
              <a:solidFill>
                <a:srgbClr val="008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1590164" y="1091930"/>
            <a:ext cx="9276129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Mục tiêu 1A: Thiết kế và tối ưu hóa nội dung các trò chơi nhận thức của BrainTrain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275806" y="1966070"/>
            <a:ext cx="984068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Brain Train nhắm tới </a:t>
            </a:r>
            <a:r>
              <a:rPr b="1" lang="en-US" sz="2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04 chức năng nhận thức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bệnh nhân MCI </a:t>
            </a:r>
            <a:r>
              <a:rPr b="1" lang="en-US" sz="2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bị ảnh hưởng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nhiều nhất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Mỗi chức năng nhận thức gồm 2 đến 3 trò chơi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293205" y="4279686"/>
            <a:ext cx="271925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TRÍ NHỚ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Trí nhớ ngắn hạn</a:t>
            </a:r>
            <a:endParaRPr i="1" sz="1600">
              <a:solidFill>
                <a:srgbClr val="008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311" name="Google Shape;31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2" name="Google Shape;312;p11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11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5" name="Google Shape;315;p11"/>
          <p:cNvSpPr txBox="1"/>
          <p:nvPr/>
        </p:nvSpPr>
        <p:spPr>
          <a:xfrm>
            <a:off x="2687387" y="207781"/>
            <a:ext cx="708168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PHƯƠNG PHÁP NGHIÊN CỨU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 txBox="1"/>
          <p:nvPr/>
        </p:nvSpPr>
        <p:spPr>
          <a:xfrm>
            <a:off x="1264081" y="2270617"/>
            <a:ext cx="3340925" cy="646331"/>
          </a:xfrm>
          <a:prstGeom prst="rect">
            <a:avLst/>
          </a:prstGeom>
          <a:solidFill>
            <a:srgbClr val="DBDBD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Nghiên cứu thị trường thí điểm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5682889" y="2270616"/>
            <a:ext cx="1831572" cy="646331"/>
          </a:xfrm>
          <a:prstGeom prst="rect">
            <a:avLst/>
          </a:prstGeom>
          <a:solidFill>
            <a:srgbClr val="FBE4D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8080"/>
                </a:solidFill>
                <a:latin typeface="Calibri"/>
                <a:ea typeface="Calibri"/>
                <a:cs typeface="Calibri"/>
                <a:sym typeface="Calibri"/>
              </a:rPr>
              <a:t>Tối ưu hóa BrainTrain</a:t>
            </a:r>
            <a:endParaRPr b="1" sz="1800">
              <a:solidFill>
                <a:srgbClr val="0080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1"/>
          <p:cNvCxnSpPr>
            <a:stCxn id="316" idx="3"/>
            <a:endCxn id="317" idx="1"/>
          </p:cNvCxnSpPr>
          <p:nvPr/>
        </p:nvCxnSpPr>
        <p:spPr>
          <a:xfrm>
            <a:off x="4605006" y="2593783"/>
            <a:ext cx="107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9" name="Google Shape;319;p11"/>
          <p:cNvSpPr/>
          <p:nvPr/>
        </p:nvSpPr>
        <p:spPr>
          <a:xfrm>
            <a:off x="1724298" y="3401695"/>
            <a:ext cx="9444813" cy="26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Thử nghiệm ứng dụng trên người cao tuổi MCI để khảo sát ý kiến phản hồi người dùng</a:t>
            </a:r>
            <a:endParaRPr b="1" sz="2000" u="sng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800"/>
              <a:buFont typeface="Noto Sans Symbols"/>
              <a:buChar char="▪"/>
            </a:pPr>
            <a:r>
              <a:rPr b="1" lang="en-US" sz="1800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rPr>
              <a:t>Đánh giá (điểm 1 - 10)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 từng trò chơi của mỗi lĩnh vực: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(1) Giao diện, (2) Độ dễ sử dụng, (3) Độ thú vị,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(4) Có cải thiện nhận thức không?, (5) Góp ý khác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800"/>
              <a:buFont typeface="Noto Sans Symbols"/>
              <a:buChar char="▪"/>
            </a:pPr>
            <a:r>
              <a:rPr b="1" lang="en-US" sz="1800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rPr>
              <a:t>Tiếp tục sử dụng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trong tương lai?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800"/>
              <a:buFont typeface="Noto Sans Symbols"/>
              <a:buChar char="▪"/>
            </a:pPr>
            <a:r>
              <a:rPr b="1" lang="en-US" sz="1800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rPr>
              <a:t>Sẵn sàng trả phí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bao nhiêu mỗi tháng để mở khóa tất cả tính năng của app?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8518321" y="2270616"/>
            <a:ext cx="2479965" cy="646331"/>
          </a:xfrm>
          <a:prstGeom prst="rect">
            <a:avLst/>
          </a:prstGeom>
          <a:solidFill>
            <a:srgbClr val="DBDBD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Thẩm định ứng dụng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40)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1"/>
          <p:cNvCxnSpPr>
            <a:stCxn id="317" idx="3"/>
            <a:endCxn id="320" idx="1"/>
          </p:cNvCxnSpPr>
          <p:nvPr/>
        </p:nvCxnSpPr>
        <p:spPr>
          <a:xfrm>
            <a:off x="7514461" y="2593782"/>
            <a:ext cx="100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2" name="Google Shape;322;p11"/>
          <p:cNvSpPr txBox="1"/>
          <p:nvPr/>
        </p:nvSpPr>
        <p:spPr>
          <a:xfrm>
            <a:off x="1557014" y="1100332"/>
            <a:ext cx="9276129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Mục tiêu 1A: Thiết kế và tối ưu hóa nội dung các trò chơi nhận thức của BrainTrain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328" name="Google Shape;3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9" name="Google Shape;329;p12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1" name="Google Shape;331;p12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2" name="Google Shape;332;p12"/>
          <p:cNvSpPr txBox="1"/>
          <p:nvPr/>
        </p:nvSpPr>
        <p:spPr>
          <a:xfrm>
            <a:off x="2687387" y="207781"/>
            <a:ext cx="708168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PHƯƠNG PHÁP NGHIÊN CỨU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2352686" y="5481420"/>
            <a:ext cx="7751084" cy="697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sánh điểm số nhận thức </a:t>
            </a:r>
            <a:r>
              <a:rPr b="1" lang="en-US" sz="1800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trước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và </a:t>
            </a:r>
            <a:r>
              <a:rPr b="1" lang="en-US" sz="1800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sau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thiệp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Sự </a:t>
            </a:r>
            <a:r>
              <a:rPr b="1" lang="en-US" sz="1800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thay đổi điểm số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nhận thức sẽ cho thấy </a:t>
            </a:r>
            <a:r>
              <a:rPr b="1" lang="en-US" sz="1800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hiệu quả can thiệp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của ứng dụng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 txBox="1"/>
          <p:nvPr/>
        </p:nvSpPr>
        <p:spPr>
          <a:xfrm>
            <a:off x="2975767" y="1071412"/>
            <a:ext cx="6504922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Mục tiêu 1B: Đánh giá hiệu quả của ứng dụng BrainTrain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724298" y="1736604"/>
            <a:ext cx="8353184" cy="2041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Tuyển dụng bệnh nhân MCI</a:t>
            </a:r>
            <a:endParaRPr sz="20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Bệnh nhân MCI trên 60 tuổi: n = 80</a:t>
            </a:r>
            <a:endParaRPr/>
          </a:p>
          <a:p>
            <a:pPr indent="-285750" lvl="0" marL="2857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Được chia ngẫu nhiên thành 02 nhóm: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Nhóm đối chứng (không can thiệp): n = 20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1800">
                <a:solidFill>
                  <a:srgbClr val="CC0066"/>
                </a:solidFill>
                <a:latin typeface="Calibri"/>
                <a:ea typeface="Calibri"/>
                <a:cs typeface="Calibri"/>
                <a:sym typeface="Calibri"/>
              </a:rPr>
              <a:t>Nhóm can thiệp bằng BrainTrain: n = 60 (30 phút/ngày, 5 ngày/tuần)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Địa điểm thu dữ liệu: Bệnh viện Quân Y 175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12"/>
          <p:cNvPicPr preferRelativeResize="0"/>
          <p:nvPr/>
        </p:nvPicPr>
        <p:blipFill rotWithShape="1">
          <a:blip r:embed="rId5">
            <a:alphaModFix/>
          </a:blip>
          <a:srcRect b="11096" l="12824" r="13719" t="72284"/>
          <a:stretch/>
        </p:blipFill>
        <p:spPr>
          <a:xfrm>
            <a:off x="1724298" y="4043271"/>
            <a:ext cx="8807417" cy="112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342" name="Google Shape;34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3" name="Google Shape;343;p13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13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6" name="Google Shape;346;p13"/>
          <p:cNvSpPr txBox="1"/>
          <p:nvPr/>
        </p:nvSpPr>
        <p:spPr>
          <a:xfrm>
            <a:off x="2687387" y="207781"/>
            <a:ext cx="708168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PHƯƠNG PHÁP NGHIÊN CỨU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681554" y="1854328"/>
            <a:ext cx="5456109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Quy trình thu nhận dữ liệu EEG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009999"/>
              </a:buClr>
              <a:buSzPts val="1800"/>
              <a:buFont typeface="Noto Sans Symbols"/>
              <a:buChar char="▪"/>
            </a:pPr>
            <a:r>
              <a:rPr b="1" lang="en-US" sz="1800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Thời điểm: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trước, sau 1 tháng, sau 6 tháng can thiệp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009999"/>
              </a:buClr>
              <a:buSzPts val="1800"/>
              <a:buFont typeface="Noto Sans Symbols"/>
              <a:buChar char="▪"/>
            </a:pPr>
            <a:r>
              <a:rPr b="1" lang="en-US" sz="1800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Công cụ mô phỏng thí nghiệm: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phần mềm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PsychoPy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 txBox="1"/>
          <p:nvPr/>
        </p:nvSpPr>
        <p:spPr>
          <a:xfrm>
            <a:off x="2983814" y="1079347"/>
            <a:ext cx="6488828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Mục tiêu 2: So sánh sự khác nhau của các đặc trưng EEG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411" y="1633198"/>
            <a:ext cx="2630723" cy="17303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0" name="Google Shape;35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48217" y="1619256"/>
            <a:ext cx="2633923" cy="173202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1" name="Google Shape;351;p13"/>
          <p:cNvSpPr/>
          <p:nvPr/>
        </p:nvSpPr>
        <p:spPr>
          <a:xfrm>
            <a:off x="6551411" y="3517313"/>
            <a:ext cx="533072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Hệ thống đo </a:t>
            </a:r>
            <a:r>
              <a:rPr b="1" lang="en-US" sz="1600">
                <a:solidFill>
                  <a:srgbClr val="CC0066"/>
                </a:solidFill>
                <a:latin typeface="Calibri"/>
                <a:ea typeface="Calibri"/>
                <a:cs typeface="Calibri"/>
                <a:sym typeface="Calibri"/>
              </a:rPr>
              <a:t>EEG Natus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ở bệnh viện Quân Y 175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13"/>
          <p:cNvPicPr preferRelativeResize="0"/>
          <p:nvPr/>
        </p:nvPicPr>
        <p:blipFill rotWithShape="1">
          <a:blip r:embed="rId7">
            <a:alphaModFix/>
          </a:blip>
          <a:srcRect b="34148" l="10583" r="15499" t="28815"/>
          <a:stretch/>
        </p:blipFill>
        <p:spPr>
          <a:xfrm>
            <a:off x="681554" y="4166536"/>
            <a:ext cx="7360664" cy="2074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3"/>
          <p:cNvPicPr preferRelativeResize="0"/>
          <p:nvPr/>
        </p:nvPicPr>
        <p:blipFill rotWithShape="1">
          <a:blip r:embed="rId8">
            <a:alphaModFix/>
          </a:blip>
          <a:srcRect b="7186" l="30493" r="1780" t="27087"/>
          <a:stretch/>
        </p:blipFill>
        <p:spPr>
          <a:xfrm>
            <a:off x="8501286" y="4166536"/>
            <a:ext cx="2852514" cy="2076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359" name="Google Shape;35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0" name="Google Shape;360;p14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2" name="Google Shape;362;p14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3" name="Google Shape;363;p14"/>
          <p:cNvSpPr txBox="1"/>
          <p:nvPr/>
        </p:nvSpPr>
        <p:spPr>
          <a:xfrm>
            <a:off x="2687387" y="207781"/>
            <a:ext cx="708168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PHƯƠNG PHÁP NGHIÊN CỨU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2260" y="4179114"/>
            <a:ext cx="3899230" cy="211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33" y="4179114"/>
            <a:ext cx="3159566" cy="211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4"/>
          <p:cNvSpPr/>
          <p:nvPr/>
        </p:nvSpPr>
        <p:spPr>
          <a:xfrm>
            <a:off x="261195" y="4698046"/>
            <a:ext cx="389721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Giải thích </a:t>
            </a:r>
            <a:r>
              <a:rPr b="1" lang="en-US" sz="18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cơ chế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trò chơi nhận thức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009999"/>
              </a:buClr>
              <a:buSzPts val="1800"/>
              <a:buFont typeface="Noto Sans Symbols"/>
              <a:buChar char="✔"/>
            </a:pPr>
            <a:r>
              <a:rPr b="1" lang="en-US" sz="1800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Mối tương quan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giữa </a:t>
            </a:r>
            <a:r>
              <a:rPr b="1" lang="en-US" sz="1800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rèn luyện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nhận thức và </a:t>
            </a:r>
            <a:r>
              <a:rPr b="1" lang="en-US" sz="1800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cải thiện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nhận thức</a:t>
            </a:r>
            <a:endParaRPr b="1"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rain – Human Brain Diagrams and Detailed Information" id="367" name="Google Shape;367;p14"/>
          <p:cNvPicPr preferRelativeResize="0"/>
          <p:nvPr/>
        </p:nvPicPr>
        <p:blipFill rotWithShape="1">
          <a:blip r:embed="rId7">
            <a:alphaModFix/>
          </a:blip>
          <a:srcRect b="19707" l="4942" r="5777" t="19528"/>
          <a:stretch/>
        </p:blipFill>
        <p:spPr>
          <a:xfrm>
            <a:off x="5634174" y="2299063"/>
            <a:ext cx="1568556" cy="14561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p14"/>
          <p:cNvCxnSpPr>
            <a:stCxn id="367" idx="3"/>
          </p:cNvCxnSpPr>
          <p:nvPr/>
        </p:nvCxnSpPr>
        <p:spPr>
          <a:xfrm flipH="1" rot="10800000">
            <a:off x="7202730" y="1968121"/>
            <a:ext cx="1426500" cy="1059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9" name="Google Shape;369;p14"/>
          <p:cNvCxnSpPr>
            <a:stCxn id="367" idx="3"/>
            <a:endCxn id="370" idx="1"/>
          </p:cNvCxnSpPr>
          <p:nvPr/>
        </p:nvCxnSpPr>
        <p:spPr>
          <a:xfrm flipH="1" rot="10800000">
            <a:off x="7202730" y="2870221"/>
            <a:ext cx="1426500" cy="156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1" name="Google Shape;371;p14"/>
          <p:cNvCxnSpPr>
            <a:stCxn id="367" idx="3"/>
          </p:cNvCxnSpPr>
          <p:nvPr/>
        </p:nvCxnSpPr>
        <p:spPr>
          <a:xfrm>
            <a:off x="7202730" y="3027121"/>
            <a:ext cx="1407900" cy="495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70" name="Google Shape;370;p14"/>
          <p:cNvPicPr preferRelativeResize="0"/>
          <p:nvPr/>
        </p:nvPicPr>
        <p:blipFill rotWithShape="1">
          <a:blip r:embed="rId8">
            <a:alphaModFix/>
          </a:blip>
          <a:srcRect b="8779" l="46068" r="1424" t="2042"/>
          <a:stretch/>
        </p:blipFill>
        <p:spPr>
          <a:xfrm>
            <a:off x="8629251" y="1738379"/>
            <a:ext cx="3102848" cy="226343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4"/>
          <p:cNvSpPr/>
          <p:nvPr/>
        </p:nvSpPr>
        <p:spPr>
          <a:xfrm>
            <a:off x="647948" y="1773558"/>
            <a:ext cx="949234" cy="710353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Tín hiệu EEG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2033873" y="2483911"/>
            <a:ext cx="845103" cy="710353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Tiền xử lý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3315667" y="3195528"/>
            <a:ext cx="2108889" cy="710353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Trích xuất đặc trưng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Lựa chọn đặc trưng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14"/>
          <p:cNvCxnSpPr>
            <a:stCxn id="372" idx="2"/>
            <a:endCxn id="373" idx="1"/>
          </p:cNvCxnSpPr>
          <p:nvPr/>
        </p:nvCxnSpPr>
        <p:spPr>
          <a:xfrm flipH="1" rot="-5400000">
            <a:off x="1400665" y="2205811"/>
            <a:ext cx="355200" cy="911400"/>
          </a:xfrm>
          <a:prstGeom prst="bentConnector2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6" name="Google Shape;376;p14"/>
          <p:cNvCxnSpPr>
            <a:stCxn id="373" idx="2"/>
            <a:endCxn id="374" idx="1"/>
          </p:cNvCxnSpPr>
          <p:nvPr/>
        </p:nvCxnSpPr>
        <p:spPr>
          <a:xfrm flipH="1" rot="-5400000">
            <a:off x="2707825" y="2942864"/>
            <a:ext cx="356400" cy="859200"/>
          </a:xfrm>
          <a:prstGeom prst="bentConnector2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7" name="Google Shape;377;p14"/>
          <p:cNvSpPr txBox="1"/>
          <p:nvPr/>
        </p:nvSpPr>
        <p:spPr>
          <a:xfrm>
            <a:off x="2983814" y="1081118"/>
            <a:ext cx="6488828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Mục tiêu 2: So sánh sự khác nhau của các đặc trưng EEG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383" name="Google Shape;3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4" name="Google Shape;384;p15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15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7" name="Google Shape;387;p15"/>
          <p:cNvSpPr txBox="1"/>
          <p:nvPr/>
        </p:nvSpPr>
        <p:spPr>
          <a:xfrm>
            <a:off x="2687387" y="207781"/>
            <a:ext cx="708168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PHƯƠNG PHÁP NGHIÊN CỨU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2720537" y="1069986"/>
            <a:ext cx="7015382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Mục tiêu 3: Xây dựng mô hình AI dự đoán hiệu quả can thiệp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15"/>
          <p:cNvPicPr preferRelativeResize="0"/>
          <p:nvPr/>
        </p:nvPicPr>
        <p:blipFill rotWithShape="1">
          <a:blip r:embed="rId5">
            <a:alphaModFix/>
          </a:blip>
          <a:srcRect b="80134" l="9631" r="48963" t="15428"/>
          <a:stretch/>
        </p:blipFill>
        <p:spPr>
          <a:xfrm>
            <a:off x="4005578" y="1726795"/>
            <a:ext cx="4605022" cy="27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5"/>
          <p:cNvPicPr preferRelativeResize="0"/>
          <p:nvPr/>
        </p:nvPicPr>
        <p:blipFill rotWithShape="1">
          <a:blip r:embed="rId6">
            <a:alphaModFix/>
          </a:blip>
          <a:srcRect b="55427" l="3845" r="1995" t="8357"/>
          <a:stretch/>
        </p:blipFill>
        <p:spPr>
          <a:xfrm>
            <a:off x="955980" y="2972136"/>
            <a:ext cx="10536995" cy="227905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5"/>
          <p:cNvSpPr/>
          <p:nvPr/>
        </p:nvSpPr>
        <p:spPr>
          <a:xfrm>
            <a:off x="1775080" y="5519792"/>
            <a:ext cx="9223206" cy="687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Giúp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bác sĩ và bệnh nhân </a:t>
            </a:r>
            <a:r>
              <a:rPr b="1" lang="en-US" sz="16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tiết kiệm thời gian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để tìm được </a:t>
            </a:r>
            <a:r>
              <a:rPr b="1" lang="en-US" sz="16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can thiệp hợp lý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trong </a:t>
            </a:r>
            <a:r>
              <a:rPr b="1" lang="en-US" sz="16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thời gian vàng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của bệnh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Giúp bệnh nhân </a:t>
            </a:r>
            <a:r>
              <a:rPr b="1" lang="en-US" sz="1600">
                <a:solidFill>
                  <a:srgbClr val="CC0066"/>
                </a:solidFill>
                <a:latin typeface="Calibri"/>
                <a:ea typeface="Calibri"/>
                <a:cs typeface="Calibri"/>
                <a:sym typeface="Calibri"/>
              </a:rPr>
              <a:t>an tâm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và </a:t>
            </a:r>
            <a:r>
              <a:rPr b="1" lang="en-US" sz="1600">
                <a:solidFill>
                  <a:srgbClr val="CC0066"/>
                </a:solidFill>
                <a:latin typeface="Calibri"/>
                <a:ea typeface="Calibri"/>
                <a:cs typeface="Calibri"/>
                <a:sym typeface="Calibri"/>
              </a:rPr>
              <a:t>tin tưởng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vào hiệu quả của </a:t>
            </a:r>
            <a:r>
              <a:rPr b="1" lang="en-US" sz="1600">
                <a:solidFill>
                  <a:srgbClr val="CC0066"/>
                </a:solidFill>
                <a:latin typeface="Calibri"/>
                <a:ea typeface="Calibri"/>
                <a:cs typeface="Calibri"/>
                <a:sym typeface="Calibri"/>
              </a:rPr>
              <a:t>BrainTrain</a:t>
            </a:r>
            <a:endParaRPr b="1" sz="1600">
              <a:solidFill>
                <a:srgbClr val="CC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15"/>
          <p:cNvPicPr preferRelativeResize="0"/>
          <p:nvPr/>
        </p:nvPicPr>
        <p:blipFill rotWithShape="1">
          <a:blip r:embed="rId7">
            <a:alphaModFix/>
          </a:blip>
          <a:srcRect b="70137" l="62076" r="5405" t="12433"/>
          <a:stretch/>
        </p:blipFill>
        <p:spPr>
          <a:xfrm>
            <a:off x="4005577" y="2105887"/>
            <a:ext cx="3483417" cy="1049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398" name="Google Shape;39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9" name="Google Shape;399;p16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" name="Google Shape;401;p16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2" name="Google Shape;402;p16"/>
          <p:cNvSpPr txBox="1"/>
          <p:nvPr/>
        </p:nvSpPr>
        <p:spPr>
          <a:xfrm>
            <a:off x="5387645" y="211952"/>
            <a:ext cx="168116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Y ĐỨC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 txBox="1"/>
          <p:nvPr/>
        </p:nvSpPr>
        <p:spPr>
          <a:xfrm>
            <a:off x="4372254" y="981393"/>
            <a:ext cx="3711948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Đối tượng tham gia nghiên cứu</a:t>
            </a:r>
            <a:endParaRPr b="1" sz="20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4" name="Google Shape;404;p16"/>
          <p:cNvGraphicFramePr/>
          <p:nvPr/>
        </p:nvGraphicFramePr>
        <p:xfrm>
          <a:off x="838200" y="16275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{DF796280-BD72-4091-AB44-67D590C09684}</a:tableStyleId>
              </a:tblPr>
              <a:tblGrid>
                <a:gridCol w="5221900"/>
              </a:tblGrid>
              <a:tr h="49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Tiêu chuẩn lựa chọn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3798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Bệnh nhân MCI: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❑"/>
                      </a:pPr>
                      <a:r>
                        <a:rPr lang="en-US" sz="1800"/>
                        <a:t>Thỏa tiêu chuẩn của National Institute on Aging and the Alzheimer’s Association (NIA-AA 2011) bao gồm sử dụng các bài kiểm tra chức năng nhận thức phổ biến hiện nay, ví dụ: Wechsler Memory Scale-Revised (WMS-R) Logical Memory I/II (trí nhớ), Trail Making Test và Digit Symbol Substitution - Wechsler Adult Intelligent Scale-Revised (WAIS-R) (tập trung - chức năng điều hành), Boston Naming Test (ngôn ngữ), Block Design và Picture Completion Tests (kỹ năng thị giác không gian)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❑"/>
                      </a:pPr>
                      <a:r>
                        <a:rPr lang="en-US" sz="1800"/>
                        <a:t>Trình độ học vấn 9/12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❑"/>
                      </a:pPr>
                      <a:r>
                        <a:rPr lang="en-US" sz="1800"/>
                        <a:t>Đồng ý tham gia nghiên cứu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05" name="Google Shape;405;p16"/>
          <p:cNvGraphicFramePr/>
          <p:nvPr/>
        </p:nvGraphicFramePr>
        <p:xfrm>
          <a:off x="6763625" y="16275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{C4D6D072-F057-4D12-8D1A-1C139A292F89}</a:tableStyleId>
              </a:tblPr>
              <a:tblGrid>
                <a:gridCol w="4414825"/>
              </a:tblGrid>
              <a:tr h="471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Tiêu</a:t>
                      </a:r>
                      <a:r>
                        <a:rPr lang="en-US" sz="1800"/>
                        <a:t> chuẩn loại trừ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82337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❑"/>
                      </a:pPr>
                      <a:r>
                        <a:rPr lang="en-US" sz="1800"/>
                        <a:t>Điều trị bằng thuốc ức chế cholinesterase hoặc các loại thuốc khác có thể ảnh hưởng đến hoạt động nhận thức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❑"/>
                      </a:pPr>
                      <a:r>
                        <a:rPr lang="en-US" sz="1800"/>
                        <a:t>Mắc bất kỳ bệnh nào ảnh hưởng đến hệ thần kinh trung ương (đa xơ cứng - Multiple Sclerosis, Parkinson, đột quỵ, …)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❑"/>
                      </a:pPr>
                      <a:r>
                        <a:rPr lang="en-US" sz="1800"/>
                        <a:t>Nghiện rượu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❑"/>
                      </a:pPr>
                      <a:r>
                        <a:rPr lang="en-US" sz="1800"/>
                        <a:t>Mất hoặc giảm thính lực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❑"/>
                      </a:pPr>
                      <a:r>
                        <a:rPr lang="en-US" sz="1800"/>
                        <a:t>Có vấn đề về thị lực cản trở việc sử dụng ứng dụng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❑"/>
                      </a:pPr>
                      <a:r>
                        <a:rPr lang="en-US" sz="1800"/>
                        <a:t>Không đồng ý tham gia nghiên cứu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411" name="Google Shape;41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2" name="Google Shape;412;p17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4" name="Google Shape;414;p17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5" name="Google Shape;415;p17"/>
          <p:cNvSpPr txBox="1"/>
          <p:nvPr/>
        </p:nvSpPr>
        <p:spPr>
          <a:xfrm>
            <a:off x="5387645" y="211952"/>
            <a:ext cx="168116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Y ĐỨC</a:t>
            </a:r>
            <a:endParaRPr b="1" sz="44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 txBox="1"/>
          <p:nvPr/>
        </p:nvSpPr>
        <p:spPr>
          <a:xfrm>
            <a:off x="4372254" y="981393"/>
            <a:ext cx="3711948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Đạo đức nghiên cứu</a:t>
            </a:r>
            <a:endParaRPr b="1" sz="20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 txBox="1"/>
          <p:nvPr/>
        </p:nvSpPr>
        <p:spPr>
          <a:xfrm>
            <a:off x="1131433" y="1750834"/>
            <a:ext cx="10193590" cy="35701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Chỉ tuyển chọn bệnh nhân </a:t>
            </a:r>
            <a:r>
              <a:rPr b="1" lang="en-US" sz="20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tự nguyện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tham gia nghiên cứu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Bệnh nhân có </a:t>
            </a:r>
            <a:r>
              <a:rPr b="1" lang="en-US" sz="20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quyền tự quyết định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tham gia và rút lui ở bất kỳ thời điểm nào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Đảm bảo </a:t>
            </a:r>
            <a:r>
              <a:rPr b="1" lang="en-US" sz="20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tính bảo mật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không ghi họ tên người tham gia trong các báo cáo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Mô tả rõ các </a:t>
            </a:r>
            <a:r>
              <a:rPr b="1" lang="en-US" sz="20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quy trình, lợi ích,và rủi ro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 người tham gia khi nhận bảng xác nhận tham gia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24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Các thông tin bí mật, riêng tư của người tham gia nghiên cứu được đảm bảo, các số liệu và kết quả nghiên cứu </a:t>
            </a:r>
            <a:r>
              <a:rPr b="1" lang="en-US" sz="2000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chỉ phục vụ cho mục đích khoa học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423" name="Google Shape;42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4" name="Google Shape;424;p18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6" name="Google Shape;426;p18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7" name="Google Shape;427;p18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TÍNH KHẢ THI – KHẢ NĂNG ỨNG DỤNG</a:t>
            </a:r>
            <a:endParaRPr b="1" sz="42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18"/>
          <p:cNvPicPr preferRelativeResize="0"/>
          <p:nvPr/>
        </p:nvPicPr>
        <p:blipFill rotWithShape="1">
          <a:blip r:embed="rId5">
            <a:alphaModFix/>
          </a:blip>
          <a:srcRect b="51482" l="2138" r="0" t="0"/>
          <a:stretch/>
        </p:blipFill>
        <p:spPr>
          <a:xfrm>
            <a:off x="1196941" y="1134452"/>
            <a:ext cx="10009690" cy="2533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434" name="Google Shape;43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5" name="Google Shape;435;p19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19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8" name="Google Shape;438;p19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TÍNH KHẢ THI – KHẢ NĂNG ỨNG DỤNG</a:t>
            </a:r>
            <a:endParaRPr b="1" sz="42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9" name="Google Shape;439;p19"/>
          <p:cNvPicPr preferRelativeResize="0"/>
          <p:nvPr/>
        </p:nvPicPr>
        <p:blipFill rotWithShape="1">
          <a:blip r:embed="rId5">
            <a:alphaModFix/>
          </a:blip>
          <a:srcRect b="0" l="2138" r="0" t="0"/>
          <a:stretch/>
        </p:blipFill>
        <p:spPr>
          <a:xfrm>
            <a:off x="1196941" y="1134452"/>
            <a:ext cx="10009690" cy="5221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445" name="Google Shape;44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6" name="Google Shape;446;p20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8" name="Google Shape;448;p20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9" name="Google Shape;449;p20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TÍNH KHẢ THI – KHẢ NĂNG ỨNG DỤNG</a:t>
            </a:r>
            <a:endParaRPr b="1" sz="42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p20"/>
          <p:cNvPicPr preferRelativeResize="0"/>
          <p:nvPr/>
        </p:nvPicPr>
        <p:blipFill rotWithShape="1">
          <a:blip r:embed="rId5">
            <a:alphaModFix/>
          </a:blip>
          <a:srcRect b="0" l="2138" r="0" t="0"/>
          <a:stretch/>
        </p:blipFill>
        <p:spPr>
          <a:xfrm>
            <a:off x="1196941" y="1134452"/>
            <a:ext cx="10009690" cy="52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9128" y="1080901"/>
            <a:ext cx="4162944" cy="282005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  <p:sp>
        <p:nvSpPr>
          <p:cNvPr id="452" name="Google Shape;452;p20"/>
          <p:cNvSpPr/>
          <p:nvPr/>
        </p:nvSpPr>
        <p:spPr>
          <a:xfrm>
            <a:off x="6487477" y="3900960"/>
            <a:ext cx="42462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Nguyen Truc-Quynh, Ha Thi Thanh Huong - Manuscript submitted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459" name="Google Shape;45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0" name="Google Shape;460;p21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2" name="Google Shape;462;p21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3" name="Google Shape;463;p21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TÍNH KHẢ THI – KHẢ NĂNG ỨNG DỤNG</a:t>
            </a:r>
            <a:endParaRPr b="1" sz="42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: Sketch of how to record an Electroencephalogram. An EEG allows... |  Download Scientific Diagram" id="464" name="Google Shape;46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502" y="1575477"/>
            <a:ext cx="4096079" cy="2370907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1"/>
          <p:cNvSpPr/>
          <p:nvPr/>
        </p:nvSpPr>
        <p:spPr>
          <a:xfrm>
            <a:off x="527502" y="4090337"/>
            <a:ext cx="4594425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Giải thích </a:t>
            </a: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cơ chế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của trò chơi nhận thức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Noto Sans Symbols"/>
              <a:buChar char="▪"/>
            </a:pP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Mối tương quan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giữa </a:t>
            </a: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rèn luyện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nhận thức và </a:t>
            </a: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cải thiện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nhận thức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Cung cấp </a:t>
            </a: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cơ sở dữ liệu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 các nghiên cứu chuyên sâu ở trong và ngoài nước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472" name="Google Shape;47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3" name="Google Shape;473;p22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5" name="Google Shape;475;p22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6" name="Google Shape;476;p22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TÍNH KHẢ THI – KHẢ NĂNG ỨNG DỤNG</a:t>
            </a:r>
            <a:endParaRPr b="1" sz="42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1542" y="1463334"/>
            <a:ext cx="6285595" cy="202848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2"/>
          <p:cNvSpPr/>
          <p:nvPr/>
        </p:nvSpPr>
        <p:spPr>
          <a:xfrm>
            <a:off x="5794410" y="3813338"/>
            <a:ext cx="5699858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Noto Sans Symbols"/>
              <a:buChar char="▪"/>
            </a:pP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Tiết kiệm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thời gian và chi phí cho bệnh nhân</a:t>
            </a:r>
            <a:endParaRPr b="1" sz="1800">
              <a:solidFill>
                <a:srgbClr val="00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Áp dụng tại các </a:t>
            </a: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bệnh viện, trung tâm sa sút trí tuệ, sở y tế ở đa vùng miền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để hỗ trợ bác sĩ trong việc can thiệp cho bệnh nhân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120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Noto Sans Symbols"/>
              <a:buChar char="▪"/>
            </a:pP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Thúc đẩy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các bác sĩ trẻ về lại nông thôn để </a:t>
            </a: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sử dụng công nghệ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để can thiệp cho bệnh nhân tại địa phương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: Sketch of how to record an Electroencephalogram. An EEG allows... |  Download Scientific Diagram" id="479" name="Google Shape;47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502" y="1575477"/>
            <a:ext cx="4096079" cy="2370907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2"/>
          <p:cNvSpPr/>
          <p:nvPr/>
        </p:nvSpPr>
        <p:spPr>
          <a:xfrm>
            <a:off x="527502" y="4090337"/>
            <a:ext cx="4594425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Giải thích </a:t>
            </a: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cơ chế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của trò chơi nhận thức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Noto Sans Symbols"/>
              <a:buChar char="▪"/>
            </a:pP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Mối tương quan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giữa </a:t>
            </a: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rèn luyện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nhận thức và </a:t>
            </a: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cải thiện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nhận thức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Cung cấp </a:t>
            </a:r>
            <a:r>
              <a:rPr b="1" lang="en-US" sz="1800">
                <a:solidFill>
                  <a:srgbClr val="CC0099"/>
                </a:solidFill>
                <a:latin typeface="Calibri"/>
                <a:ea typeface="Calibri"/>
                <a:cs typeface="Calibri"/>
                <a:sym typeface="Calibri"/>
              </a:rPr>
              <a:t>cơ sở dữ liệu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 các nghiên cứu chuyên sâu ở trong và ngoài nước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486" name="Google Shape;48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7" name="Google Shape;487;p23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9" name="Google Shape;489;p23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0" name="Google Shape;490;p23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NĂNG LỰC NHÓM NGHIÊN CỨU</a:t>
            </a:r>
            <a:endParaRPr b="1" sz="42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1" name="Google Shape;491;p23"/>
          <p:cNvGraphicFramePr/>
          <p:nvPr/>
        </p:nvGraphicFramePr>
        <p:xfrm>
          <a:off x="1724298" y="169130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{CE48EB88-B501-4249-AC8E-9A6AD49BCDC4}</a:tableStyleId>
              </a:tblPr>
              <a:tblGrid>
                <a:gridCol w="665050"/>
                <a:gridCol w="3664200"/>
                <a:gridCol w="4614450"/>
              </a:tblGrid>
              <a:tr h="53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TT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Họ và tên, học hàm, học vị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Tổ chức công tác</a:t>
                      </a:r>
                      <a:endParaRPr sz="1800"/>
                    </a:p>
                  </a:txBody>
                  <a:tcPr marT="0" marB="0" marR="38825" marL="38825" anchor="ctr"/>
                </a:tc>
              </a:tr>
              <a:tr h="40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TS. Hà Thị Thanh Hương 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Trường Đại học Quốc tế ĐHQG TPHCM </a:t>
                      </a:r>
                      <a:endParaRPr/>
                    </a:p>
                  </a:txBody>
                  <a:tcPr marT="0" marB="0" marR="38825" marL="38825" anchor="ctr"/>
                </a:tc>
              </a:tr>
              <a:tr h="35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ThS. BS. Hoàng Tiến Trọng Nghĩa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Bệnh viện Quân Y 175</a:t>
                      </a:r>
                      <a:endParaRPr/>
                    </a:p>
                  </a:txBody>
                  <a:tcPr marT="0" marB="0" marR="38825" marL="38825" anchor="ctr"/>
                </a:tc>
              </a:tr>
              <a:tr h="179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TS. BS. Trần Công Thắng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Đại học Y Dược</a:t>
                      </a:r>
                      <a:endParaRPr/>
                    </a:p>
                  </a:txBody>
                  <a:tcPr marT="0" marB="0" marR="38825" marL="38825" anchor="ctr"/>
                </a:tc>
              </a:tr>
              <a:tr h="40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BS. CKII Tống Mai Trang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Bệnh viện Đai học Y Dược</a:t>
                      </a:r>
                      <a:endParaRPr sz="1800"/>
                    </a:p>
                  </a:txBody>
                  <a:tcPr marT="0" marB="0" marR="38825" marL="38825" anchor="ctr"/>
                </a:tc>
              </a:tr>
              <a:tr h="40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BS. CKI Hoàng Châu Bảo Đính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Trường Đại học Y khoa Phạm Ngọc Thạch </a:t>
                      </a:r>
                      <a:endParaRPr/>
                    </a:p>
                  </a:txBody>
                  <a:tcPr marT="0" marB="0" marR="38825" marL="38825" anchor="ctr"/>
                </a:tc>
              </a:tr>
              <a:tr h="179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ThS. BS. Đoàn Văn Anh Vũ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Bệnh viện Quân Y 175</a:t>
                      </a:r>
                      <a:endParaRPr/>
                    </a:p>
                  </a:txBody>
                  <a:tcPr marT="0" marB="0" marR="38825" marL="38825" anchor="ctr"/>
                </a:tc>
              </a:tr>
              <a:tr h="179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ThS. BS. Nguyễn Ngọc Lương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Bệnh viện Quân Y 175</a:t>
                      </a:r>
                      <a:endParaRPr/>
                    </a:p>
                  </a:txBody>
                  <a:tcPr marT="0" marB="0" marR="38825" marL="388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497" name="Google Shape;49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8" name="Google Shape;498;p24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0" name="Google Shape;500;p24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1" name="Google Shape;501;p24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NĂNG LỰC NHÓM NGHIÊN CỨU</a:t>
            </a:r>
            <a:endParaRPr b="1" sz="42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2" name="Google Shape;502;p24"/>
          <p:cNvGraphicFramePr/>
          <p:nvPr/>
        </p:nvGraphicFramePr>
        <p:xfrm>
          <a:off x="1724298" y="169130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{CE48EB88-B501-4249-AC8E-9A6AD49BCDC4}</a:tableStyleId>
              </a:tblPr>
              <a:tblGrid>
                <a:gridCol w="665050"/>
                <a:gridCol w="3664200"/>
                <a:gridCol w="4614450"/>
              </a:tblGrid>
              <a:tr h="54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TT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Họ và tên, học hàm, học vị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Tổ chức công tác</a:t>
                      </a:r>
                      <a:endParaRPr sz="1800"/>
                    </a:p>
                  </a:txBody>
                  <a:tcPr marT="0" marB="0" marR="38825" marL="38825" anchor="ctr"/>
                </a:tc>
              </a:tr>
              <a:tr h="4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ThS. BS. Huỳnh Đăng Lộc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Bệnh viện Quân Y 175</a:t>
                      </a:r>
                      <a:endParaRPr sz="1800"/>
                    </a:p>
                  </a:txBody>
                  <a:tcPr marT="0" marB="0" marR="38825" marL="38825" anchor="ctr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BS. Lý Minh Đăng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Bệnh viện Quân Y 175</a:t>
                      </a:r>
                      <a:endParaRPr/>
                    </a:p>
                  </a:txBody>
                  <a:tcPr marT="0" marB="0" marR="38825" marL="38825" anchor="ctr"/>
                </a:tc>
              </a:tr>
              <a:tr h="302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BS. Nguyễn Xuân Diệu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Bệnh viện Quân Y 175</a:t>
                      </a:r>
                      <a:endParaRPr sz="1800"/>
                    </a:p>
                  </a:txBody>
                  <a:tcPr marT="0" marB="0" marR="38825" marL="38825" anchor="ctr"/>
                </a:tc>
              </a:tr>
              <a:tr h="4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BS. Trần Thị Hoài Thu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Bệnh viện Quân Y 175</a:t>
                      </a:r>
                      <a:endParaRPr sz="1800"/>
                    </a:p>
                  </a:txBody>
                  <a:tcPr marT="0" marB="0" marR="38825" marL="38825" anchor="ctr"/>
                </a:tc>
              </a:tr>
              <a:tr h="4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CN.</a:t>
                      </a:r>
                      <a:r>
                        <a:rPr lang="en-US" sz="1800"/>
                        <a:t> </a:t>
                      </a:r>
                      <a:r>
                        <a:rPr lang="en-US" sz="1800"/>
                        <a:t>Phan Ngọc Minh Thư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Trường Đại học Quốc tế ĐHQG TPHCM </a:t>
                      </a:r>
                      <a:endParaRPr sz="1800"/>
                    </a:p>
                  </a:txBody>
                  <a:tcPr marT="0" marB="0" marR="38825" marL="38825" anchor="ctr"/>
                </a:tc>
              </a:tr>
              <a:tr h="302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CN. Đỗ Trần Minh Hiệp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Trường Đại học Quốc tế ĐHQG TPHCM </a:t>
                      </a:r>
                      <a:endParaRPr sz="1800"/>
                    </a:p>
                  </a:txBody>
                  <a:tcPr marT="0" marB="0" marR="38825" marL="38825" anchor="ctr"/>
                </a:tc>
              </a:tr>
              <a:tr h="302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SV. Dương Trung Kiên</a:t>
                      </a:r>
                      <a:endParaRPr sz="1800"/>
                    </a:p>
                  </a:txBody>
                  <a:tcPr marT="0" marB="0" marR="38825" marL="38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Trường Đại học Quốc tế ĐHQG TPHCM </a:t>
                      </a:r>
                      <a:endParaRPr sz="1800"/>
                    </a:p>
                  </a:txBody>
                  <a:tcPr marT="0" marB="0" marR="38825" marL="388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508" name="Google Shape;50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9" name="Google Shape;509;p25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1" name="Google Shape;511;p25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2" name="Google Shape;512;p25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KẾ HOẠCH THỰC HIỆN</a:t>
            </a:r>
            <a:endParaRPr b="1" sz="42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3" name="Google Shape;513;p25"/>
          <p:cNvPicPr preferRelativeResize="0"/>
          <p:nvPr/>
        </p:nvPicPr>
        <p:blipFill rotWithShape="1">
          <a:blip r:embed="rId5">
            <a:alphaModFix/>
          </a:blip>
          <a:srcRect b="0" l="0" r="0" t="472"/>
          <a:stretch/>
        </p:blipFill>
        <p:spPr>
          <a:xfrm>
            <a:off x="838200" y="1461068"/>
            <a:ext cx="10646063" cy="458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519" name="Google Shape;51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0" name="Google Shape;520;p26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2" name="Google Shape;522;p26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3" name="Google Shape;523;p26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TÀI LIỆU THAM KHẢO</a:t>
            </a:r>
            <a:endParaRPr b="1" sz="42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887549" y="1240438"/>
            <a:ext cx="106172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Alzheimer’s Association. 2022 Alzheimer’s Disease Facts and Figures. Alzheimers Dement 2022;18.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Chandra, Avinash, George Dervenoulas, and Marios Politis. "Magnetic resonance imaging in Alzheimer’s disease and mild cognitive impairment." Journal of neurology 266.6 (2019): 1293-1302.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Hardy, Joseph L., et al. "Enhancing cognitive abilities with comprehensive training: A large, online, randomized, active-controlled trial." PloS one 10.9 (2015): e0134467.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Gómez-Soria, I., Ferreira, C., Oliván Blazquez, B., Magallón Botaya, R. M., &amp; Calatayud, E. (2021). Short-term memory, attention, and temporal orientation as predictors of the cognitive impairment in older adults: A cross-sectional observational study. Plos one, 16(12), e0261313.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Khan, NiaziImran. "Xbox 360 Kinect cognitive games improve slowness, complexity of EEG, and cognitive functions in subjects with mild cognitive impairment: a randomized control trial." Games for health journal (2019).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Iliadou, Paraskevi, et al. "A comparison of traditional and serious game-based digital markers of cognition in older adults with mild cognitive impairment and healthy controls." Journal of Alzheimer's disease 79.4 (2021): 1747-1759.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Kamel Boulos, M.N., Xbox 360 Kinect exergames for health. Games for Health: Research, Development, and Clinical Applications, 2012. 1(5): p. 326-330.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Vojciechowski, A.S., et al., Effects of exergame training on the health promotion of young adults. Fisioterapia em Movimento, 2017. 30: p. 59-67.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Rodakowski, J., et al., Non-pharmacological interventions for adults with mild cognitive impairment and early stage dementia: An updated scoping review. Molecular aspects of medicine, 2015. 43: p. 38-53.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Faucounau, V., et al., Cognitive intervention programmes on patients affected by Mild Cognitive Impairment: a promising intervention tool for MCI? The journal of nutrition, health &amp; aging, 2010. 14(1): p. 31-35.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530" name="Google Shape;53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1" name="Google Shape;531;p27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3" name="Google Shape;533;p27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4" name="Google Shape;534;p27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TÀI LIỆU THAM KHẢO</a:t>
            </a:r>
            <a:endParaRPr b="1" sz="4200">
              <a:solidFill>
                <a:srgbClr val="0066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7"/>
          <p:cNvSpPr/>
          <p:nvPr/>
        </p:nvSpPr>
        <p:spPr>
          <a:xfrm>
            <a:off x="887549" y="1240438"/>
            <a:ext cx="106172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Cheng, Y., et al., The effects of multi-domain versus single-domain cognitive training in non-demented older people: a randomized controlled trial. BMC medicine, 2012. 10(1): p. 1-13.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Bonnechère, B., et al., The use of mobile games to assess cognitive function of elderly with and without cognitive impairment. Journal of Alzheimer's Disease, 2018. 64(4): p. 1285-1293.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D'Antonio, J., et al., Cognitive training and neuroplasticity in mild cognitive impairment (COG-IT): protocol for a two-site, blinded, randomised, controlled treatment trial. BMJ open, 2019. 9(8): p. e028536.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Savulich, G., et al., Cognitive training using a novel memory game on an iPad in patients with amnestic mild cognitive impairment (aMCI). International Journal of Neuropsychopharmacology, 2017. 20(8): p. 624-633.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San-Martin, R., et al., A method for diagnosis support of mild cognitive impairment through EEG rhythms source location during working memory tasks. Biomedical Signal Processing and Control, 2021. 66: p. 102499.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Echegoyen, I., et al., Permutation entropy and statistical complexity in mild cognitive impairment and Alzheimer’s disease: An analysis based on frequency bands. Entropy, 2020. 22(1): p. 116.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Şeker, M., et al., Complexity of EEG Dynamics for Early Diagnosis of Alzheimer's Disease Using Permutation Entropy Neuromarker. Computer Methods and Programs in Biomedicine, 2021. 206: p. 106116.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Khazaee, A., et al., Classification of patients with MCI and AD from healthy controls using directed graph measures of resting-state fMRI. Behavioural brain research, 2017. 322: p. 339-350.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Li, F., et al., A robust deep model for improved classification of AD/MCI patients. IEEE journal of biomedical and health informatics, 2015. 19(5): p. 1610-1616.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Zhang, D., et al., Multimodal classification of Alzheimer's disease and mild cognitive impairment. Neuroimage, 2011. 55(3): p. 856-867.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541" name="Google Shape;54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2" name="Google Shape;5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15/03/2023</a:t>
            </a:r>
            <a:endParaRPr/>
          </a:p>
        </p:txBody>
      </p:sp>
      <p:sp>
        <p:nvSpPr>
          <p:cNvPr id="548" name="Google Shape;54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9" name="Google Shape;549;p29"/>
          <p:cNvPicPr preferRelativeResize="0"/>
          <p:nvPr/>
        </p:nvPicPr>
        <p:blipFill rotWithShape="1">
          <a:blip r:embed="rId3">
            <a:alphaModFix/>
          </a:blip>
          <a:srcRect b="0" l="0" r="72138" t="0"/>
          <a:stretch/>
        </p:blipFill>
        <p:spPr>
          <a:xfrm>
            <a:off x="47307" y="30480"/>
            <a:ext cx="1410864" cy="112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8286" y="30480"/>
            <a:ext cx="1124045" cy="11240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1" name="Google Shape;551;p29"/>
          <p:cNvCxnSpPr/>
          <p:nvPr/>
        </p:nvCxnSpPr>
        <p:spPr>
          <a:xfrm>
            <a:off x="1724298" y="981393"/>
            <a:ext cx="8943702" cy="0"/>
          </a:xfrm>
          <a:prstGeom prst="straightConnector1">
            <a:avLst/>
          </a:prstGeom>
          <a:noFill/>
          <a:ln cap="flat" cmpd="sng" w="38100">
            <a:solidFill>
              <a:srgbClr val="00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2" name="Google Shape;552;p29"/>
          <p:cNvSpPr txBox="1"/>
          <p:nvPr/>
        </p:nvSpPr>
        <p:spPr>
          <a:xfrm>
            <a:off x="1724298" y="223170"/>
            <a:ext cx="894370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06699"/>
                </a:solidFill>
                <a:latin typeface="Calibri"/>
                <a:ea typeface="Calibri"/>
                <a:cs typeface="Calibri"/>
                <a:sym typeface="Calibri"/>
              </a:rPr>
              <a:t>BACKUP SLIDES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2023-03-07T04:20:27Z</dcterms:created>
  <dc:creator>Phan Ngoc Minh Thu</dc:creator>
</cp:coreProperties>
</file>