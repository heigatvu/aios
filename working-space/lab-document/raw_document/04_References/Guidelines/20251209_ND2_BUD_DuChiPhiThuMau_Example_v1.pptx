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OpzZVp0ZwqpNqFrk+JpjYhsNS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92C1DD-BD5A-48D7-922A-082BE6B3EE75}">
  <a:tblStyle styleId="{5192C1DD-BD5A-48D7-922A-082BE6B3EE75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>
            <p:ph type="ctrTitle"/>
          </p:nvPr>
        </p:nvSpPr>
        <p:spPr>
          <a:xfrm>
            <a:off x="838200" y="451381"/>
            <a:ext cx="10512552" cy="40665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rPr lang="en-US" sz="6600"/>
              <a:t>DỰ CHI PHÍ THU MẪU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838199" y="4983276"/>
            <a:ext cx="10512552" cy="112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Vũ Nguyễn Minh Đức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Hướng dẫn: cô Hà Thị Thanh Hương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838200" y="4718595"/>
            <a:ext cx="5410200" cy="18288"/>
          </a:xfrm>
          <a:custGeom>
            <a:rect b="b" l="l" r="r" t="t"/>
            <a:pathLst>
              <a:path extrusionOk="0" fill="none" h="18288" w="541020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extrusionOk="0" h="18288" w="541020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>
            <p:ph type="title"/>
          </p:nvPr>
        </p:nvSpPr>
        <p:spPr>
          <a:xfrm>
            <a:off x="838200" y="451381"/>
            <a:ext cx="10512552" cy="40665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rPr b="1" lang="en-US"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Giai đoạn 1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838200" y="4718595"/>
            <a:ext cx="5410200" cy="18288"/>
          </a:xfrm>
          <a:custGeom>
            <a:rect b="b" l="l" r="r" t="t"/>
            <a:pathLst>
              <a:path extrusionOk="0" fill="none" h="18288" w="541020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extrusionOk="0" h="18288" w="541020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Tại bệnh viện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10777728" y="4539996"/>
            <a:ext cx="1243584" cy="662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NT: 300k/trẻ</a:t>
            </a:r>
            <a:b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CV: 200k/trẻ</a:t>
            </a:r>
            <a:b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KTV: 150k/ trẻ</a:t>
            </a:r>
            <a:endParaRPr b="0" i="0" sz="1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107" name="Google Shape;107;p3"/>
          <p:cNvGrpSpPr/>
          <p:nvPr/>
        </p:nvGrpSpPr>
        <p:grpSpPr>
          <a:xfrm>
            <a:off x="170688" y="2093976"/>
            <a:ext cx="11850624" cy="2377440"/>
            <a:chOff x="0" y="2889504"/>
            <a:chExt cx="11850624" cy="2377440"/>
          </a:xfrm>
        </p:grpSpPr>
        <p:sp>
          <p:nvSpPr>
            <p:cNvPr id="108" name="Google Shape;108;p3"/>
            <p:cNvSpPr/>
            <p:nvPr/>
          </p:nvSpPr>
          <p:spPr>
            <a:xfrm>
              <a:off x="0" y="2889504"/>
              <a:ext cx="1243584" cy="950976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Trẻ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2121408" y="2889504"/>
              <a:ext cx="1243584" cy="950976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Khám sàng lọc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0" name="Google Shape;110;p3"/>
            <p:cNvCxnSpPr>
              <a:stCxn id="108" idx="3"/>
              <a:endCxn id="109" idx="1"/>
            </p:cNvCxnSpPr>
            <p:nvPr/>
          </p:nvCxnSpPr>
          <p:spPr>
            <a:xfrm>
              <a:off x="1243584" y="3364992"/>
              <a:ext cx="877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11" name="Google Shape;111;p3"/>
            <p:cNvSpPr/>
            <p:nvPr/>
          </p:nvSpPr>
          <p:spPr>
            <a:xfrm>
              <a:off x="4242816" y="2889504"/>
              <a:ext cx="1243584" cy="950976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Khoa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PHCN</a:t>
              </a:r>
              <a:endParaRPr/>
            </a:p>
          </p:txBody>
        </p:sp>
        <p:cxnSp>
          <p:nvCxnSpPr>
            <p:cNvPr id="112" name="Google Shape;112;p3"/>
            <p:cNvCxnSpPr>
              <a:stCxn id="109" idx="3"/>
              <a:endCxn id="111" idx="1"/>
            </p:cNvCxnSpPr>
            <p:nvPr/>
          </p:nvCxnSpPr>
          <p:spPr>
            <a:xfrm>
              <a:off x="3364992" y="3364992"/>
              <a:ext cx="877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13" name="Google Shape;113;p3"/>
            <p:cNvSpPr/>
            <p:nvPr/>
          </p:nvSpPr>
          <p:spPr>
            <a:xfrm>
              <a:off x="6364224" y="2889504"/>
              <a:ext cx="1243584" cy="950976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Chuyên viên (CV) tư vấn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" name="Google Shape;114;p3"/>
            <p:cNvCxnSpPr>
              <a:stCxn id="111" idx="3"/>
              <a:endCxn id="113" idx="1"/>
            </p:cNvCxnSpPr>
            <p:nvPr/>
          </p:nvCxnSpPr>
          <p:spPr>
            <a:xfrm>
              <a:off x="5486400" y="3364992"/>
              <a:ext cx="877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15" name="Google Shape;115;p3"/>
            <p:cNvSpPr/>
            <p:nvPr/>
          </p:nvSpPr>
          <p:spPr>
            <a:xfrm>
              <a:off x="8485632" y="2889504"/>
              <a:ext cx="1243584" cy="950976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Không đồng ý</a:t>
              </a:r>
              <a:endParaRPr/>
            </a:p>
          </p:txBody>
        </p:sp>
        <p:cxnSp>
          <p:nvCxnSpPr>
            <p:cNvPr id="116" name="Google Shape;116;p3"/>
            <p:cNvCxnSpPr>
              <a:stCxn id="113" idx="3"/>
              <a:endCxn id="115" idx="1"/>
            </p:cNvCxnSpPr>
            <p:nvPr/>
          </p:nvCxnSpPr>
          <p:spPr>
            <a:xfrm>
              <a:off x="7607808" y="3364992"/>
              <a:ext cx="877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17" name="Google Shape;117;p3"/>
            <p:cNvSpPr/>
            <p:nvPr/>
          </p:nvSpPr>
          <p:spPr>
            <a:xfrm>
              <a:off x="8485632" y="4315968"/>
              <a:ext cx="1243584" cy="950976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Đồng ý</a:t>
              </a:r>
              <a:endParaRPr/>
            </a:p>
          </p:txBody>
        </p:sp>
        <p:cxnSp>
          <p:nvCxnSpPr>
            <p:cNvPr id="118" name="Google Shape;118;p3"/>
            <p:cNvCxnSpPr>
              <a:stCxn id="113" idx="3"/>
              <a:endCxn id="117" idx="1"/>
            </p:cNvCxnSpPr>
            <p:nvPr/>
          </p:nvCxnSpPr>
          <p:spPr>
            <a:xfrm>
              <a:off x="7607808" y="3364992"/>
              <a:ext cx="877800" cy="1426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19" name="Google Shape;119;p3"/>
            <p:cNvSpPr/>
            <p:nvPr/>
          </p:nvSpPr>
          <p:spPr>
            <a:xfrm>
              <a:off x="10607040" y="4315968"/>
              <a:ext cx="1243584" cy="950976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Khám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0607040" y="2889504"/>
              <a:ext cx="1243584" cy="950976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Khám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" name="Google Shape;121;p3"/>
            <p:cNvCxnSpPr>
              <a:stCxn id="115" idx="3"/>
              <a:endCxn id="120" idx="1"/>
            </p:cNvCxnSpPr>
            <p:nvPr/>
          </p:nvCxnSpPr>
          <p:spPr>
            <a:xfrm>
              <a:off x="9729216" y="3364992"/>
              <a:ext cx="877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2" name="Google Shape;122;p3"/>
            <p:cNvCxnSpPr>
              <a:stCxn id="117" idx="3"/>
              <a:endCxn id="119" idx="1"/>
            </p:cNvCxnSpPr>
            <p:nvPr/>
          </p:nvCxnSpPr>
          <p:spPr>
            <a:xfrm>
              <a:off x="9729216" y="4791456"/>
              <a:ext cx="877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23" name="Google Shape;123;p3"/>
          <p:cNvSpPr txBox="1"/>
          <p:nvPr/>
        </p:nvSpPr>
        <p:spPr>
          <a:xfrm>
            <a:off x="0" y="617220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NT: Người thân</a:t>
            </a:r>
            <a:b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CV: Chuyên viên</a:t>
            </a:r>
            <a:b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KTV: Kỹ thuật viên</a:t>
            </a:r>
            <a:endParaRPr b="0" i="0" sz="1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0" y="0"/>
            <a:ext cx="12192000" cy="6219825"/>
          </a:xfrm>
          <a:custGeom>
            <a:rect b="b" l="l" r="r" t="t"/>
            <a:pathLst>
              <a:path extrusionOk="0" h="6219825" w="12192000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1" name="Google Shape;131;p4"/>
          <p:cNvGraphicFramePr/>
          <p:nvPr/>
        </p:nvGraphicFramePr>
        <p:xfrm>
          <a:off x="228600" y="5742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{5192C1DD-BD5A-48D7-922A-082BE6B3EE75}</a:tableStyleId>
              </a:tblPr>
              <a:tblGrid>
                <a:gridCol w="2145025"/>
                <a:gridCol w="1893050"/>
                <a:gridCol w="2007150"/>
                <a:gridCol w="1599075"/>
                <a:gridCol w="2007150"/>
                <a:gridCol w="2007150"/>
              </a:tblGrid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</a:t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Đơn vị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Số lượng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Số lần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Đơn giá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Tổng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Người thân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Người hay trẻ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50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300.000đ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15.000.000đ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71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Chuyên viên âm ngữ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Trẻ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50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200.000đ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10.000.000đ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Kỹ thuật viên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Trẻ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50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150.000đ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7.500.00đ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71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Phí y đức (nếu có)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5.000.000đ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5.000.000đ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Phí phát sinh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10.000.000đ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Tổng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47.500.000đ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71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Tổng 3 bệnh viện nhi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142.500.000đ</a:t>
                      </a:r>
                      <a:endParaRPr/>
                    </a:p>
                  </a:txBody>
                  <a:tcPr marT="48200" marB="48200" marR="96425" marL="96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Tại trường học</a:t>
            </a:r>
            <a:endParaRPr sz="5400"/>
          </a:p>
        </p:txBody>
      </p:sp>
      <p:sp>
        <p:nvSpPr>
          <p:cNvPr id="137" name="Google Shape;137;p5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569970" y="2941361"/>
            <a:ext cx="2144268" cy="137767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Trẻ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592062" y="2941361"/>
            <a:ext cx="2034540" cy="137767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Khám với bác sĩ của nhi 2</a:t>
            </a:r>
            <a:endParaRPr/>
          </a:p>
        </p:txBody>
      </p:sp>
      <p:cxnSp>
        <p:nvCxnSpPr>
          <p:cNvPr id="140" name="Google Shape;140;p5"/>
          <p:cNvCxnSpPr>
            <a:stCxn id="138" idx="3"/>
            <a:endCxn id="139" idx="1"/>
          </p:cNvCxnSpPr>
          <p:nvPr/>
        </p:nvCxnSpPr>
        <p:spPr>
          <a:xfrm>
            <a:off x="5714238" y="3630198"/>
            <a:ext cx="877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" name="Google Shape;141;p5"/>
          <p:cNvCxnSpPr/>
          <p:nvPr/>
        </p:nvCxnSpPr>
        <p:spPr>
          <a:xfrm>
            <a:off x="8626602" y="3630198"/>
            <a:ext cx="87782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2" name="Google Shape;142;p5"/>
          <p:cNvSpPr/>
          <p:nvPr/>
        </p:nvSpPr>
        <p:spPr>
          <a:xfrm>
            <a:off x="9504426" y="3002300"/>
            <a:ext cx="2144268" cy="137767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Khám với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chuyên viên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0" y="6363300"/>
            <a:ext cx="3931920" cy="4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i="0" lang="en-US" sz="1400" u="none" cap="none" strike="noStrike">
                <a:solidFill>
                  <a:schemeClr val="dk1"/>
                </a:solidFill>
              </a:rPr>
              <a:t>CV: Chuyên viên</a:t>
            </a:r>
            <a:br>
              <a:rPr i="0" lang="en-US" sz="1400" u="none" cap="none" strike="noStrike">
                <a:solidFill>
                  <a:schemeClr val="dk1"/>
                </a:solidFill>
              </a:rPr>
            </a:br>
            <a:r>
              <a:rPr i="0" lang="en-US" sz="1400" u="none" cap="none" strike="noStrike">
                <a:solidFill>
                  <a:schemeClr val="dk1"/>
                </a:solidFill>
              </a:rPr>
              <a:t>KTV: Kỹ thuật viên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64464" y="2941361"/>
            <a:ext cx="2023110" cy="137767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Tại các lớp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5"/>
          <p:cNvCxnSpPr>
            <a:stCxn id="144" idx="3"/>
            <a:endCxn id="138" idx="1"/>
          </p:cNvCxnSpPr>
          <p:nvPr/>
        </p:nvCxnSpPr>
        <p:spPr>
          <a:xfrm>
            <a:off x="2687574" y="3630198"/>
            <a:ext cx="882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6" name="Google Shape;146;p5"/>
          <p:cNvSpPr txBox="1"/>
          <p:nvPr/>
        </p:nvSpPr>
        <p:spPr>
          <a:xfrm>
            <a:off x="993648" y="4319035"/>
            <a:ext cx="1450848" cy="662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i="0" lang="en-US" sz="1400" u="none" cap="none" strike="noStrike">
                <a:solidFill>
                  <a:schemeClr val="dk1"/>
                </a:solidFill>
              </a:rPr>
              <a:t>Trường: 130k/trẻ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9954768" y="4379974"/>
            <a:ext cx="1243584" cy="662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i="0" lang="en-US" sz="1400" u="none" cap="none" strike="noStrike">
                <a:solidFill>
                  <a:schemeClr val="dk1"/>
                </a:solidFill>
              </a:rPr>
              <a:t>CV: 200k/trẻ</a:t>
            </a:r>
            <a:br>
              <a:rPr i="0" lang="en-US" sz="1400" u="none" cap="none" strike="noStrike">
                <a:solidFill>
                  <a:schemeClr val="dk1"/>
                </a:solidFill>
              </a:rPr>
            </a:br>
            <a:r>
              <a:rPr i="0" lang="en-US" sz="1400" u="none" cap="none" strike="noStrike">
                <a:solidFill>
                  <a:schemeClr val="dk1"/>
                </a:solidFill>
              </a:rPr>
              <a:t>KTV: 150k/ trẻ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0" y="0"/>
            <a:ext cx="12192000" cy="6219825"/>
          </a:xfrm>
          <a:custGeom>
            <a:rect b="b" l="l" r="r" t="t"/>
            <a:pathLst>
              <a:path extrusionOk="0" h="6219825" w="12192000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5" name="Google Shape;155;p6"/>
          <p:cNvGraphicFramePr/>
          <p:nvPr/>
        </p:nvGraphicFramePr>
        <p:xfrm>
          <a:off x="265174" y="14221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{5192C1DD-BD5A-48D7-922A-082BE6B3EE75}</a:tableStyleId>
              </a:tblPr>
              <a:tblGrid>
                <a:gridCol w="2145025"/>
                <a:gridCol w="1893050"/>
                <a:gridCol w="2007150"/>
                <a:gridCol w="1599075"/>
                <a:gridCol w="2007150"/>
                <a:gridCol w="2007150"/>
              </a:tblGrid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Đơn vị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Số lượng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Số lần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Đơn giá</a:t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Tổng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Trường học</a:t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 Trẻ</a:t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150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130.000đ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19.500.000đ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71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Chuyên viên âm ngữ</a:t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Trẻ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150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200.000đ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30.000.000đ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Kỹ thuật viên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Trẻ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150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150.000đ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22.500.00đ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Phí phát sinh (xăng xe 300k/ngày, tiền ăn 100k/ngày)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 (1 bác sĩ, 2 chuyên viên, 1 kỹ thuật viên)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 ngày</a:t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3.200.000đ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Tổng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75.200.000đ</a:t>
                      </a:r>
                      <a:endParaRPr/>
                    </a:p>
                  </a:txBody>
                  <a:tcPr marT="48200" marB="48200" marR="96425" marL="96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 txBox="1"/>
          <p:nvPr>
            <p:ph type="title"/>
          </p:nvPr>
        </p:nvSpPr>
        <p:spPr>
          <a:xfrm>
            <a:off x="838200" y="451381"/>
            <a:ext cx="10512552" cy="40665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rPr b="1" lang="en-US"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Giai đoạn 2</a:t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838200" y="4718595"/>
            <a:ext cx="5410200" cy="18288"/>
          </a:xfrm>
          <a:custGeom>
            <a:rect b="b" l="l" r="r" t="t"/>
            <a:pathLst>
              <a:path extrusionOk="0" fill="none" h="18288" w="541020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extrusionOk="0" h="18288" w="541020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Tại bệnh viện</a:t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10777728" y="4539996"/>
            <a:ext cx="1243584" cy="662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i="0" lang="en-US" sz="1400" u="none" cap="none" strike="noStrike">
                <a:solidFill>
                  <a:schemeClr val="dk1"/>
                </a:solidFill>
              </a:rPr>
              <a:t>NT: 300k/trẻ</a:t>
            </a:r>
            <a:br>
              <a:rPr i="0" lang="en-US" sz="1400" u="none" cap="none" strike="noStrike">
                <a:solidFill>
                  <a:schemeClr val="dk1"/>
                </a:solidFill>
              </a:rPr>
            </a:br>
            <a:r>
              <a:rPr i="0" lang="en-US" sz="1400" u="none" cap="none" strike="noStrike">
                <a:solidFill>
                  <a:schemeClr val="dk1"/>
                </a:solidFill>
              </a:rPr>
              <a:t>CV: 200k/trẻ</a:t>
            </a:r>
            <a:br>
              <a:rPr i="0" lang="en-US" sz="1400" u="none" cap="none" strike="noStrike">
                <a:solidFill>
                  <a:schemeClr val="dk1"/>
                </a:solidFill>
              </a:rPr>
            </a:br>
            <a:r>
              <a:rPr i="0" lang="en-US" sz="1400" u="none" cap="none" strike="noStrike">
                <a:solidFill>
                  <a:schemeClr val="dk1"/>
                </a:solidFill>
              </a:rPr>
              <a:t>KTV: 150k/ trẻ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70688" y="3529584"/>
            <a:ext cx="1243584" cy="9509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Trẻ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2292096" y="3529584"/>
            <a:ext cx="1243584" cy="9509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Khám sàng lọc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8"/>
          <p:cNvCxnSpPr>
            <a:stCxn id="170" idx="3"/>
            <a:endCxn id="171" idx="1"/>
          </p:cNvCxnSpPr>
          <p:nvPr/>
        </p:nvCxnSpPr>
        <p:spPr>
          <a:xfrm>
            <a:off x="1414272" y="4005072"/>
            <a:ext cx="877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3" name="Google Shape;173;p8"/>
          <p:cNvSpPr/>
          <p:nvPr/>
        </p:nvSpPr>
        <p:spPr>
          <a:xfrm>
            <a:off x="4413504" y="3529584"/>
            <a:ext cx="1243584" cy="9509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Khoa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PHCN</a:t>
            </a:r>
            <a:endParaRPr/>
          </a:p>
        </p:txBody>
      </p:sp>
      <p:cxnSp>
        <p:nvCxnSpPr>
          <p:cNvPr id="174" name="Google Shape;174;p8"/>
          <p:cNvCxnSpPr>
            <a:stCxn id="171" idx="3"/>
            <a:endCxn id="173" idx="1"/>
          </p:cNvCxnSpPr>
          <p:nvPr/>
        </p:nvCxnSpPr>
        <p:spPr>
          <a:xfrm>
            <a:off x="3535680" y="4005072"/>
            <a:ext cx="877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5" name="Google Shape;175;p8"/>
          <p:cNvSpPr/>
          <p:nvPr/>
        </p:nvSpPr>
        <p:spPr>
          <a:xfrm>
            <a:off x="6534912" y="3529584"/>
            <a:ext cx="1243584" cy="9509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Chuyên viên (CV) tư vấn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8"/>
          <p:cNvCxnSpPr>
            <a:stCxn id="173" idx="3"/>
            <a:endCxn id="175" idx="1"/>
          </p:cNvCxnSpPr>
          <p:nvPr/>
        </p:nvCxnSpPr>
        <p:spPr>
          <a:xfrm>
            <a:off x="5657088" y="4005072"/>
            <a:ext cx="877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7" name="Google Shape;177;p8"/>
          <p:cNvSpPr/>
          <p:nvPr/>
        </p:nvSpPr>
        <p:spPr>
          <a:xfrm>
            <a:off x="8656320" y="2093976"/>
            <a:ext cx="1243584" cy="9509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Không đồng ý</a:t>
            </a:r>
            <a:endParaRPr/>
          </a:p>
        </p:txBody>
      </p:sp>
      <p:cxnSp>
        <p:nvCxnSpPr>
          <p:cNvPr id="178" name="Google Shape;178;p8"/>
          <p:cNvCxnSpPr>
            <a:stCxn id="175" idx="3"/>
            <a:endCxn id="177" idx="1"/>
          </p:cNvCxnSpPr>
          <p:nvPr/>
        </p:nvCxnSpPr>
        <p:spPr>
          <a:xfrm flipH="1" rot="10800000">
            <a:off x="7778496" y="2569572"/>
            <a:ext cx="877800" cy="143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9" name="Google Shape;179;p8"/>
          <p:cNvSpPr/>
          <p:nvPr/>
        </p:nvSpPr>
        <p:spPr>
          <a:xfrm>
            <a:off x="8656320" y="3520440"/>
            <a:ext cx="1243584" cy="9509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Đồng ý</a:t>
            </a:r>
            <a:endParaRPr/>
          </a:p>
        </p:txBody>
      </p:sp>
      <p:cxnSp>
        <p:nvCxnSpPr>
          <p:cNvPr id="180" name="Google Shape;180;p8"/>
          <p:cNvCxnSpPr>
            <a:stCxn id="175" idx="3"/>
            <a:endCxn id="179" idx="1"/>
          </p:cNvCxnSpPr>
          <p:nvPr/>
        </p:nvCxnSpPr>
        <p:spPr>
          <a:xfrm flipH="1" rot="10800000">
            <a:off x="7778496" y="3996072"/>
            <a:ext cx="877800" cy="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1" name="Google Shape;181;p8"/>
          <p:cNvSpPr/>
          <p:nvPr/>
        </p:nvSpPr>
        <p:spPr>
          <a:xfrm>
            <a:off x="10777728" y="3520440"/>
            <a:ext cx="1243584" cy="9509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Khám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0777728" y="2093976"/>
            <a:ext cx="1243584" cy="9509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Khám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8"/>
          <p:cNvCxnSpPr>
            <a:stCxn id="177" idx="3"/>
            <a:endCxn id="182" idx="1"/>
          </p:cNvCxnSpPr>
          <p:nvPr/>
        </p:nvCxnSpPr>
        <p:spPr>
          <a:xfrm>
            <a:off x="9899904" y="2569464"/>
            <a:ext cx="877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" name="Google Shape;184;p8"/>
          <p:cNvCxnSpPr>
            <a:stCxn id="179" idx="3"/>
            <a:endCxn id="181" idx="1"/>
          </p:cNvCxnSpPr>
          <p:nvPr/>
        </p:nvCxnSpPr>
        <p:spPr>
          <a:xfrm>
            <a:off x="9899904" y="3995928"/>
            <a:ext cx="877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5" name="Google Shape;185;p8"/>
          <p:cNvSpPr txBox="1"/>
          <p:nvPr/>
        </p:nvSpPr>
        <p:spPr>
          <a:xfrm>
            <a:off x="0" y="617220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i="0" lang="en-US" sz="1400" u="none" cap="none" strike="noStrike">
                <a:solidFill>
                  <a:schemeClr val="dk1"/>
                </a:solidFill>
              </a:rPr>
              <a:t>NT: Người thân</a:t>
            </a:r>
            <a:br>
              <a:rPr i="0" lang="en-US" sz="1400" u="none" cap="none" strike="noStrike">
                <a:solidFill>
                  <a:schemeClr val="dk1"/>
                </a:solidFill>
              </a:rPr>
            </a:br>
            <a:r>
              <a:rPr i="0" lang="en-US" sz="1400" u="none" cap="none" strike="noStrike">
                <a:solidFill>
                  <a:schemeClr val="dk1"/>
                </a:solidFill>
              </a:rPr>
              <a:t>CV: Chuyên viên</a:t>
            </a:r>
            <a:br>
              <a:rPr i="0" lang="en-US" sz="1400" u="none" cap="none" strike="noStrike">
                <a:solidFill>
                  <a:schemeClr val="dk1"/>
                </a:solidFill>
              </a:rPr>
            </a:br>
            <a:r>
              <a:rPr i="0" lang="en-US" sz="1400" u="none" cap="none" strike="noStrike">
                <a:solidFill>
                  <a:schemeClr val="dk1"/>
                </a:solidFill>
              </a:rPr>
              <a:t>KTV: Kỹ thuật viên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86" name="Google Shape;186;p8"/>
          <p:cNvCxnSpPr>
            <a:stCxn id="179" idx="2"/>
            <a:endCxn id="175" idx="2"/>
          </p:cNvCxnSpPr>
          <p:nvPr/>
        </p:nvCxnSpPr>
        <p:spPr>
          <a:xfrm rot="5400000">
            <a:off x="8212962" y="3415266"/>
            <a:ext cx="9000" cy="2121300"/>
          </a:xfrm>
          <a:prstGeom prst="bentConnector3">
            <a:avLst>
              <a:gd fmla="val 26416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7" name="Google Shape;187;p8"/>
          <p:cNvSpPr txBox="1"/>
          <p:nvPr/>
        </p:nvSpPr>
        <p:spPr>
          <a:xfrm>
            <a:off x="7595616" y="4777738"/>
            <a:ext cx="1243584" cy="662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i="0" lang="en-US" sz="1400" u="none" cap="none" strike="noStrike">
                <a:solidFill>
                  <a:schemeClr val="dk1"/>
                </a:solidFill>
              </a:rPr>
              <a:t>1 lần/tháng</a:t>
            </a:r>
            <a:endParaRPr i="0" sz="14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i="0" lang="en-US" sz="1400" u="none" cap="none" strike="noStrike">
                <a:solidFill>
                  <a:schemeClr val="dk1"/>
                </a:solidFill>
              </a:rPr>
              <a:t>trong 6 tháng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0" y="0"/>
            <a:ext cx="12192000" cy="6219825"/>
          </a:xfrm>
          <a:custGeom>
            <a:rect b="b" l="l" r="r" t="t"/>
            <a:pathLst>
              <a:path extrusionOk="0" h="6219825" w="12192000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5" name="Google Shape;195;p9"/>
          <p:cNvGraphicFramePr/>
          <p:nvPr/>
        </p:nvGraphicFramePr>
        <p:xfrm>
          <a:off x="265174" y="10184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{5192C1DD-BD5A-48D7-922A-082BE6B3EE75}</a:tableStyleId>
              </a:tblPr>
              <a:tblGrid>
                <a:gridCol w="2145025"/>
                <a:gridCol w="1893050"/>
                <a:gridCol w="2007150"/>
                <a:gridCol w="1599075"/>
                <a:gridCol w="2007150"/>
                <a:gridCol w="2007150"/>
              </a:tblGrid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Đơn vị</a:t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Số lượng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Số lần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Đơn giá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Tổng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Người thân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Người hay trẻ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50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6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300.000đ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90.000.000đ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71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Chuyên viên âm ngữ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Trẻ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50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6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200.000đ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60.000.000đ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Kỹ thuật viên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Trẻ</a:t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50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150.000đ</a:t>
                      </a:r>
                      <a:endParaRPr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45.000.00đ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Tổng</a:t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195.000.000đ</a:t>
                      </a:r>
                      <a:endParaRPr/>
                    </a:p>
                  </a:txBody>
                  <a:tcPr marT="48200" marB="48200" marR="96425" marL="96425"/>
                </a:tc>
              </a:tr>
            </a:tbl>
          </a:graphicData>
        </a:graphic>
      </p:graphicFrame>
      <p:sp>
        <p:nvSpPr>
          <p:cNvPr id="196" name="Google Shape;196;p9"/>
          <p:cNvSpPr txBox="1"/>
          <p:nvPr/>
        </p:nvSpPr>
        <p:spPr>
          <a:xfrm>
            <a:off x="265174" y="4447489"/>
            <a:ext cx="11658602" cy="662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Dự kiến: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tiền được ghi trong dự toán chi phí ở giai đoạn này là 150.000.000đ sẽ được tính vào tiền người thân trẻ và chuyên viên âm ngữ</a:t>
            </a:r>
            <a:endParaRPr b="0" i="0" sz="1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0" y="0"/>
            <a:ext cx="12192000" cy="6219825"/>
          </a:xfrm>
          <a:custGeom>
            <a:rect b="b" l="l" r="r" t="t"/>
            <a:pathLst>
              <a:path extrusionOk="0" h="6219825" w="12192000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5" name="Google Shape;205;p10"/>
          <p:cNvGraphicFramePr/>
          <p:nvPr/>
        </p:nvGraphicFramePr>
        <p:xfrm>
          <a:off x="4018392" y="1319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{5192C1DD-BD5A-48D7-922A-082BE6B3EE75}</a:tableStyleId>
              </a:tblPr>
              <a:tblGrid>
                <a:gridCol w="2145025"/>
                <a:gridCol w="2007150"/>
              </a:tblGrid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Tổng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Giai đoạn 1</a:t>
                      </a:r>
                      <a:endParaRPr/>
                    </a:p>
                  </a:txBody>
                  <a:tcPr marT="48200" marB="48200" marR="96425" marL="96425"/>
                </a:tc>
                <a:tc hMerge="1"/>
              </a:tr>
              <a:tr h="71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Tại bệnh viện</a:t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142.500.000đ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Trường học</a:t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75.200.00đ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Giai đoạn 2</a:t>
                      </a:r>
                      <a:endParaRPr/>
                    </a:p>
                  </a:txBody>
                  <a:tcPr marT="48200" marB="48200" marR="96425" marL="96425"/>
                </a:tc>
                <a:tc hMerge="1"/>
              </a:tr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Tại bệnh viện</a:t>
                      </a:r>
                      <a:endParaRPr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195.000.000đ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Tổng</a:t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412.700.000đ</a:t>
                      </a:r>
                      <a:endParaRPr/>
                    </a:p>
                  </a:txBody>
                  <a:tcPr marT="48200" marB="48200" marR="96425" marL="96425"/>
                </a:tc>
              </a:tr>
              <a:tr h="42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Trích riêng</a:t>
                      </a:r>
                      <a:endParaRPr b="1" sz="1900"/>
                    </a:p>
                  </a:txBody>
                  <a:tcPr marT="48200" marB="48200" marR="96425" marL="96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262.700.000đ</a:t>
                      </a:r>
                      <a:endParaRPr/>
                    </a:p>
                  </a:txBody>
                  <a:tcPr marT="48200" marB="48200" marR="96425" marL="96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2025-11-22T01:32:42Z</dcterms:created>
  <dc:creator>Vu Nguyen Minh  Duc</dc:creator>
</cp:coreProperties>
</file>